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48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72579"/>
                </a:solidFill>
                <a:latin typeface="Montserrat SemiBold"/>
              </a:defRPr>
            </a:pPr>
            <a:r>
              <a:rPr lang="ru-RU" sz="1300" b="0" i="0" u="none" strike="noStrike">
                <a:solidFill>
                  <a:srgbClr val="372579"/>
                </a:solidFill>
                <a:latin typeface="Montserrat SemiBold"/>
              </a:rPr>
              <a:t>Средняя ошибка прогноза 1ПМ (MAE, кг)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(кг)</c:v>
                </c:pt>
              </c:strCache>
            </c:strRef>
          </c:tx>
          <c:spPr>
            <a:solidFill>
              <a:srgbClr val="8C64D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FA9-4695-BBB1-DAABF6DE7709}"/>
              </c:ext>
            </c:extLst>
          </c:dPt>
          <c:dPt>
            <c:idx val="1"/>
            <c:invertIfNegative val="0"/>
            <c:bubble3D val="0"/>
            <c:spPr>
              <a:solidFill>
                <a:srgbClr val="4730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FA9-4695-BBB1-DAABF6DE7709}"/>
              </c:ext>
            </c:extLst>
          </c:dPt>
          <c:dPt>
            <c:idx val="2"/>
            <c:invertIfNegative val="0"/>
            <c:bubble3D val="0"/>
            <c:spPr>
              <a:solidFill>
                <a:srgbClr val="E853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FA9-4695-BBB1-DAABF6DE770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4184E"/>
                    </a:solidFill>
                    <a:latin typeface="Montserrat SemiBold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 baseline</c:v>
                </c:pt>
                <c:pt idx="1">
                  <c:v>LinearRegression</c:v>
                </c:pt>
                <c:pt idx="2">
                  <c:v>LightGBM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2.359</c:v>
                </c:pt>
                <c:pt idx="1">
                  <c:v>2.1539999999999999</c:v>
                </c:pt>
                <c:pt idx="2">
                  <c:v>1.4370000000000001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A9-4695-BBB1-DAABF6DE77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184E"/>
                </a:solidFill>
                <a:latin typeface="Montserra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E6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280"/>
                </a:solidFill>
                <a:latin typeface="Montserra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158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8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54864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0" y="3017520"/>
            <a:ext cx="548640" cy="3200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914400" y="4114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МОСКОВСКИЙ ТЕХНИЧЕСКИЙ УНИВЕРСИТЕТ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685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СВЯЗИ И ИНФОРМАТИКИ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Выпускная квалификационная работа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ru-RU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Разработка информационной системы для учета и планирования спортивных тренировок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22860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914400" y="4041271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Студент: </a:t>
            </a:r>
            <a:r>
              <a:rPr lang="ru-RU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Герасимов Александр Евгеньевич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Группа: </a:t>
            </a:r>
            <a:r>
              <a:rPr lang="ru-RU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БЭИ2202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Научный руководитель: </a:t>
            </a:r>
            <a:r>
              <a:rPr lang="ru-RU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доцент к.т.н. Карташов Д.А.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800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Москва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Актуальность 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Силовой тренинг</a:t>
            </a: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массовая практика, требующая систематического учёта нагрузки.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задачи занимающегося — отслеживание прогресса </a:t>
            </a:r>
            <a:r>
              <a:rPr lang="en-US" sz="14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1ПМ</a:t>
            </a: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планирование рабочих весов.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Существующие приложения (Strong, Hevy, FitNotes, Jefit) закрывают лишь часть задач: либо без ML, либо без офлайн-режима, либо с подпиской.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1280160"/>
            <a:ext cx="2926080" cy="329184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НИША FITAPP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1874520"/>
            <a:ext cx="25603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Offline-first архитектура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Локальный ML без подписки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Планировщик нагрузки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Android + Windows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Синхронизация устройств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Цель и задачи работы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77240" y="1188720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РАБОТЫ</a:t>
            </a:r>
            <a:endParaRPr lang="en-US" sz="11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кроссплатформенного приложения для учёта силовых тренировок с локальным ML-прогнозированием 1ПМ, планировщиком нагрузки и облачной синхронизацией.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Проанализировать предметную область и аналоги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342900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34290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3192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Спроектировать архитектуру клиента и сервера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621792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21792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клиент: дневник, шаблоны, статистику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4300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Обучить ML-модель 1ПМ (LightGBM → ONNX)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9184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Shape 26"/>
          <p:cNvSpPr/>
          <p:nvPr/>
        </p:nvSpPr>
        <p:spPr>
          <a:xfrm>
            <a:off x="342900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34290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93192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протокол синхронизации (LWW)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8076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Shape 30"/>
          <p:cNvSpPr/>
          <p:nvPr/>
        </p:nvSpPr>
        <p:spPr>
          <a:xfrm>
            <a:off x="621792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1"/>
          <p:cNvSpPr/>
          <p:nvPr/>
        </p:nvSpPr>
        <p:spPr>
          <a:xfrm>
            <a:off x="621792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2084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функциональное и интеграционное тестирование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Сравнительный анализ аналогов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147094"/>
              </p:ext>
            </p:extLst>
          </p:nvPr>
        </p:nvGraphicFramePr>
        <p:xfrm>
          <a:off x="502920" y="1143000"/>
          <a:ext cx="8275320" cy="239268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Критерий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Strong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Hevy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FitNotes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Jefit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FitApp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Windows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Offline-first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RPE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частично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ML-прогноз 1ПМ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Планировщик нагрузки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Облачная синхронизация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iCloud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монетизации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</a:t>
                      </a:r>
                      <a:r>
                        <a:rPr lang="ru-RU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овно</a:t>
                      </a: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</a:t>
                      </a:r>
                      <a:r>
                        <a:rPr lang="ru-RU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овно</a:t>
                      </a: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Усл.-бесплатная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Open Source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297680"/>
            <a:ext cx="8275320" cy="45720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7"/>
          <p:cNvSpPr/>
          <p:nvPr/>
        </p:nvSpPr>
        <p:spPr>
          <a:xfrm>
            <a:off x="502920" y="4297680"/>
            <a:ext cx="91440" cy="4572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731520" y="4315968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Вывод: </a:t>
            </a: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— единственное решение, объединяющее все ключевые функции в одном бесплатном open-source продукте.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Архитектура системы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3931920" cy="3520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 · .NET MAUI 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MVVM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Views · ViewModels · Models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46888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85800" y="254203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СЕРВИСНЫЙ СЛОЙ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OnnxPredictionService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WorkoutPlannerService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SyncService · AuthClient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685800" y="363931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ЛОКАЛЬНОЕ ХРАНИЛИЩЕ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· ONNX-модель (1,5 МБ)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SecureStorage (JWT)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286000"/>
            <a:ext cx="640080" cy="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43484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HTTPS</a:t>
            </a:r>
            <a:endParaRPr lang="en-US" sz="9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Bearer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66360" y="1143000"/>
            <a:ext cx="365760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 · ASP.NET Core 9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94960" y="169164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/auth/register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/auth/login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/sync </a:t>
            </a:r>
            <a:r>
              <a:rPr lang="en-US" sz="1000" i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[Bearer JWT]</a:t>
            </a: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BCrypt · JWT HS256 · 30 дней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95160" y="3200400"/>
            <a:ext cx="0" cy="41148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5486400" y="3657600"/>
            <a:ext cx="3017520" cy="914400"/>
          </a:xfrm>
          <a:prstGeom prst="ellipse">
            <a:avLst/>
          </a:prstGeom>
          <a:solidFill>
            <a:srgbClr val="E8E0F7"/>
          </a:solidFill>
          <a:ln w="190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548640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/ Neon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8242E1A-FE70-2B5B-3649-35DEFBAEA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59" y="359664"/>
            <a:ext cx="7180629" cy="4249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409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Стек технологий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.NET MAUI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/ XAML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CommunityToolkit.Mvvm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(sqlite-net-pcl)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LiveChartsCore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ASP.NET Core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Npgsql (без EF)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HS256 + BCrypt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(multi-stage)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Render.com Free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БАЗА ДАННЫХ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Локально: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Облако: PostgreSQL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Хостинг: Neon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ML-ИНФРАСТРУКТУРА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3.11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 cross-platform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OnnxRuntime 1.20.1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датасет и признаки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ДАННЫЕ ОБУЧЕНИЯ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109728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763 322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1460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тренировочных подходов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14600" y="26517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спортсменов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502920" y="3611880"/>
            <a:ext cx="109728" cy="86868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685800" y="365760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118 350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514600" y="36576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обучающих пар (X → 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29 ПРИЗНАКОВ · 4 ГРУППЫ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160020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4846320" y="169164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4846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40680" y="16459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лаги 1ПМ, средние, тренд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33172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Shape 25"/>
          <p:cNvSpPr/>
          <p:nvPr/>
        </p:nvSpPr>
        <p:spPr>
          <a:xfrm>
            <a:off x="4846320" y="242316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48463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Текущая тренировка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топ-вес, повторы, RPE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306324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9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40680" y="310896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вес, возраст, пол, стаж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54880" y="379476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Shape 33"/>
          <p:cNvSpPr/>
          <p:nvPr/>
        </p:nvSpPr>
        <p:spPr>
          <a:xfrm>
            <a:off x="4846320" y="388620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4"/>
          <p:cNvSpPr/>
          <p:nvPr/>
        </p:nvSpPr>
        <p:spPr>
          <a:xfrm>
            <a:off x="48463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40680" y="38404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Упражнение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тип, оборудование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результаты обучения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02920" y="1188720"/>
          <a:ext cx="4846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5623560" y="1280160"/>
            <a:ext cx="3200400" cy="14173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5623560" y="132588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−39 %</a:t>
            </a:r>
            <a:endParaRPr lang="en-US" sz="4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снижение MAE</a:t>
            </a:r>
            <a:endParaRPr lang="en-US" sz="4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 vs Naive</a:t>
            </a:r>
            <a:endParaRPr lang="en-US" sz="4000" dirty="0"/>
          </a:p>
        </p:txBody>
      </p:sp>
      <p:sp>
        <p:nvSpPr>
          <p:cNvPr id="11" name="Shape 8"/>
          <p:cNvSpPr/>
          <p:nvPr/>
        </p:nvSpPr>
        <p:spPr>
          <a:xfrm>
            <a:off x="5623560" y="2834640"/>
            <a:ext cx="3200400" cy="173736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9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СООТВЕТСТВИЕ ПАЙПЛАЙНОВ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60720" y="324612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(LightGBM) ↔ C# (ONNX):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медиана: </a:t>
            </a: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1,6 × 10⁻⁵ кг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p99: </a:t>
            </a: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0,082 кг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Облачная синхронизация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.NET MAUI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08760" y="1737360"/>
            <a:ext cx="0" cy="2560320"/>
          </a:xfrm>
          <a:prstGeom prst="line">
            <a:avLst/>
          </a:prstGeom>
          <a:noFill/>
          <a:ln w="12700">
            <a:solidFill>
              <a:srgbClr val="372579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ASP.NET 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737360"/>
            <a:ext cx="0" cy="2560320"/>
          </a:xfrm>
          <a:prstGeom prst="line">
            <a:avLst/>
          </a:prstGeom>
          <a:noFill/>
          <a:ln w="12700">
            <a:solidFill>
              <a:srgbClr val="47309C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POSTGRESQL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09560" y="1737360"/>
            <a:ext cx="0" cy="2560320"/>
          </a:xfrm>
          <a:prstGeom prst="line">
            <a:avLst/>
          </a:prstGeom>
          <a:noFill/>
          <a:ln w="12700">
            <a:solidFill>
              <a:srgbClr val="E85362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1508760" y="205740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150876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POST /sync  { pushBatch, lastSyncUtc 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60604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4709160" y="2331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UPSERT (LWW: UpdatedAt)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315468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470916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COMMIT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08760" y="370332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150876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HTTP 200 { pullBatch, serverTimeUtc 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8275320" cy="41148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502920" y="4343400"/>
            <a:ext cx="91440" cy="4114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731520" y="4361688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LWW: </a:t>
            </a:r>
            <a:r>
              <a:rPr lang="en-US" sz="1100" dirty="0">
                <a:solidFill>
                  <a:srgbClr val="2418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CONFLICT(SyncId) DO UPDATE WHERE excluded.UpdatedAt &gt; existing.UpdatedAt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Тестирование и результаты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ФУНКЦИОНАЛЬНЫЕ И ИНТЕГРАЦИОННЫЕ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94360" y="1645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функциональных теста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594360" y="2240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8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25880" y="2240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ключевых сценариев пройдены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5880" y="28346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сценария синхронизации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594360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4290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платформы: Windows + Android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ПРОИЗВОДИТЕЛЬНОСТЬ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54480"/>
          <a:ext cx="4023360" cy="12192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Метрика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Win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Android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Список тренировок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78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Inference ML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4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8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Init ONNX-сервиса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87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143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Размер APK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38 МБ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754880" y="3703320"/>
            <a:ext cx="4023360" cy="82296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1"/>
          <p:cNvSpPr/>
          <p:nvPr/>
        </p:nvSpPr>
        <p:spPr>
          <a:xfrm>
            <a:off x="4754880" y="3703320"/>
            <a:ext cx="91440" cy="8229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2"/>
          <p:cNvSpPr/>
          <p:nvPr/>
        </p:nvSpPr>
        <p:spPr>
          <a:xfrm>
            <a:off x="4892040" y="37490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UX-ТЕСТ: </a:t>
            </a:r>
            <a:r>
              <a:rPr lang="en-US" sz="10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добровольцев.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Отмечены: интуитивный ввод подходов, полезность подсказки прогноза 1ПМ.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Выводы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6858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109728" cy="6858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77240" y="1188720"/>
            <a:ext cx="8001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ЦЕЛЬ РАБОТЫ ДОСТИГНУТА.  </a:t>
            </a: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поставленные задачи выполнены, требования соблюдены.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РЕАЛИЗОВАНО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4008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Клиент: .NET MAUI 9, MVVM, 7 экранов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Сервер: ASP.NET Core 9 на Render.com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ML: LightGBM → ONNX (MAE 1,44 кг)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Sync: LWW + offline-first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НАУЧНАЯ ЗНАЧИМОСТЬ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342900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 формулы Эпли и ML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 проблемы clock skew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Валидация ONNX-портации (Δ &lt; 0,1 кг)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ПРАКТИЧЕСКАЯ ЦЕННОСТЬ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8076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621792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Бесплатное решение на русском языке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Единственное приложение с Windows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Source, расширяемое сообществом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8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1828800"/>
            <a:ext cx="548640" cy="6400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0" y="2606040"/>
            <a:ext cx="548640" cy="3657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 ответить на ваши вопросы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E8E0F7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FitApp · ВКР · МТУСИ · Москва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842</Words>
  <Application>Microsoft Office PowerPoint</Application>
  <PresentationFormat>Экран (16:9)</PresentationFormat>
  <Paragraphs>246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Consolas</vt:lpstr>
      <vt:lpstr>Montserrat</vt:lpstr>
      <vt:lpstr>Montserrat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FitApp — защита ВКР (МТУСИ)</dc:title>
  <dc:subject>PptxGenJS Presentation</dc:subject>
  <dc:creator>ВКР FitApp</dc:creator>
  <cp:lastModifiedBy>Александр Герасимов</cp:lastModifiedBy>
  <cp:revision>3</cp:revision>
  <dcterms:created xsi:type="dcterms:W3CDTF">2026-05-24T22:17:44Z</dcterms:created>
  <dcterms:modified xsi:type="dcterms:W3CDTF">2026-05-29T00:33:21Z</dcterms:modified>
</cp:coreProperties>
</file>