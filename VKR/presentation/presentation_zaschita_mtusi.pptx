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58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372579"/>
                </a:solidFill>
                <a:latin typeface="Montserrat SemiBold"/>
              </a:defRPr>
            </a:pPr>
            <a:r>
              <a:rPr lang="ru-RU" sz="1300" b="0" i="0" u="none" strike="noStrike">
                <a:solidFill>
                  <a:srgbClr val="372579"/>
                </a:solidFill>
                <a:latin typeface="Montserrat SemiBold"/>
              </a:rPr>
              <a:t>Средняя ошибка прогноза 1ПМ (MAE, кг)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MAE (кг)</c:v>
                </c:pt>
              </c:strCache>
            </c:strRef>
          </c:tx>
          <c:spPr>
            <a:solidFill>
              <a:srgbClr val="8C64D8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DFA9-4695-BBB1-DAABF6DE7709}"/>
              </c:ext>
            </c:extLst>
          </c:dPt>
          <c:dPt>
            <c:idx val="1"/>
            <c:invertIfNegative val="0"/>
            <c:bubble3D val="0"/>
            <c:spPr>
              <a:solidFill>
                <a:srgbClr val="4730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FA9-4695-BBB1-DAABF6DE7709}"/>
              </c:ext>
            </c:extLst>
          </c:dPt>
          <c:dPt>
            <c:idx val="2"/>
            <c:invertIfNegative val="0"/>
            <c:bubble3D val="0"/>
            <c:spPr>
              <a:solidFill>
                <a:srgbClr val="E8536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DFA9-4695-BBB1-DAABF6DE770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4184E"/>
                    </a:solidFill>
                    <a:latin typeface="Montserrat SemiBold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Naive baseline</c:v>
                </c:pt>
                <c:pt idx="1">
                  <c:v>LinearRegression</c:v>
                </c:pt>
                <c:pt idx="2">
                  <c:v>LightGBM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2.359</c:v>
                </c:pt>
                <c:pt idx="1">
                  <c:v>2.1539999999999999</c:v>
                </c:pt>
                <c:pt idx="2">
                  <c:v>1.4370000000000001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FA9-4695-BBB1-DAABF6DE770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4184E"/>
                </a:solidFill>
                <a:latin typeface="Montserrat"/>
              </a:defRPr>
            </a:pPr>
            <a:endParaRPr lang="ru-RU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CE6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280"/>
                </a:solidFill>
                <a:latin typeface="Montserrat"/>
              </a:defRPr>
            </a:pPr>
            <a:endParaRPr lang="ru-RU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1587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8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2286000"/>
            <a:ext cx="54864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0" y="3017520"/>
            <a:ext cx="548640" cy="3200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914400" y="4114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МОСКОВСКИЙ ТЕХНИЧЕСКИЙ УНИВЕРСИТЕТ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6858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СВЯЗИ И ИНФОРМАТИКИ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0515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Выпускная квалификационная работа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Разработка кроссплатформенного приложения</a:t>
            </a:r>
            <a:endParaRPr lang="en-US" sz="24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для отслеживания силовых тренировок</a:t>
            </a:r>
            <a:endParaRPr lang="en-US" sz="24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 локальной ML-моделью прогнозирования 1ПМ</a:t>
            </a:r>
            <a:endParaRPr lang="en-US" sz="24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и облачной синхронизацией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3657600"/>
            <a:ext cx="22860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914400" y="4041271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Студент: </a:t>
            </a:r>
            <a:r>
              <a:rPr lang="ru-RU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Герасимов Александр Евгеньевич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Группа: </a:t>
            </a:r>
            <a:r>
              <a:rPr lang="ru-RU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БЭИ2202</a:t>
            </a:r>
            <a:endParaRPr lang="en-US" sz="130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Научный руководитель: </a:t>
            </a:r>
            <a:r>
              <a:rPr lang="ru-RU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доцент к.т.н. Карташов Д.А.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4800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Москва ·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Актуальность 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5120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Силовой тренинг</a:t>
            </a: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— массовая практика, требующая систематического учёта нагрузки.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Ключевые задачи занимающегося — отслеживание прогресса </a:t>
            </a:r>
            <a:r>
              <a:rPr lang="en-US" sz="14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1ПМ</a:t>
            </a: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и планирование рабочих весов.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Существующие приложения (Strong, Hevy, FitNotes, Jefit) закрывают лишь часть задач: либо без ML, либо без офлайн-режима, либо с подпиской.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852160" y="1280160"/>
            <a:ext cx="2926080" cy="329184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5852160" y="128016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НИША FITAPP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035040" y="1874520"/>
            <a:ext cx="2560320" cy="2606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Offline-first архитектура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Локальный ML без подписки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Планировщик нагрузки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Android + Windows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Синхронизация устройств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Цель и задачи работы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77240" y="1188720"/>
            <a:ext cx="8001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ЦЕЛЬ РАБОТЫ</a:t>
            </a:r>
            <a:endParaRPr lang="en-US" sz="11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Разработка кроссплатформенного приложения для учёта силовых тренировок с локальным ML-прогнозированием 1ПМ, планировщиком нагрузки и облачной синхронизацией.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Проанализировать предметную область и аналоги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342900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34290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93192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Спроектировать архитектуру клиента и сервера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24028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6217920" y="237744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621792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720840" y="233172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клиент: дневник, шаблоны, статистику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64008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64008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14300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Обучить ML-модель 1ПМ (LightGBM → ONNX)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29184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Shape 26"/>
          <p:cNvSpPr/>
          <p:nvPr/>
        </p:nvSpPr>
        <p:spPr>
          <a:xfrm>
            <a:off x="342900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342900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393192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Реализовать протокол синхронизации (LWW)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080760" y="3566160"/>
            <a:ext cx="2697480" cy="12344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Shape 30"/>
          <p:cNvSpPr/>
          <p:nvPr/>
        </p:nvSpPr>
        <p:spPr>
          <a:xfrm>
            <a:off x="6217920" y="3703320"/>
            <a:ext cx="411480" cy="411480"/>
          </a:xfrm>
          <a:prstGeom prst="ellipse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3" name="Text 31"/>
          <p:cNvSpPr/>
          <p:nvPr/>
        </p:nvSpPr>
        <p:spPr>
          <a:xfrm>
            <a:off x="6217920" y="3703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20840" y="3657600"/>
            <a:ext cx="1965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функциональное и интеграционное тестирование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Сравнительный анализ аналогов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/ 12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147094"/>
              </p:ext>
            </p:extLst>
          </p:nvPr>
        </p:nvGraphicFramePr>
        <p:xfrm>
          <a:off x="502920" y="1143000"/>
          <a:ext cx="8275320" cy="239268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Критерий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Strong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Hevy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FitNotes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Jefit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FitApp</a:t>
                      </a:r>
                      <a:endParaRPr lang="en-US" sz="11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Windows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Offline-first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Поддержка RPE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частично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ML-прогноз 1ПМ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Планировщик нагрузки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платно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Облачная синхронизация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iCloud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6B628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2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0FA958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✓</a:t>
                      </a:r>
                      <a:endParaRPr lang="en-US" sz="13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6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Модель монетизации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</a:t>
                      </a:r>
                      <a:r>
                        <a:rPr lang="ru-RU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овно</a:t>
                      </a: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</a:t>
                      </a:r>
                      <a:r>
                        <a:rPr lang="ru-RU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овно</a:t>
                      </a: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-</a:t>
                      </a:r>
                      <a:r>
                        <a:rPr lang="en-US" sz="1000" dirty="0" err="1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Усл.-бесплатная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Open Source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0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02920" y="4297680"/>
            <a:ext cx="8275320" cy="45720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7"/>
          <p:cNvSpPr/>
          <p:nvPr/>
        </p:nvSpPr>
        <p:spPr>
          <a:xfrm>
            <a:off x="502920" y="4297680"/>
            <a:ext cx="91440" cy="4572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8"/>
          <p:cNvSpPr/>
          <p:nvPr/>
        </p:nvSpPr>
        <p:spPr>
          <a:xfrm>
            <a:off x="731520" y="4315968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Вывод: </a:t>
            </a: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— единственное решение, объединяющее все ключевые функции в одном бесплатном open-source продукте.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Архитектура системы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3931920" cy="352044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02920" y="1143000"/>
            <a:ext cx="3931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 · .NET MAUI 9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685800" y="178308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MVVM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Views · ViewModels · Models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46888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85800" y="254203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СЕРВИСНЫЙ СЛОЙ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OnnxPredictionService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WorkoutPlannerService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SyncService · AuthClient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" y="3566160"/>
            <a:ext cx="3566160" cy="100584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685800" y="3639312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ЛОКАЛЬНОЕ ХРАНИЛИЩЕ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· ONNX-модель (1,5 МБ)</a:t>
            </a:r>
            <a:endParaRPr lang="en-US" sz="11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SecureStorage (JWT)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480560" y="2286000"/>
            <a:ext cx="640080" cy="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434840" y="17373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HTTPS</a:t>
            </a:r>
            <a:endParaRPr lang="en-US" sz="9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Bearer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166360" y="1143000"/>
            <a:ext cx="3657600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Shape 18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5166360" y="11430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 · ASP.NET Core 9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94960" y="1691640"/>
            <a:ext cx="32004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/auth/register</a:t>
            </a:r>
            <a:endParaRPr lang="en-US" sz="11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/auth/login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 /sync </a:t>
            </a:r>
            <a:r>
              <a:rPr lang="en-US" sz="1000" i="1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[Bearer JWT]</a:t>
            </a:r>
            <a:endParaRPr lang="en-US" sz="1100" dirty="0"/>
          </a:p>
          <a:p>
            <a:pPr marL="0" indent="0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BCrypt · JWT HS256 · 30 дней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995160" y="3200400"/>
            <a:ext cx="0" cy="411480"/>
          </a:xfrm>
          <a:prstGeom prst="line">
            <a:avLst/>
          </a:prstGeom>
          <a:noFill/>
          <a:ln w="31750">
            <a:solidFill>
              <a:srgbClr val="E85362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2"/>
          <p:cNvSpPr/>
          <p:nvPr/>
        </p:nvSpPr>
        <p:spPr>
          <a:xfrm>
            <a:off x="5486400" y="3657600"/>
            <a:ext cx="3017520" cy="914400"/>
          </a:xfrm>
          <a:prstGeom prst="ellipse">
            <a:avLst/>
          </a:prstGeom>
          <a:solidFill>
            <a:srgbClr val="E8E0F7"/>
          </a:solidFill>
          <a:ln w="190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5486400" y="365760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PostgreSQL / Neon</a:t>
            </a:r>
            <a:endParaRPr lang="en-US" sz="1200" dirty="0"/>
          </a:p>
          <a:p>
            <a:pPr marL="0" indent="0" algn="ctr">
              <a:buNone/>
            </a:pPr>
            <a:r>
              <a:rPr lang="en-US" sz="1000" i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Стек технологий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0292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.NET MAUI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C# / XAML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CommunityToolkit.Mvvm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SQLite (sqlite-net-pcl)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LiveChartsCore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260604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ASP.NET Core 9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Npgsql (без EF)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JWT HS256 + BCrypt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Docker (multi-stage)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Render.com Free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470916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БАЗА ДАННЫХ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Локально: SQLite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Облако: PostgreSQL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Хостинг: Neon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Serverless, 512 МБ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12280" y="1234440"/>
            <a:ext cx="1965960" cy="3337560"/>
          </a:xfrm>
          <a:prstGeom prst="rect">
            <a:avLst/>
          </a:prstGeom>
          <a:solidFill>
            <a:srgbClr val="FFFFFF"/>
          </a:solidFill>
          <a:ln w="1905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6812280" y="123444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ML-ИНФРАСТРУКТУРА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49440" y="1920240"/>
            <a:ext cx="1691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3.11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 cross-platform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OnnxRuntime 1.20.1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датасет и признаки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ДАННЫЕ ОБУЧЕНИЯ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109728" cy="86868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763 322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514600" y="1645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тренировочных подходов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60604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502920" y="2606040"/>
            <a:ext cx="109728" cy="8686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685800" y="265176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500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2514600" y="26517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спортсменов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611880"/>
            <a:ext cx="40233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502920" y="3611880"/>
            <a:ext cx="109728" cy="86868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685800" y="365760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118 350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2514600" y="36576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обучающих пар (X → y)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29 ПРИЗНАКОВ · 4 ГРУППЫ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754880" y="160020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Shape 21"/>
          <p:cNvSpPr/>
          <p:nvPr/>
        </p:nvSpPr>
        <p:spPr>
          <a:xfrm>
            <a:off x="4846320" y="169164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4846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40680" y="164592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История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лаги 1ПМ, средние, тренд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754880" y="233172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Shape 25"/>
          <p:cNvSpPr/>
          <p:nvPr/>
        </p:nvSpPr>
        <p:spPr>
          <a:xfrm>
            <a:off x="4846320" y="242316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484632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40680" y="237744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Текущая тренировка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топ-вес, повторы, RPE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306324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Shape 29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30"/>
          <p:cNvSpPr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440680" y="310896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Профиль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вес, возраст, пол, стаж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754880" y="3794760"/>
            <a:ext cx="4023360" cy="64008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5" name="Shape 33"/>
          <p:cNvSpPr/>
          <p:nvPr/>
        </p:nvSpPr>
        <p:spPr>
          <a:xfrm>
            <a:off x="4846320" y="3886200"/>
            <a:ext cx="457200" cy="457200"/>
          </a:xfrm>
          <a:prstGeom prst="ellipse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6" name="Text 34"/>
          <p:cNvSpPr/>
          <p:nvPr/>
        </p:nvSpPr>
        <p:spPr>
          <a:xfrm>
            <a:off x="484632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40680" y="38404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25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Упражнение</a:t>
            </a:r>
            <a:endParaRPr lang="en-US" sz="12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тип, оборудование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ML-модуль: результаты обучения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/ 12</a:t>
            </a:r>
            <a:endParaRPr lang="en-US" sz="10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02920" y="1188720"/>
          <a:ext cx="484632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Shape 6"/>
          <p:cNvSpPr/>
          <p:nvPr/>
        </p:nvSpPr>
        <p:spPr>
          <a:xfrm>
            <a:off x="5623560" y="1280160"/>
            <a:ext cx="3200400" cy="14173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7"/>
          <p:cNvSpPr/>
          <p:nvPr/>
        </p:nvSpPr>
        <p:spPr>
          <a:xfrm>
            <a:off x="5623560" y="1325880"/>
            <a:ext cx="3200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−39 %</a:t>
            </a:r>
            <a:endParaRPr lang="en-US" sz="4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снижение MAE</a:t>
            </a:r>
            <a:endParaRPr lang="en-US" sz="40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LightGBM vs Naive</a:t>
            </a:r>
            <a:endParaRPr lang="en-US" sz="4000" dirty="0"/>
          </a:p>
        </p:txBody>
      </p:sp>
      <p:sp>
        <p:nvSpPr>
          <p:cNvPr id="11" name="Shape 8"/>
          <p:cNvSpPr/>
          <p:nvPr/>
        </p:nvSpPr>
        <p:spPr>
          <a:xfrm>
            <a:off x="5623560" y="2834640"/>
            <a:ext cx="3200400" cy="1737360"/>
          </a:xfrm>
          <a:prstGeom prst="rect">
            <a:avLst/>
          </a:prstGeom>
          <a:solidFill>
            <a:srgbClr val="E8E0F7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Shape 9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0"/>
          <p:cNvSpPr/>
          <p:nvPr/>
        </p:nvSpPr>
        <p:spPr>
          <a:xfrm>
            <a:off x="5623560" y="2834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СООТВЕТСТВИЕ ПАЙПЛАЙНОВ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760720" y="3246120"/>
            <a:ext cx="29260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Python (LightGBM) ↔ C# (ONNX):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медиана: </a:t>
            </a: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1,6 × 10⁻⁵ кг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p99: </a:t>
            </a:r>
            <a:r>
              <a:rPr lang="en-US" sz="13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0,082 кг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Облачная синхронизация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7315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КЛИЕНТ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.NET MAUI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508760" y="1737360"/>
            <a:ext cx="0" cy="2560320"/>
          </a:xfrm>
          <a:prstGeom prst="line">
            <a:avLst/>
          </a:prstGeom>
          <a:noFill/>
          <a:ln w="12700">
            <a:solidFill>
              <a:srgbClr val="372579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1" name="Shape 9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39319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СЕРВЕР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ASP.NET Core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1737360"/>
            <a:ext cx="0" cy="2560320"/>
          </a:xfrm>
          <a:prstGeom prst="line">
            <a:avLst/>
          </a:prstGeom>
          <a:noFill/>
          <a:ln w="12700">
            <a:solidFill>
              <a:srgbClr val="47309C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7132320" y="118872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POSTGRESQL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Neon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09560" y="1737360"/>
            <a:ext cx="0" cy="2560320"/>
          </a:xfrm>
          <a:prstGeom prst="line">
            <a:avLst/>
          </a:prstGeom>
          <a:noFill/>
          <a:ln w="12700">
            <a:solidFill>
              <a:srgbClr val="E85362"/>
            </a:solidFill>
            <a:prstDash val="dash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1508760" y="205740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1508760" y="17830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1. POST /sync  { pushBatch, lastSyncUtc 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260604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4709160" y="233172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2. UPSERT (LWW: UpdatedAt)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315468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4709160" y="288036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3. COMMIT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508760" y="3703320"/>
            <a:ext cx="3200400" cy="0"/>
          </a:xfrm>
          <a:prstGeom prst="line">
            <a:avLst/>
          </a:prstGeom>
          <a:noFill/>
          <a:ln w="19050">
            <a:solidFill>
              <a:srgbClr val="24184E"/>
            </a:solidFill>
            <a:prstDash val="dash"/>
            <a:headEnd type="triangle"/>
            <a:tailEnd type="none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1508760" y="34290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 HTTP 200 { pullBatch, serverTimeUtc }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343400"/>
            <a:ext cx="8275320" cy="41148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Shape 24"/>
          <p:cNvSpPr/>
          <p:nvPr/>
        </p:nvSpPr>
        <p:spPr>
          <a:xfrm>
            <a:off x="502920" y="4343400"/>
            <a:ext cx="91440" cy="4114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731520" y="4361688"/>
            <a:ext cx="8001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LWW: </a:t>
            </a:r>
            <a:r>
              <a:rPr lang="en-US" sz="1100" dirty="0">
                <a:solidFill>
                  <a:srgbClr val="2418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CONFLICT(SyncId) DO UPDATE WHERE excluded.UpdatedAt &gt; existing.UpdatedAt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Тестирование и результаты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2920" y="118872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ФУНКЦИОНАЛЬНЫЕ И ИНТЕГРАЦИОННЫЕ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60020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594360" y="16459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24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325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функциональных теста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594360" y="2240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8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25880" y="22402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ключевых сценариев пройдены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78892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25880" y="28346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сценария синхронизации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3383280"/>
            <a:ext cx="4114800" cy="502920"/>
          </a:xfrm>
          <a:prstGeom prst="rect">
            <a:avLst/>
          </a:prstGeom>
          <a:solidFill>
            <a:srgbClr val="E8E0F7"/>
          </a:solidFill>
          <a:ln w="6350">
            <a:solidFill>
              <a:srgbClr val="8C64D8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594360" y="3429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E85362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2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325880" y="342900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платформы: Windows + Android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54880" y="1188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72579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ПРОИЗВОДИТЕЛЬНОСТЬ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1554480"/>
          <a:ext cx="4023360" cy="12192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Метрика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Win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Android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25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Список тренировок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42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78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Inference ML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4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E85362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8 мс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Init ONNX-сервиса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87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143 мс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Размер APK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24184E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—</a:t>
                      </a:r>
                      <a:endParaRPr lang="en-US" sz="100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24184E"/>
                          </a:solidFill>
                          <a:latin typeface="Montserrat SemiBold" pitchFamily="34" charset="0"/>
                          <a:ea typeface="Montserrat SemiBold" pitchFamily="34" charset="-122"/>
                          <a:cs typeface="Montserrat SemiBold" pitchFamily="34" charset="-120"/>
                        </a:rPr>
                        <a:t>38 МБ</a:t>
                      </a:r>
                      <a:endParaRPr lang="en-US" sz="1000" dirty="0">
                        <a:latin typeface="Montserrat SemiBold" charset="0"/>
                        <a:ea typeface="Montserrat SemiBold" charset="0"/>
                        <a:cs typeface="Montserrat SemiBold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4754880" y="3703320"/>
            <a:ext cx="4023360" cy="822960"/>
          </a:xfrm>
          <a:prstGeom prst="rect">
            <a:avLst/>
          </a:prstGeom>
          <a:solidFill>
            <a:srgbClr val="E8E0F7"/>
          </a:solidFill>
          <a:ln w="635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Shape 21"/>
          <p:cNvSpPr/>
          <p:nvPr/>
        </p:nvSpPr>
        <p:spPr>
          <a:xfrm>
            <a:off x="4754880" y="3703320"/>
            <a:ext cx="91440" cy="8229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2"/>
          <p:cNvSpPr/>
          <p:nvPr/>
        </p:nvSpPr>
        <p:spPr>
          <a:xfrm>
            <a:off x="4892040" y="3749040"/>
            <a:ext cx="3794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FA815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UX-ТЕСТ: </a:t>
            </a:r>
            <a:r>
              <a:rPr lang="en-US" sz="1000" b="1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добровольцев. 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Отмечены: интуитивный ввод подходов, полезность подсказки прогноза 1ПМ.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365760"/>
            <a:ext cx="228600" cy="59436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0292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4184E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Выводы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960120"/>
            <a:ext cx="8275320" cy="0"/>
          </a:xfrm>
          <a:prstGeom prst="line">
            <a:avLst/>
          </a:prstGeom>
          <a:noFill/>
          <a:ln w="12700">
            <a:solidFill>
              <a:srgbClr val="E8E0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484632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FitApp · ВКР · МТУСИ,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0" y="4846320"/>
            <a:ext cx="1188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28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/ 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" y="1143000"/>
            <a:ext cx="8275320" cy="6858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Shape 7"/>
          <p:cNvSpPr/>
          <p:nvPr/>
        </p:nvSpPr>
        <p:spPr>
          <a:xfrm>
            <a:off x="502920" y="1143000"/>
            <a:ext cx="109728" cy="68580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0" name="Text 8"/>
          <p:cNvSpPr/>
          <p:nvPr/>
        </p:nvSpPr>
        <p:spPr>
          <a:xfrm>
            <a:off x="777240" y="1188720"/>
            <a:ext cx="8001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E8536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✓  ЦЕЛЬ РАБОТЫ ДОСТИГНУТА.  </a:t>
            </a: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Все поставленные задачи выполнены, требования соблюдены.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2" name="Text 10"/>
          <p:cNvSpPr/>
          <p:nvPr/>
        </p:nvSpPr>
        <p:spPr>
          <a:xfrm>
            <a:off x="50292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РЕАЛИЗОВАНО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64008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Клиент: .NET MAUI 9, MVVM, 7 экранов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Сервер: ASP.NET Core 9 на Render.com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ML: LightGBM → ONNX (MAE 1,44 кг)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Sync: LWW + offline-first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solidFill>
            <a:srgbClr val="47309C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329184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НАУЧНАЯ ЗНАЧИМОСТЬ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7309C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342900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Адаптация формулы Эпли и ML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Решение проблемы clock skew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Валидация ONNX-портации (Δ &lt; 0,1 кг)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080760" y="20116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ПРАКТИЧЕСКАЯ ЦЕННОСТЬ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080760" y="2514600"/>
            <a:ext cx="265176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6217920" y="2606040"/>
            <a:ext cx="2377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Бесплатное решение на русском языке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Единственное приложение с Windows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24184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Open Source, расширяемое сообществом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8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0" cy="5143500"/>
          </a:xfrm>
          <a:prstGeom prst="rect">
            <a:avLst/>
          </a:prstGeom>
          <a:solidFill>
            <a:srgbClr val="372579"/>
          </a:solidFill>
          <a:ln w="12700">
            <a:solidFill>
              <a:srgbClr val="372579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0" y="1828800"/>
            <a:ext cx="548640" cy="640080"/>
          </a:xfrm>
          <a:prstGeom prst="rect">
            <a:avLst/>
          </a:prstGeom>
          <a:solidFill>
            <a:srgbClr val="E85362"/>
          </a:solidFill>
          <a:ln w="127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Shape 2"/>
          <p:cNvSpPr/>
          <p:nvPr/>
        </p:nvSpPr>
        <p:spPr>
          <a:xfrm>
            <a:off x="0" y="2606040"/>
            <a:ext cx="548640" cy="365760"/>
          </a:xfrm>
          <a:prstGeom prst="rect">
            <a:avLst/>
          </a:prstGeom>
          <a:solidFill>
            <a:srgbClr val="FA815F"/>
          </a:solidFill>
          <a:ln w="12700">
            <a:solidFill>
              <a:srgbClr val="FA815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5" name="Text 3"/>
          <p:cNvSpPr/>
          <p:nvPr/>
        </p:nvSpPr>
        <p:spPr>
          <a:xfrm>
            <a:off x="914400" y="155448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Спасибо за внимание!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3200400" y="2834640"/>
            <a:ext cx="2743200" cy="0"/>
          </a:xfrm>
          <a:prstGeom prst="line">
            <a:avLst/>
          </a:prstGeom>
          <a:noFill/>
          <a:ln w="38100">
            <a:solidFill>
              <a:srgbClr val="E85362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E8E0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Готов ответить на ваши вопросы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300" dirty="0">
                <a:solidFill>
                  <a:srgbClr val="E8E0F7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FitApp · ВКР · МТУСИ · Москва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848</Words>
  <Application>Microsoft Office PowerPoint</Application>
  <PresentationFormat>Экран (16:9)</PresentationFormat>
  <Paragraphs>249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Aptos</vt:lpstr>
      <vt:lpstr>Arial</vt:lpstr>
      <vt:lpstr>Calibri</vt:lpstr>
      <vt:lpstr>Consolas</vt:lpstr>
      <vt:lpstr>Montserrat</vt:lpstr>
      <vt:lpstr>Montserrat SemiBold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FitApp — защита ВКР (МТУСИ)</dc:title>
  <dc:subject>PptxGenJS Presentation</dc:subject>
  <dc:creator>ВКР FitApp</dc:creator>
  <cp:lastModifiedBy>Александр</cp:lastModifiedBy>
  <cp:revision>2</cp:revision>
  <dcterms:created xsi:type="dcterms:W3CDTF">2026-05-24T22:17:44Z</dcterms:created>
  <dcterms:modified xsi:type="dcterms:W3CDTF">2026-05-27T19:38:28Z</dcterms:modified>
</cp:coreProperties>
</file>