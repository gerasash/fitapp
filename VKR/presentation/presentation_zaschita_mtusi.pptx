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46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72579"/>
                </a:solidFill>
                <a:latin typeface="Montserrat SemiBold"/>
              </a:defRPr>
            </a:pPr>
            <a:r>
              <a:rPr lang="ru-RU" sz="1300" b="0" i="0" u="none" strike="noStrike">
                <a:solidFill>
                  <a:srgbClr val="372579"/>
                </a:solidFill>
                <a:latin typeface="Montserrat SemiBold"/>
              </a:rPr>
              <a:t>Средняя ошибка прогноза 1ПМ (MAE, кг)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(кг)</c:v>
                </c:pt>
              </c:strCache>
            </c:strRef>
          </c:tx>
          <c:spPr>
            <a:solidFill>
              <a:srgbClr val="8C64D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FA9-4695-BBB1-DAABF6DE7709}"/>
              </c:ext>
            </c:extLst>
          </c:dPt>
          <c:dPt>
            <c:idx val="1"/>
            <c:invertIfNegative val="0"/>
            <c:bubble3D val="0"/>
            <c:spPr>
              <a:solidFill>
                <a:srgbClr val="4730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FA9-4695-BBB1-DAABF6DE7709}"/>
              </c:ext>
            </c:extLst>
          </c:dPt>
          <c:dPt>
            <c:idx val="2"/>
            <c:invertIfNegative val="0"/>
            <c:bubble3D val="0"/>
            <c:spPr>
              <a:solidFill>
                <a:srgbClr val="E853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FA9-4695-BBB1-DAABF6DE770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4184E"/>
                    </a:solidFill>
                    <a:latin typeface="Montserrat SemiBold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Naive baseline</c:v>
                </c:pt>
                <c:pt idx="1">
                  <c:v>LinearRegression</c:v>
                </c:pt>
                <c:pt idx="2">
                  <c:v>LightGBM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2.359</c:v>
                </c:pt>
                <c:pt idx="1">
                  <c:v>2.1539999999999999</c:v>
                </c:pt>
                <c:pt idx="2">
                  <c:v>1.4370000000000001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FA9-4695-BBB1-DAABF6DE77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4184E"/>
                </a:solidFill>
                <a:latin typeface="Montserra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6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280"/>
                </a:solidFill>
                <a:latin typeface="Montserra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1587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8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2286000"/>
            <a:ext cx="548640" cy="548640"/>
          </a:xfrm>
          <a:prstGeom prst="rect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0" y="3017520"/>
            <a:ext cx="548640" cy="320040"/>
          </a:xfrm>
          <a:prstGeom prst="rect">
            <a:avLst/>
          </a:prstGeom>
          <a:solidFill>
            <a:srgbClr val="FA815F"/>
          </a:solidFill>
          <a:ln w="12700">
            <a:solidFill>
              <a:srgbClr val="FA81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914400" y="411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МОСКОВСКИЙ ТЕХНИЧЕСКИЙ УНИВЕРСИТЕТ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685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СВЯЗИ И ИНФОРМАТИКИ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8E0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Выпускная квалификационная работа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Разработка кроссплатформенного приложения</a:t>
            </a:r>
            <a:endParaRPr lang="en-US" sz="2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для отслеживания силовых тренировок</a:t>
            </a:r>
            <a:endParaRPr lang="en-US" sz="2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с локальной ML-моделью прогнозирования 1ПМ</a:t>
            </a:r>
            <a:endParaRPr lang="en-US" sz="2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и облачной синхронизацией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3657600"/>
            <a:ext cx="2286000" cy="0"/>
          </a:xfrm>
          <a:prstGeom prst="line">
            <a:avLst/>
          </a:prstGeom>
          <a:noFill/>
          <a:ln w="381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914400" y="4041271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8E0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Студент: </a:t>
            </a:r>
            <a:r>
              <a:rPr lang="ru-RU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Герасимов Александр Евгеньевич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8E0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Группа: </a:t>
            </a:r>
            <a:r>
              <a:rPr lang="ru-RU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БЭИ2202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8E0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Научный руководитель: </a:t>
            </a:r>
            <a:r>
              <a:rPr lang="ru-RU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доцент к.т.н. Карташов Д.А.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800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8E0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Москва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365760"/>
            <a:ext cx="228600" cy="594360"/>
          </a:xfrm>
          <a:prstGeom prst="rect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84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Актуальность темы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275320" cy="0"/>
          </a:xfrm>
          <a:prstGeom prst="line">
            <a:avLst/>
          </a:prstGeom>
          <a:noFill/>
          <a:ln w="12700">
            <a:solidFill>
              <a:srgbClr val="E8E0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029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FitApp · ВКР · МТУСИ,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725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Силовой тренинг</a:t>
            </a:r>
            <a:r>
              <a:rPr lang="en-US" sz="14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массовая практика, требующая систематического учёта нагрузки.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Ключевые задачи занимающегося — отслеживание прогресса </a:t>
            </a:r>
            <a:r>
              <a:rPr lang="en-US" sz="1400" b="1" dirty="0">
                <a:solidFill>
                  <a:srgbClr val="E8536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1ПМ</a:t>
            </a:r>
            <a:r>
              <a:rPr lang="en-US" sz="14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планирование рабочих весов.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Существующие приложения (Strong, Hevy, FitNotes, Jefit) закрывают лишь часть задач: либо без ML, либо без офлайн-режима, либо с подпиской.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1280160"/>
            <a:ext cx="2926080" cy="3291840"/>
          </a:xfrm>
          <a:prstGeom prst="rect">
            <a:avLst/>
          </a:prstGeom>
          <a:solidFill>
            <a:srgbClr val="E8E0F7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5852160" y="1280160"/>
            <a:ext cx="2926080" cy="45720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5852160" y="1280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НИША FITAPP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1874520"/>
            <a:ext cx="25603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b="1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Offline-first архитектура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b="1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Локальный ML без подписки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b="1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Планировщик нагрузки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b="1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Android + Windows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b="1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Синхронизация устройств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365760"/>
            <a:ext cx="228600" cy="594360"/>
          </a:xfrm>
          <a:prstGeom prst="rect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84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Цель и задачи работы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275320" cy="0"/>
          </a:xfrm>
          <a:prstGeom prst="line">
            <a:avLst/>
          </a:prstGeom>
          <a:noFill/>
          <a:ln w="12700">
            <a:solidFill>
              <a:srgbClr val="E8E0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029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FitApp · ВКР · МТУСИ,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/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8275320" cy="86868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502920" y="1143000"/>
            <a:ext cx="109728" cy="868680"/>
          </a:xfrm>
          <a:prstGeom prst="rect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777240" y="1188720"/>
            <a:ext cx="8001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536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 РАБОТЫ</a:t>
            </a:r>
            <a:endParaRPr lang="en-US" sz="11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кроссплатформенного приложения для учёта силовых тренировок с локальным ML-прогнозированием 1ПМ, планировщиком нагрузки и облачной синхронизацией.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240280"/>
            <a:ext cx="2697480" cy="1234440"/>
          </a:xfrm>
          <a:prstGeom prst="rect">
            <a:avLst/>
          </a:prstGeom>
          <a:solidFill>
            <a:srgbClr val="E8E0F7"/>
          </a:solidFill>
          <a:ln w="6350">
            <a:solidFill>
              <a:srgbClr val="8C64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640080" y="2377440"/>
            <a:ext cx="411480" cy="411480"/>
          </a:xfrm>
          <a:prstGeom prst="ellipse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33172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Проанализировать предметную область и аналоги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2240280"/>
            <a:ext cx="2697480" cy="1234440"/>
          </a:xfrm>
          <a:prstGeom prst="rect">
            <a:avLst/>
          </a:prstGeom>
          <a:solidFill>
            <a:srgbClr val="E8E0F7"/>
          </a:solidFill>
          <a:ln w="6350">
            <a:solidFill>
              <a:srgbClr val="8C64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3429000" y="2377440"/>
            <a:ext cx="411480" cy="411480"/>
          </a:xfrm>
          <a:prstGeom prst="ellipse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342900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31920" y="233172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Спроектировать архитектуру клиента и сервера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2240280"/>
            <a:ext cx="2697480" cy="1234440"/>
          </a:xfrm>
          <a:prstGeom prst="rect">
            <a:avLst/>
          </a:prstGeom>
          <a:solidFill>
            <a:srgbClr val="E8E0F7"/>
          </a:solidFill>
          <a:ln w="6350">
            <a:solidFill>
              <a:srgbClr val="8C64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6217920" y="2377440"/>
            <a:ext cx="411480" cy="411480"/>
          </a:xfrm>
          <a:prstGeom prst="ellipse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621792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20840" y="233172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Реализовать клиент: дневник, шаблоны, статистику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566160"/>
            <a:ext cx="2697480" cy="1234440"/>
          </a:xfrm>
          <a:prstGeom prst="rect">
            <a:avLst/>
          </a:prstGeom>
          <a:solidFill>
            <a:srgbClr val="E8E0F7"/>
          </a:solidFill>
          <a:ln w="6350">
            <a:solidFill>
              <a:srgbClr val="8C64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640080" y="3703320"/>
            <a:ext cx="411480" cy="411480"/>
          </a:xfrm>
          <a:prstGeom prst="ellipse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64008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36576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Обучить ML-модель 1ПМ (LightGBM → ONNX)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3566160"/>
            <a:ext cx="2697480" cy="1234440"/>
          </a:xfrm>
          <a:prstGeom prst="rect">
            <a:avLst/>
          </a:prstGeom>
          <a:solidFill>
            <a:srgbClr val="E8E0F7"/>
          </a:solidFill>
          <a:ln w="6350">
            <a:solidFill>
              <a:srgbClr val="8C64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Shape 26"/>
          <p:cNvSpPr/>
          <p:nvPr/>
        </p:nvSpPr>
        <p:spPr>
          <a:xfrm>
            <a:off x="3429000" y="3703320"/>
            <a:ext cx="411480" cy="411480"/>
          </a:xfrm>
          <a:prstGeom prst="ellipse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342900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931920" y="36576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Реализовать протокол синхронизации (LWW)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80760" y="3566160"/>
            <a:ext cx="2697480" cy="1234440"/>
          </a:xfrm>
          <a:prstGeom prst="rect">
            <a:avLst/>
          </a:prstGeom>
          <a:solidFill>
            <a:srgbClr val="E8E0F7"/>
          </a:solidFill>
          <a:ln w="6350">
            <a:solidFill>
              <a:srgbClr val="8C64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Shape 30"/>
          <p:cNvSpPr/>
          <p:nvPr/>
        </p:nvSpPr>
        <p:spPr>
          <a:xfrm>
            <a:off x="6217920" y="3703320"/>
            <a:ext cx="411480" cy="411480"/>
          </a:xfrm>
          <a:prstGeom prst="ellipse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621792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20840" y="36576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Провести функциональное и интеграционное тестирование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365760"/>
            <a:ext cx="228600" cy="594360"/>
          </a:xfrm>
          <a:prstGeom prst="rect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84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Сравнительный анализ аналогов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275320" cy="0"/>
          </a:xfrm>
          <a:prstGeom prst="line">
            <a:avLst/>
          </a:prstGeom>
          <a:noFill/>
          <a:ln w="12700">
            <a:solidFill>
              <a:srgbClr val="E8E0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029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FitApp · ВКР · МТУСИ,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/ 12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147094"/>
              </p:ext>
            </p:extLst>
          </p:nvPr>
        </p:nvGraphicFramePr>
        <p:xfrm>
          <a:off x="502920" y="1143000"/>
          <a:ext cx="8275320" cy="2392680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Критерий</a:t>
                      </a:r>
                      <a:endParaRPr lang="en-US" sz="11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5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Strong</a:t>
                      </a:r>
                      <a:endParaRPr lang="en-US" sz="11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5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Hevy</a:t>
                      </a:r>
                      <a:endParaRPr lang="en-US" sz="11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5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FitNotes</a:t>
                      </a:r>
                      <a:endParaRPr lang="en-US" sz="11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5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Jefit</a:t>
                      </a:r>
                      <a:endParaRPr lang="en-US" sz="11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5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FitApp</a:t>
                      </a:r>
                      <a:endParaRPr lang="en-US" sz="11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3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Поддержка Windows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28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28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28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28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✓</a:t>
                      </a:r>
                      <a:endParaRPr lang="en-US" sz="13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3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Offline-first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A958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✓</a:t>
                      </a:r>
                      <a:endParaRPr lang="en-US" sz="13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A958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✓</a:t>
                      </a:r>
                      <a:endParaRPr lang="en-US" sz="13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A958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✓</a:t>
                      </a:r>
                      <a:endParaRPr lang="en-US" sz="13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A958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✓</a:t>
                      </a:r>
                      <a:endParaRPr lang="en-US" sz="13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✓</a:t>
                      </a:r>
                      <a:endParaRPr lang="en-US" sz="13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3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Поддержка RPE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частично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A958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✓</a:t>
                      </a:r>
                      <a:endParaRPr lang="en-US" sz="13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28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28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✓</a:t>
                      </a:r>
                      <a:endParaRPr lang="en-US" sz="13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3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ML-прогноз 1ПМ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28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28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28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28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✓</a:t>
                      </a:r>
                      <a:endParaRPr lang="en-US" sz="13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3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Планировщик нагрузки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платно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28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28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28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✓</a:t>
                      </a:r>
                      <a:endParaRPr lang="en-US" sz="13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3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Облачная синхронизация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iCloud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A958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✓</a:t>
                      </a:r>
                      <a:endParaRPr lang="en-US" sz="13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28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A958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✓</a:t>
                      </a:r>
                      <a:endParaRPr lang="en-US" sz="13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✓</a:t>
                      </a:r>
                      <a:endParaRPr lang="en-US" sz="13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3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Модель монетизации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err="1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Усл</a:t>
                      </a:r>
                      <a:r>
                        <a:rPr lang="ru-RU" sz="1000" dirty="0" err="1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овно</a:t>
                      </a:r>
                      <a:r>
                        <a:rPr lang="en-US" sz="1000" dirty="0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-</a:t>
                      </a:r>
                      <a:r>
                        <a:rPr lang="en-US" sz="1000" dirty="0" err="1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бесплатная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err="1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Усл</a:t>
                      </a:r>
                      <a:r>
                        <a:rPr lang="ru-RU" sz="1000" dirty="0" err="1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овно</a:t>
                      </a:r>
                      <a:r>
                        <a:rPr lang="en-US" sz="1000" dirty="0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-</a:t>
                      </a:r>
                      <a:r>
                        <a:rPr lang="en-US" sz="1000" dirty="0" err="1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бесплатная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Бесплатная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Усл.-бесплатная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Open Source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4297680"/>
            <a:ext cx="8275320" cy="457200"/>
          </a:xfrm>
          <a:prstGeom prst="rect">
            <a:avLst/>
          </a:prstGeom>
          <a:solidFill>
            <a:srgbClr val="E8E0F7"/>
          </a:solidFill>
          <a:ln w="635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502920" y="4297680"/>
            <a:ext cx="91440" cy="457200"/>
          </a:xfrm>
          <a:prstGeom prst="rect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4315968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25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Вывод: </a:t>
            </a: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FitApp — единственное решение, объединяющее все ключевые функции в одном бесплатном open-source продукте.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365760"/>
            <a:ext cx="228600" cy="594360"/>
          </a:xfrm>
          <a:prstGeom prst="rect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84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Архитектура системы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275320" cy="0"/>
          </a:xfrm>
          <a:prstGeom prst="line">
            <a:avLst/>
          </a:prstGeom>
          <a:noFill/>
          <a:ln w="12700">
            <a:solidFill>
              <a:srgbClr val="E8E0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029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FitApp · ВКР · МТУСИ,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/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393192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502920" y="1143000"/>
            <a:ext cx="3931920" cy="45720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0292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КЛИЕНТ · .NET MAUI 9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1783080"/>
            <a:ext cx="3566160" cy="594360"/>
          </a:xfrm>
          <a:prstGeom prst="rect">
            <a:avLst/>
          </a:prstGeom>
          <a:solidFill>
            <a:srgbClr val="E8E0F7"/>
          </a:solidFill>
          <a:ln w="6350">
            <a:solidFill>
              <a:srgbClr val="8C64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685800" y="1783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25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MVVM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Views · ViewModels · Models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468880"/>
            <a:ext cx="3566160" cy="1005840"/>
          </a:xfrm>
          <a:prstGeom prst="rect">
            <a:avLst/>
          </a:prstGeom>
          <a:solidFill>
            <a:srgbClr val="E8E0F7"/>
          </a:solidFill>
          <a:ln w="6350">
            <a:solidFill>
              <a:srgbClr val="8C64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85800" y="254203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3725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СЕРВИСНЫЙ СЛОЙ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OnnxPredictionService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WorkoutPlannerService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SyncService · AuthClient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566160"/>
            <a:ext cx="3566160" cy="1005840"/>
          </a:xfrm>
          <a:prstGeom prst="rect">
            <a:avLst/>
          </a:prstGeom>
          <a:solidFill>
            <a:srgbClr val="E8E0F7"/>
          </a:solidFill>
          <a:ln w="6350">
            <a:solidFill>
              <a:srgbClr val="8C64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85800" y="363931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3725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ЛОКАЛЬНОЕ ХРАНИЛИЩЕ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SQLite · ONNX-модель (1,5 МБ)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SecureStorage (JWT)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2286000"/>
            <a:ext cx="640080" cy="0"/>
          </a:xfrm>
          <a:prstGeom prst="line">
            <a:avLst/>
          </a:prstGeom>
          <a:noFill/>
          <a:ln w="31750">
            <a:solidFill>
              <a:srgbClr val="E85362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4434840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36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HTTPS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725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JWT Bearer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66360" y="1143000"/>
            <a:ext cx="36576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5166360" y="1143000"/>
            <a:ext cx="3657600" cy="45720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5166360" y="1143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СЕРВЕР · ASP.NET Core 9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16916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 /auth/register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 /auth/login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 /sync </a:t>
            </a:r>
            <a:r>
              <a:rPr lang="en-US" sz="1000" i="1" dirty="0">
                <a:solidFill>
                  <a:srgbClr val="E8536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[Bearer JWT]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B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BCrypt · JWT HS256 · 30 дней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95160" y="3200400"/>
            <a:ext cx="0" cy="411480"/>
          </a:xfrm>
          <a:prstGeom prst="line">
            <a:avLst/>
          </a:prstGeom>
          <a:noFill/>
          <a:ln w="31750">
            <a:solidFill>
              <a:srgbClr val="E85362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5486400" y="3657600"/>
            <a:ext cx="3017520" cy="914400"/>
          </a:xfrm>
          <a:prstGeom prst="ellipse">
            <a:avLst/>
          </a:prstGeom>
          <a:solidFill>
            <a:srgbClr val="E8E0F7"/>
          </a:solidFill>
          <a:ln w="1905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5486400" y="3657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25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PostgreSQL / Neon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serverless, 512 МБ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365760"/>
            <a:ext cx="228600" cy="594360"/>
          </a:xfrm>
          <a:prstGeom prst="rect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84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Стек технологий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275320" cy="0"/>
          </a:xfrm>
          <a:prstGeom prst="line">
            <a:avLst/>
          </a:prstGeom>
          <a:noFill/>
          <a:ln w="12700">
            <a:solidFill>
              <a:srgbClr val="E8E0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029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FitApp · ВКР · МТУСИ,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965960" cy="3337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502920" y="1234440"/>
            <a:ext cx="1965960" cy="54864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02920" y="1234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КЛИЕНТ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1691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.NET MAUI 9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C# / XAML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CommunityToolkit.Mvvm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SQLite (sqlite-net-pcl)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LiveChartsCore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1234440"/>
            <a:ext cx="1965960" cy="3337560"/>
          </a:xfrm>
          <a:prstGeom prst="rect">
            <a:avLst/>
          </a:prstGeom>
          <a:solidFill>
            <a:srgbClr val="FFFFFF"/>
          </a:solidFill>
          <a:ln w="19050">
            <a:solidFill>
              <a:srgbClr val="47309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2606040" y="1234440"/>
            <a:ext cx="1965960" cy="548640"/>
          </a:xfrm>
          <a:prstGeom prst="rect">
            <a:avLst/>
          </a:prstGeom>
          <a:solidFill>
            <a:srgbClr val="47309C"/>
          </a:solidFill>
          <a:ln w="12700">
            <a:solidFill>
              <a:srgbClr val="47309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2606040" y="1234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СЕРВЕР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1920240"/>
            <a:ext cx="1691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ASP.NET Core 9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Npgsql (без EF)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JWT HS256 + BCrypt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Docker (multi-stage)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Render.com Free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234440"/>
            <a:ext cx="1965960" cy="3337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4709160" y="1234440"/>
            <a:ext cx="1965960" cy="548640"/>
          </a:xfrm>
          <a:prstGeom prst="rect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4709160" y="1234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БАЗА ДАННЫХ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1920240"/>
            <a:ext cx="1691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Локально: SQLite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Облако: PostgreSQL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Хостинг: Neon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Serverless, 512 МБ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12280" y="1234440"/>
            <a:ext cx="1965960" cy="3337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A81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6812280" y="1234440"/>
            <a:ext cx="1965960" cy="548640"/>
          </a:xfrm>
          <a:prstGeom prst="rect">
            <a:avLst/>
          </a:prstGeom>
          <a:solidFill>
            <a:srgbClr val="FA815F"/>
          </a:solidFill>
          <a:ln w="12700">
            <a:solidFill>
              <a:srgbClr val="FA81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6812280" y="1234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ML-ИНФРАСТРУКТУРА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1920240"/>
            <a:ext cx="1691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3.11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LightGBM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ONNX cross-platform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OnnxRuntime 1.20.1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365760"/>
            <a:ext cx="228600" cy="594360"/>
          </a:xfrm>
          <a:prstGeom prst="rect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84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ML-модуль: датасет и признаки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275320" cy="0"/>
          </a:xfrm>
          <a:prstGeom prst="line">
            <a:avLst/>
          </a:prstGeom>
          <a:noFill/>
          <a:ln w="12700">
            <a:solidFill>
              <a:srgbClr val="E8E0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029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FitApp · ВКР · МТУСИ,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7257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ДАННЫЕ ОБУЧЕНИЯ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502920" y="1600200"/>
            <a:ext cx="109728" cy="86868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85800" y="16459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7257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763 322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14600" y="16459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тренировочных подходов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60604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502920" y="2606040"/>
            <a:ext cx="109728" cy="868680"/>
          </a:xfrm>
          <a:prstGeom prst="rect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685800" y="26517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536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500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514600" y="26517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спортсменов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61188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A81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502920" y="3611880"/>
            <a:ext cx="109728" cy="868680"/>
          </a:xfrm>
          <a:prstGeom prst="rect">
            <a:avLst/>
          </a:prstGeom>
          <a:solidFill>
            <a:srgbClr val="FA815F"/>
          </a:solidFill>
          <a:ln w="12700">
            <a:solidFill>
              <a:srgbClr val="FA81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685800" y="36576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A815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118 350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514600" y="3657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обучающих пар (X → y)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188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7257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29 ПРИЗНАКОВ · 4 ГРУППЫ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600200"/>
            <a:ext cx="4023360" cy="640080"/>
          </a:xfrm>
          <a:prstGeom prst="rect">
            <a:avLst/>
          </a:prstGeom>
          <a:solidFill>
            <a:srgbClr val="E8E0F7"/>
          </a:solidFill>
          <a:ln w="6350">
            <a:solidFill>
              <a:srgbClr val="8C64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846320" y="1691640"/>
            <a:ext cx="457200" cy="457200"/>
          </a:xfrm>
          <a:prstGeom prst="ellipse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48463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40680" y="16459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25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История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лаги 1ПМ, средние, тренд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331720"/>
            <a:ext cx="4023360" cy="640080"/>
          </a:xfrm>
          <a:prstGeom prst="rect">
            <a:avLst/>
          </a:prstGeom>
          <a:solidFill>
            <a:srgbClr val="E8E0F7"/>
          </a:solidFill>
          <a:ln w="6350">
            <a:solidFill>
              <a:srgbClr val="8C64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4846320" y="2423160"/>
            <a:ext cx="457200" cy="457200"/>
          </a:xfrm>
          <a:prstGeom prst="ellipse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48463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40680" y="23774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25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Текущая тренировка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топ-вес, повторы, RPE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063240"/>
            <a:ext cx="4023360" cy="640080"/>
          </a:xfrm>
          <a:prstGeom prst="rect">
            <a:avLst/>
          </a:prstGeom>
          <a:solidFill>
            <a:srgbClr val="E8E0F7"/>
          </a:solidFill>
          <a:ln w="6350">
            <a:solidFill>
              <a:srgbClr val="8C64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4846320" y="3154680"/>
            <a:ext cx="457200" cy="457200"/>
          </a:xfrm>
          <a:prstGeom prst="ellipse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48463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31089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25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Профиль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вес, возраст, пол, стаж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3794760"/>
            <a:ext cx="4023360" cy="640080"/>
          </a:xfrm>
          <a:prstGeom prst="rect">
            <a:avLst/>
          </a:prstGeom>
          <a:solidFill>
            <a:srgbClr val="E8E0F7"/>
          </a:solidFill>
          <a:ln w="6350">
            <a:solidFill>
              <a:srgbClr val="8C64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4846320" y="3886200"/>
            <a:ext cx="457200" cy="457200"/>
          </a:xfrm>
          <a:prstGeom prst="ellipse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48463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40680" y="38404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25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Упражнение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тип, оборудование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365760"/>
            <a:ext cx="228600" cy="594360"/>
          </a:xfrm>
          <a:prstGeom prst="rect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84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ML-модуль: результаты обучения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275320" cy="0"/>
          </a:xfrm>
          <a:prstGeom prst="line">
            <a:avLst/>
          </a:prstGeom>
          <a:noFill/>
          <a:ln w="12700">
            <a:solidFill>
              <a:srgbClr val="E8E0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029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FitApp · ВКР · МТУСИ,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/ 12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02920" y="1188720"/>
          <a:ext cx="48463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623560" y="1280160"/>
            <a:ext cx="3200400" cy="1417320"/>
          </a:xfrm>
          <a:prstGeom prst="rect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5623560" y="132588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−39 %</a:t>
            </a:r>
            <a:endParaRPr lang="en-US" sz="40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снижение MAE</a:t>
            </a:r>
            <a:endParaRPr lang="en-US" sz="40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LightGBM vs Naive</a:t>
            </a:r>
            <a:endParaRPr lang="en-US" sz="4000" dirty="0"/>
          </a:p>
        </p:txBody>
      </p:sp>
      <p:sp>
        <p:nvSpPr>
          <p:cNvPr id="11" name="Shape 8"/>
          <p:cNvSpPr/>
          <p:nvPr/>
        </p:nvSpPr>
        <p:spPr>
          <a:xfrm>
            <a:off x="5623560" y="2834640"/>
            <a:ext cx="3200400" cy="1737360"/>
          </a:xfrm>
          <a:prstGeom prst="rect">
            <a:avLst/>
          </a:prstGeom>
          <a:solidFill>
            <a:srgbClr val="E8E0F7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5623560" y="2834640"/>
            <a:ext cx="3200400" cy="36576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562356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СООТВЕТСТВИЕ ПАЙПЛАЙНОВ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760720" y="32461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(LightGBM) ↔ C# (ONNX):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медиана: </a:t>
            </a:r>
            <a:r>
              <a:rPr lang="en-US" sz="1300" b="1" dirty="0">
                <a:solidFill>
                  <a:srgbClr val="E8536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1,6 × 10⁻⁵ кг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p99: </a:t>
            </a:r>
            <a:r>
              <a:rPr lang="en-US" sz="1300" b="1" dirty="0">
                <a:solidFill>
                  <a:srgbClr val="E8536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0,082 кг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365760"/>
            <a:ext cx="228600" cy="594360"/>
          </a:xfrm>
          <a:prstGeom prst="rect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84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Облачная синхронизация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275320" cy="0"/>
          </a:xfrm>
          <a:prstGeom prst="line">
            <a:avLst/>
          </a:prstGeom>
          <a:noFill/>
          <a:ln w="12700">
            <a:solidFill>
              <a:srgbClr val="E8E0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029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FitApp · ВКР · МТУСИ,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/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1554480" cy="54864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731520" y="1188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КЛИЕНТ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.NET MAUI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08760" y="1737360"/>
            <a:ext cx="0" cy="2560320"/>
          </a:xfrm>
          <a:prstGeom prst="line">
            <a:avLst/>
          </a:prstGeom>
          <a:noFill/>
          <a:ln w="12700">
            <a:solidFill>
              <a:srgbClr val="372579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3931920" y="1188720"/>
            <a:ext cx="1554480" cy="548640"/>
          </a:xfrm>
          <a:prstGeom prst="rect">
            <a:avLst/>
          </a:prstGeom>
          <a:solidFill>
            <a:srgbClr val="47309C"/>
          </a:solidFill>
          <a:ln w="12700">
            <a:solidFill>
              <a:srgbClr val="47309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931920" y="1188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СЕРВЕР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ASP.NET Core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737360"/>
            <a:ext cx="0" cy="2560320"/>
          </a:xfrm>
          <a:prstGeom prst="line">
            <a:avLst/>
          </a:prstGeom>
          <a:noFill/>
          <a:ln w="12700">
            <a:solidFill>
              <a:srgbClr val="47309C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7132320" y="1188720"/>
            <a:ext cx="1554480" cy="548640"/>
          </a:xfrm>
          <a:prstGeom prst="rect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7132320" y="1188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POSTGRESQL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Neon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09560" y="1737360"/>
            <a:ext cx="0" cy="2560320"/>
          </a:xfrm>
          <a:prstGeom prst="line">
            <a:avLst/>
          </a:prstGeom>
          <a:noFill/>
          <a:ln w="12700">
            <a:solidFill>
              <a:srgbClr val="E85362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1508760" y="2057400"/>
            <a:ext cx="3200400" cy="0"/>
          </a:xfrm>
          <a:prstGeom prst="line">
            <a:avLst/>
          </a:prstGeom>
          <a:noFill/>
          <a:ln w="19050">
            <a:solidFill>
              <a:srgbClr val="2418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1508760" y="1783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POST /sync  { pushBatch, lastSyncUtc }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606040"/>
            <a:ext cx="3200400" cy="0"/>
          </a:xfrm>
          <a:prstGeom prst="line">
            <a:avLst/>
          </a:prstGeom>
          <a:noFill/>
          <a:ln w="19050">
            <a:solidFill>
              <a:srgbClr val="2418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4709160" y="2331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UPSERT (LWW: UpdatedAt)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3200400" cy="0"/>
          </a:xfrm>
          <a:prstGeom prst="line">
            <a:avLst/>
          </a:prstGeom>
          <a:noFill/>
          <a:ln w="19050">
            <a:solidFill>
              <a:srgbClr val="24184E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709160" y="2880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COMMIT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508760" y="3703320"/>
            <a:ext cx="3200400" cy="0"/>
          </a:xfrm>
          <a:prstGeom prst="line">
            <a:avLst/>
          </a:prstGeom>
          <a:noFill/>
          <a:ln w="19050">
            <a:solidFill>
              <a:srgbClr val="24184E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150876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HTTP 200 { pullBatch, serverTimeUtc }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4343400"/>
            <a:ext cx="8275320" cy="411480"/>
          </a:xfrm>
          <a:prstGeom prst="rect">
            <a:avLst/>
          </a:prstGeom>
          <a:solidFill>
            <a:srgbClr val="E8E0F7"/>
          </a:solidFill>
          <a:ln w="635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502920" y="4343400"/>
            <a:ext cx="91440" cy="411480"/>
          </a:xfrm>
          <a:prstGeom prst="rect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731520" y="4361688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257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LWW: </a:t>
            </a:r>
            <a:r>
              <a:rPr lang="en-US" sz="1100" dirty="0">
                <a:solidFill>
                  <a:srgbClr val="241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CONFLICT(SyncId) DO UPDATE WHERE excluded.UpdatedAt &gt; existing.UpdatedAt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365760"/>
            <a:ext cx="228600" cy="594360"/>
          </a:xfrm>
          <a:prstGeom prst="rect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84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Тестирование и результаты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275320" cy="0"/>
          </a:xfrm>
          <a:prstGeom prst="line">
            <a:avLst/>
          </a:prstGeom>
          <a:noFill/>
          <a:ln w="12700">
            <a:solidFill>
              <a:srgbClr val="E8E0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029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FitApp · ВКР · МТУСИ,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7257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ФУНКЦИОНАЛЬНЫЕ И ИНТЕГРАЦИОННЫЕ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4114800" cy="502920"/>
          </a:xfrm>
          <a:prstGeom prst="rect">
            <a:avLst/>
          </a:prstGeom>
          <a:solidFill>
            <a:srgbClr val="E8E0F7"/>
          </a:solidFill>
          <a:ln w="6350">
            <a:solidFill>
              <a:srgbClr val="8C64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94360" y="1645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536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6459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функциональных теста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194560"/>
            <a:ext cx="4114800" cy="502920"/>
          </a:xfrm>
          <a:prstGeom prst="rect">
            <a:avLst/>
          </a:prstGeom>
          <a:solidFill>
            <a:srgbClr val="E8E0F7"/>
          </a:solidFill>
          <a:ln w="6350">
            <a:solidFill>
              <a:srgbClr val="8C64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594360" y="2240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536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22402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ключевых сценариев пройдены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788920"/>
            <a:ext cx="4114800" cy="502920"/>
          </a:xfrm>
          <a:prstGeom prst="rect">
            <a:avLst/>
          </a:prstGeom>
          <a:solidFill>
            <a:srgbClr val="E8E0F7"/>
          </a:solidFill>
          <a:ln w="6350">
            <a:solidFill>
              <a:srgbClr val="8C64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94360" y="28346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536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28346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сценария синхронизации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383280"/>
            <a:ext cx="4114800" cy="502920"/>
          </a:xfrm>
          <a:prstGeom prst="rect">
            <a:avLst/>
          </a:prstGeom>
          <a:solidFill>
            <a:srgbClr val="E8E0F7"/>
          </a:solidFill>
          <a:ln w="6350">
            <a:solidFill>
              <a:srgbClr val="8C64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594360" y="34290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536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25880" y="34290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платформы: Windows + Android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188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7257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ПРОИЗВОДИТЕЛЬНОСТЬ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54480"/>
          <a:ext cx="4023360" cy="12192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Метрика</a:t>
                      </a:r>
                      <a:endParaRPr lang="en-US" sz="10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5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Win</a:t>
                      </a:r>
                      <a:endParaRPr lang="en-US" sz="10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5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Android</a:t>
                      </a:r>
                      <a:endParaRPr lang="en-US" sz="10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5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Список тренировок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42 мс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78 мс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Inference ML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5362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4 мс</a:t>
                      </a:r>
                      <a:endParaRPr lang="en-US" sz="10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5362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8 мс</a:t>
                      </a:r>
                      <a:endParaRPr lang="en-US" sz="10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Init ONNX-сервиса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87 мс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143 мс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Размер APK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4184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4184E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38 МБ</a:t>
                      </a:r>
                      <a:endParaRPr lang="en-US" sz="10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754880" y="3703320"/>
            <a:ext cx="4023360" cy="822960"/>
          </a:xfrm>
          <a:prstGeom prst="rect">
            <a:avLst/>
          </a:prstGeom>
          <a:solidFill>
            <a:srgbClr val="E8E0F7"/>
          </a:solidFill>
          <a:ln w="635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21"/>
          <p:cNvSpPr/>
          <p:nvPr/>
        </p:nvSpPr>
        <p:spPr>
          <a:xfrm>
            <a:off x="4754880" y="3703320"/>
            <a:ext cx="91440" cy="822960"/>
          </a:xfrm>
          <a:prstGeom prst="rect">
            <a:avLst/>
          </a:prstGeom>
          <a:solidFill>
            <a:srgbClr val="FA815F"/>
          </a:solidFill>
          <a:ln w="12700">
            <a:solidFill>
              <a:srgbClr val="FA81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/>
          <p:nvPr/>
        </p:nvSpPr>
        <p:spPr>
          <a:xfrm>
            <a:off x="4892040" y="374904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A815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UX-ТЕСТ: </a:t>
            </a:r>
            <a:r>
              <a:rPr lang="en-US" sz="1000" b="1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добровольцев.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Отмечены: интуитивный ввод подходов, полезность подсказки прогноза 1ПМ.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365760"/>
            <a:ext cx="228600" cy="594360"/>
          </a:xfrm>
          <a:prstGeom prst="rect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84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Выводы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275320" cy="0"/>
          </a:xfrm>
          <a:prstGeom prst="line">
            <a:avLst/>
          </a:prstGeom>
          <a:noFill/>
          <a:ln w="12700">
            <a:solidFill>
              <a:srgbClr val="E8E0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029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FitApp · ВКР · МТУСИ,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8275320" cy="68580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502920" y="1143000"/>
            <a:ext cx="109728" cy="685800"/>
          </a:xfrm>
          <a:prstGeom prst="rect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777240" y="1188720"/>
            <a:ext cx="8001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536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ЦЕЛЬ РАБОТЫ ДОСТИГНУТА.  </a:t>
            </a: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Все поставленные задачи выполнены, требования соблюдены.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011680"/>
            <a:ext cx="2651760" cy="50292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02920" y="2011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РЕАЛИЗОВАНО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51460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40080" y="260604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Клиент: .NET MAUI 9, MVVM, 7 экранов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Сервер: ASP.NET Core 9 на Render.com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ML: LightGBM → ONNX (MAE 1,44 кг)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Sync: LWW + offline-first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2011680"/>
            <a:ext cx="2651760" cy="502920"/>
          </a:xfrm>
          <a:prstGeom prst="rect">
            <a:avLst/>
          </a:prstGeom>
          <a:solidFill>
            <a:srgbClr val="47309C"/>
          </a:solidFill>
          <a:ln w="12700">
            <a:solidFill>
              <a:srgbClr val="47309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3291840" y="2011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НАУЧНАЯ ЗНАЧИМОСТЬ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251460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7309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3429000" y="260604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Адаптация формулы Эпли и ML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Решение проблемы clock skew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Валидация ONNX-портации (Δ &lt; 0,1 кг)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2011680"/>
            <a:ext cx="2651760" cy="502920"/>
          </a:xfrm>
          <a:prstGeom prst="rect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6080760" y="2011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ПРАКТИЧЕСКАЯ ЦЕННОСТЬ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0" y="251460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6217920" y="260604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Бесплатное решение на русском языке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Единственное приложение с Windows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00" dirty="0">
                <a:solidFill>
                  <a:srgbClr val="2418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Source, расширяемое сообществом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18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1828800"/>
            <a:ext cx="548640" cy="640080"/>
          </a:xfrm>
          <a:prstGeom prst="rect">
            <a:avLst/>
          </a:prstGeom>
          <a:solidFill>
            <a:srgbClr val="E85362"/>
          </a:solidFill>
          <a:ln w="127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0" y="2606040"/>
            <a:ext cx="548640" cy="365760"/>
          </a:xfrm>
          <a:prstGeom prst="rect">
            <a:avLst/>
          </a:prstGeom>
          <a:solidFill>
            <a:srgbClr val="FA815F"/>
          </a:solidFill>
          <a:ln w="12700">
            <a:solidFill>
              <a:srgbClr val="FA81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Спасибо за внимание!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38100">
            <a:solidFill>
              <a:srgbClr val="E853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8E0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Готов ответить на ваши вопросы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E8E0F7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FitApp · ВКР · МТУСИ · Москва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848</Words>
  <Application>Microsoft Office PowerPoint</Application>
  <PresentationFormat>Экран (16:9)</PresentationFormat>
  <Paragraphs>249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Consolas</vt:lpstr>
      <vt:lpstr>Montserrat</vt:lpstr>
      <vt:lpstr>Montserrat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FitApp — защита ВКР (МТУСИ)</dc:title>
  <dc:subject>PptxGenJS Presentation</dc:subject>
  <dc:creator>ВКР FitApp</dc:creator>
  <cp:lastModifiedBy>Александр Герасимов</cp:lastModifiedBy>
  <cp:revision>2</cp:revision>
  <dcterms:created xsi:type="dcterms:W3CDTF">2026-05-24T22:17:44Z</dcterms:created>
  <dcterms:modified xsi:type="dcterms:W3CDTF">2026-05-26T12:07:30Z</dcterms:modified>
</cp:coreProperties>
</file>