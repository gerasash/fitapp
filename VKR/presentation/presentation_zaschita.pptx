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Средняя ошибка прогноза 1ПМ (MAE, кг)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(кг)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Naive baseline</c:v>
                  </c:pt>
                  <c:pt idx="1">
                    <c:v>LinearRegression</c:v>
                  </c:pt>
                  <c:pt idx="2">
                    <c:v>LightGBM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2.359</c:v>
                </c:pt>
                <c:pt idx="1">
                  <c:v>2.154</c:v>
                </c:pt>
                <c:pt idx="2">
                  <c:v>1.437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Московский технический университет связи и информатики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Выпускная квалификационная работа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кроссплатформенного приложения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отслеживания силовых тренировок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локальной ML-моделью прогнозирования 1ПМ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облачной синхронизацией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Студент: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[ФИО студента]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Группа: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[номер группы]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руководитель: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[ФИО, степень]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Москва,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 темы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FitApp — ВКР, МТУСИ,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52120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Силовой тренинг — массовая практика, требующая систематического учёта нагрузки.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задачи занимающегося — отслеживание прогресса 1ПМ и планирование рабочих весов.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Существующие приложения (Strong, Hevy, FitNotes, Jefit) закрывают только часть задач: либо без ML, либо без офлайн-режима, либо с подпиской.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одно из решений не объединяет: офлайн-first, локальное ML-прогнозирование без подписки, планировщик, кроссплатформенность (Android + Windows) и синхронизацию.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1371600"/>
            <a:ext cx="2834640" cy="3017520"/>
          </a:xfrm>
          <a:prstGeom prst="rect">
            <a:avLst/>
          </a:prstGeom>
          <a:solidFill>
            <a:srgbClr val="F7F9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1371600"/>
            <a:ext cx="73152" cy="30175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2200" y="1508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Ниша FitApp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72200" y="196596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локально, без подписки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Планировщик нагрузки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+ Windows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Синхронизация между устройствами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задачи работы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FitApp — ВКР, МТУСИ,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работы: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кроссплатформенного приложения для учёта силовых тренировок с локальным ML-прогнозированием 1ПМ, планировщиком нагрузки и облачной синхронизацией.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Проанализировать предметную область и существующие аналоги.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Спроектировать архитектуру клиента (MVVM, .NET MAUI) и серверной части (ASP.NET Core 9, PostgreSQL).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клиентское приложение: дневник, шаблоны, статистику, каталог упражнений.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Обучить ML-модель прогнозирования 1ПМ (LightGBM) и интегрировать её в приложение через ONNX Runtime.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протокол облачной синхронизации с разрешением конфликтов (Last-Write-Wins).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Провести функциональное и интеграционное тестирование на Windows и Android.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Сравнительный анализ аналогов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FitApp — ВКР, МТУСИ, 2026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1280160"/>
                <a:gridCol w="1280160"/>
                <a:gridCol w="128016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Критерий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Hevy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Поддержка Windows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Offline-first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Поддержка RPE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частично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ML-прогноз 1ПМ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Планировщик нагрузки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платно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Облачная синхронизация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iCloud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Модель монетизации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Усл.-бесплатная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Усл.-бесплатная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Бесплатная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Усл.-бесплатная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297680"/>
            <a:ext cx="8595360" cy="457200"/>
          </a:xfrm>
          <a:prstGeom prst="rect">
            <a:avLst/>
          </a:prstGeom>
          <a:solidFill>
            <a:srgbClr val="F7F9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4315968"/>
            <a:ext cx="8366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FitApp — единственное решение, объединяющее все ключевые функции в одном бесплатном open-source продукте.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системы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FitApp — ВКР, МТУСИ,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14800" cy="3383280"/>
          </a:xfrm>
          <a:prstGeom prst="rect">
            <a:avLst/>
          </a:prstGeom>
          <a:solidFill>
            <a:srgbClr val="DAE8FC"/>
          </a:solidFill>
          <a:ln w="19050">
            <a:solidFill>
              <a:srgbClr val="6C8E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(.NET MAUI 9)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3749040" cy="685800"/>
          </a:xfrm>
          <a:prstGeom prst="rect">
            <a:avLst/>
          </a:prstGeom>
          <a:solidFill>
            <a:srgbClr val="FFF2CC"/>
          </a:solidFill>
          <a:ln w="12700">
            <a:solidFill>
              <a:srgbClr val="D6B6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002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MVVM: Views · ViewModels · Models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3749040" cy="960120"/>
          </a:xfrm>
          <a:prstGeom prst="rect">
            <a:avLst/>
          </a:prstGeom>
          <a:solidFill>
            <a:srgbClr val="D5E8D4"/>
          </a:solidFill>
          <a:ln w="12700">
            <a:solidFill>
              <a:srgbClr val="82B3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957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Сервисный слой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OnnxPredictionService · WorkoutPlannerService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SyncService · AuthClient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3749040" cy="960120"/>
          </a:xfrm>
          <a:prstGeom prst="rect">
            <a:avLst/>
          </a:prstGeom>
          <a:solidFill>
            <a:srgbClr val="F8CECC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472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Локальное хранилище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7033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ONNX-модель (1,5 МБ) · SecureStorage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80560" y="1920240"/>
            <a:ext cx="6400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headEnd type="triangl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434840" y="146304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12080" y="1097280"/>
            <a:ext cx="3657600" cy="2011680"/>
          </a:xfrm>
          <a:prstGeom prst="rect">
            <a:avLst/>
          </a:prstGeom>
          <a:solidFill>
            <a:srgbClr val="E1D5E7"/>
          </a:solidFill>
          <a:ln w="19050">
            <a:solidFill>
              <a:srgbClr val="9673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(ASP.NET Core 9)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94960" y="155448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/auth/register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/auth/login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/sync  [Bearer JWT]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· JWT HS256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40880" y="3154680"/>
            <a:ext cx="0" cy="36576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669280" y="3566160"/>
            <a:ext cx="2743200" cy="86868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5555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36118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Neon (serverless)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 технологий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FitApp — ВКР, МТУСИ,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057400" cy="3383280"/>
          </a:xfrm>
          <a:prstGeom prst="rect">
            <a:avLst/>
          </a:prstGeom>
          <a:solidFill>
            <a:srgbClr val="DAE8FC"/>
          </a:solidFill>
          <a:ln w="19050">
            <a:solidFill>
              <a:srgbClr val="6C8E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801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178308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MAUI 9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XAML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CommunityToolkit.Mvvm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(sqlite-net-pcl)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LiveChartsCore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188720"/>
            <a:ext cx="2057400" cy="3383280"/>
          </a:xfrm>
          <a:prstGeom prst="rect">
            <a:avLst/>
          </a:prstGeom>
          <a:solidFill>
            <a:srgbClr val="E1D5E7"/>
          </a:solidFill>
          <a:ln w="19050">
            <a:solidFill>
              <a:srgbClr val="967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2801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06040" y="1783080"/>
            <a:ext cx="178308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9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Npgsql (без EF)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HS256 + BCrypt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(multi-stage)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 Free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2057400" cy="3383280"/>
          </a:xfrm>
          <a:prstGeom prst="rect">
            <a:avLst/>
          </a:prstGeom>
          <a:solidFill>
            <a:srgbClr val="F8CECC"/>
          </a:solidFill>
          <a:ln w="19050">
            <a:solidFill>
              <a:srgbClr val="B854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2801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1783080"/>
            <a:ext cx="178308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Локально: SQLite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Облако: PostgreSQL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Хостинг: Neon serverless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Постоянное хранилище 512 МБ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0" y="1188720"/>
            <a:ext cx="2057400" cy="3383280"/>
          </a:xfrm>
          <a:prstGeom prst="rect">
            <a:avLst/>
          </a:prstGeom>
          <a:solidFill>
            <a:srgbClr val="D5E8D4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2801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ML-инфраструктура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95160" y="1783080"/>
            <a:ext cx="178308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(cross-platform)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Microsoft.ML.OnnxRuntime 1.20.1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ML-модуль: датасет и признаки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FitApp — ВКР, МТУСИ,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обучения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4297680" cy="868680"/>
          </a:xfrm>
          <a:prstGeom prst="rect">
            <a:avLst/>
          </a:prstGeom>
          <a:solidFill>
            <a:srgbClr val="F7F9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00200"/>
            <a:ext cx="73152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45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763 322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77440" y="1645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тренировочных подходов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4297680" cy="868680"/>
          </a:xfrm>
          <a:prstGeom prst="rect">
            <a:avLst/>
          </a:prstGeom>
          <a:solidFill>
            <a:srgbClr val="F7F9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560320"/>
            <a:ext cx="73152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060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377440" y="2606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спортсменов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520440"/>
            <a:ext cx="4297680" cy="868680"/>
          </a:xfrm>
          <a:prstGeom prst="rect">
            <a:avLst/>
          </a:prstGeom>
          <a:solidFill>
            <a:srgbClr val="F7F9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520440"/>
            <a:ext cx="73152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661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118 350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377440" y="35661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обучающих пар (X → y)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признаков, 4 группы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37760" y="1600200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6002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77840" y="1618488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лаги 1ПМ, скользящие средние, тренд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2286000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2860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77840" y="2304288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Текущая тренировка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топ-вес, повторы, RPE, объём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2971800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9718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77840" y="2990088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 тела, возраст, пол, стаж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3657600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36576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577840" y="3675888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Упражнение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тип, оборудование, изоляция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ML-модуль: результаты обучения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FitApp — ВКР, МТУСИ, 2026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097280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280160"/>
            <a:ext cx="320040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0" y="1325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−39 %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MAE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vs Naive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5669280" y="2697480"/>
            <a:ext cx="3200400" cy="1691640"/>
          </a:xfrm>
          <a:prstGeom prst="rect">
            <a:avLst/>
          </a:prstGeom>
          <a:solidFill>
            <a:srgbClr val="F7F9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0" y="2788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 пайплайнов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760720" y="310896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(LightGBM) ↔ C# (ONNX Runtime):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 расхождения: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 × 10⁻⁵ кг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расхождения: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0,082 кг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Облачная синхронизация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FitApp — ВКР, МТУСИ,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188720"/>
            <a:ext cx="1554480" cy="502920"/>
          </a:xfrm>
          <a:prstGeom prst="rect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887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(.NET MAUI)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00200" y="1691640"/>
            <a:ext cx="0" cy="2834640"/>
          </a:xfrm>
          <a:prstGeom prst="line">
            <a:avLst/>
          </a:prstGeom>
          <a:noFill/>
          <a:ln w="9525">
            <a:solidFill>
              <a:srgbClr val="6C8EBF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840480" y="1188720"/>
            <a:ext cx="1554480" cy="502920"/>
          </a:xfrm>
          <a:prstGeom prst="rect">
            <a:avLst/>
          </a:prstGeom>
          <a:solidFill>
            <a:srgbClr val="E1D5E7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11887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(ASP.NET Core 9)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691640"/>
            <a:ext cx="0" cy="2834640"/>
          </a:xfrm>
          <a:prstGeom prst="line">
            <a:avLst/>
          </a:prstGeom>
          <a:noFill/>
          <a:ln w="9525">
            <a:solidFill>
              <a:srgbClr val="9673A6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858000" y="1188720"/>
            <a:ext cx="155448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11887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(Neon)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35240" y="1691640"/>
            <a:ext cx="0" cy="2834640"/>
          </a:xfrm>
          <a:prstGeom prst="line">
            <a:avLst/>
          </a:prstGeom>
          <a:noFill/>
          <a:ln w="9525">
            <a:solidFill>
              <a:srgbClr val="66666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600200" y="1965960"/>
            <a:ext cx="30175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600200" y="16916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POST /sync  { pushBatch, lastSyncUtc }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2514600"/>
            <a:ext cx="30175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617720" y="22402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UPSERT (LWW: UpdatedAt)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3063240"/>
            <a:ext cx="30175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  <a:headEnd type="triangl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4617720" y="27889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COMMIT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00200" y="3611880"/>
            <a:ext cx="30175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  <a:headEnd type="triangl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1600200" y="33375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HTTP 200 { pullBatch, serverTimeUtc }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297680"/>
            <a:ext cx="8412480" cy="457200"/>
          </a:xfrm>
          <a:prstGeom prst="rect">
            <a:avLst/>
          </a:prstGeom>
          <a:solidFill>
            <a:srgbClr val="F7F9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315968"/>
            <a:ext cx="8275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LWW: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CONFLICT(SyncId) DO UPDATE WHERE excluded.UpdatedAt &gt; existing.UpdatedAt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 и результаты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FitApp — ВКР, МТУСИ,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Функциональное тестирование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тестовых случая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ключевых сценариев — все пройдены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Платформы: Windows 10 + Android 12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Интеграционная синхронизация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Базовая синхронизация двух устройств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Конфликт UpdatedAt (LWW)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Мягкое удаление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Смена аккаунта + пересинхронизация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1143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Производительность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508760"/>
          <a:ext cx="4023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Метрика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Загрузка списка тренировок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мс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 мс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ML (1 упражнение)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мс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мс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 ONNX-сервиса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 мс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 мс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Размер APK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МБ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846320" y="3520440"/>
            <a:ext cx="4023360" cy="914400"/>
          </a:xfrm>
          <a:prstGeom prst="rect">
            <a:avLst/>
          </a:prstGeom>
          <a:solidFill>
            <a:srgbClr val="F7F9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356616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Пилотное UX-тестирование: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добровольцев. Отмечены: интуитивный ввод, полезность подсказки прогноза 1ПМ, удобство применения рекомендации.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FitApp — ВКР, МТУСИ,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Цель работы достигнута.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поставленные задачи выполнены, требования соблюдены.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26974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659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Реализовано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2697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6032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Клиент: .NET MAUI 9, MVVM, 7 экранов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Сервер: ASP.NET Core 9 на Render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ML: LightGBM → ONNX (MAE 1,44 кг)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Sync: LWW + offline-first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965960"/>
            <a:ext cx="26974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9659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Научная значимость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0" y="2468880"/>
            <a:ext cx="2697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56032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Адаптация формульного подхода Эпли и ML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проблемы clock skew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 ONNX-портации (Δ &lt; 0,1 кг)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965960"/>
            <a:ext cx="2697480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9659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Практическая ценность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35040" y="2468880"/>
            <a:ext cx="2697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256032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Бесплатное решение для русскоязычных пользователей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Единственное приложение с поддержкой Windows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Source, расширяемое сообществом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ответить на ваши вопросы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0" y="3931920"/>
            <a:ext cx="4572000" cy="6400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39319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FitApp · ВКР · МТУСИ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FitApp — защита ВКР</dc:title>
  <dc:subject>PptxGenJS Presentation</dc:subject>
  <dc:creator>ВКР FitApp</dc:creator>
  <cp:lastModifiedBy>ВКР FitApp</cp:lastModifiedBy>
  <cp:revision>1</cp:revision>
  <dcterms:created xsi:type="dcterms:W3CDTF">2026-05-24T20:59:26Z</dcterms:created>
  <dcterms:modified xsi:type="dcterms:W3CDTF">2026-05-24T20:59:26Z</dcterms:modified>
</cp:coreProperties>
</file>