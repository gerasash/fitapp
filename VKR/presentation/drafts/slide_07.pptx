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Для обучения модели я сгенерировал реалистичный набор данных: более 760 тысяч подходов по 500 виртуальным спортсменам, из которых сформировано 118 тысяч обучающих пар «вход — целевое значение». Целевое значение — одноповторный максимум через 28 дней. Модель использует 29 признаков, разбитых на четыре группы: история (лаги одноповторного максимума, скользящие средние, тренд) — самая важная группа из 13 признаков; параметры текущей тренировки; профиль спортсмена; и характеристики упражнения.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0972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ML-модуль: набор данных и признаки</a:t>
            </a:r>
            <a:endParaRPr lang="en-US" sz="3400" dirty="0"/>
          </a:p>
        </p:txBody>
      </p:sp>
      <p:sp>
        <p:nvSpPr>
          <p:cNvPr id="3" name="Shape 1"/>
          <p:cNvSpPr/>
          <p:nvPr/>
        </p:nvSpPr>
        <p:spPr>
          <a:xfrm>
            <a:off x="548640" y="1371600"/>
            <a:ext cx="3474720" cy="1554480"/>
          </a:xfrm>
          <a:prstGeom prst="roundRect">
            <a:avLst>
              <a:gd name="adj" fmla="val 5882"/>
            </a:avLst>
          </a:prstGeom>
          <a:solidFill>
            <a:srgbClr val="1E2761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1463040"/>
            <a:ext cx="34747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763 322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548640" y="2286000"/>
            <a:ext cx="3474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тренировочных подхода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4251960" y="1371600"/>
            <a:ext cx="3474720" cy="1554480"/>
          </a:xfrm>
          <a:prstGeom prst="roundRect">
            <a:avLst>
              <a:gd name="adj" fmla="val 5882"/>
            </a:avLst>
          </a:prstGeom>
          <a:solidFill>
            <a:srgbClr val="1E2761"/>
          </a:solidFill>
          <a:ln/>
        </p:spPr>
      </p:sp>
      <p:sp>
        <p:nvSpPr>
          <p:cNvPr id="7" name="Text 5"/>
          <p:cNvSpPr/>
          <p:nvPr/>
        </p:nvSpPr>
        <p:spPr>
          <a:xfrm>
            <a:off x="4251960" y="1463040"/>
            <a:ext cx="34747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500</a:t>
            </a:r>
            <a:endParaRPr lang="en-US" sz="3200" dirty="0"/>
          </a:p>
        </p:txBody>
      </p:sp>
      <p:sp>
        <p:nvSpPr>
          <p:cNvPr id="8" name="Text 6"/>
          <p:cNvSpPr/>
          <p:nvPr/>
        </p:nvSpPr>
        <p:spPr>
          <a:xfrm>
            <a:off x="4251960" y="2286000"/>
            <a:ext cx="3474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спортсменов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7955280" y="1371600"/>
            <a:ext cx="3474720" cy="1554480"/>
          </a:xfrm>
          <a:prstGeom prst="roundRect">
            <a:avLst>
              <a:gd name="adj" fmla="val 5882"/>
            </a:avLst>
          </a:prstGeom>
          <a:solidFill>
            <a:srgbClr val="1E2761"/>
          </a:solidFill>
          <a:ln/>
        </p:spPr>
      </p:sp>
      <p:sp>
        <p:nvSpPr>
          <p:cNvPr id="10" name="Text 8"/>
          <p:cNvSpPr/>
          <p:nvPr/>
        </p:nvSpPr>
        <p:spPr>
          <a:xfrm>
            <a:off x="7955280" y="1463040"/>
            <a:ext cx="34747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118 350</a:t>
            </a:r>
            <a:endParaRPr lang="en-US" sz="3200" dirty="0"/>
          </a:p>
        </p:txBody>
      </p:sp>
      <p:sp>
        <p:nvSpPr>
          <p:cNvPr id="11" name="Text 9"/>
          <p:cNvSpPr/>
          <p:nvPr/>
        </p:nvSpPr>
        <p:spPr>
          <a:xfrm>
            <a:off x="7955280" y="2286000"/>
            <a:ext cx="3474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обучающих пар (X → y)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548640" y="3246120"/>
            <a:ext cx="11064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29 ПРИЗНАКОВ · 4 ГРУППЫ</a:t>
            </a:r>
            <a:endParaRPr lang="en-US" sz="1800" dirty="0"/>
          </a:p>
        </p:txBody>
      </p:sp>
      <p:sp>
        <p:nvSpPr>
          <p:cNvPr id="13" name="Shape 11"/>
          <p:cNvSpPr/>
          <p:nvPr/>
        </p:nvSpPr>
        <p:spPr>
          <a:xfrm>
            <a:off x="548640" y="3840480"/>
            <a:ext cx="2606040" cy="1920240"/>
          </a:xfrm>
          <a:prstGeom prst="roundRect">
            <a:avLst>
              <a:gd name="adj" fmla="val 4762"/>
            </a:avLst>
          </a:prstGeom>
          <a:solidFill>
            <a:srgbClr val="EAF0FF"/>
          </a:solidFill>
          <a:ln/>
        </p:spPr>
      </p:sp>
      <p:sp>
        <p:nvSpPr>
          <p:cNvPr id="14" name="Text 12"/>
          <p:cNvSpPr/>
          <p:nvPr/>
        </p:nvSpPr>
        <p:spPr>
          <a:xfrm>
            <a:off x="548640" y="3931920"/>
            <a:ext cx="26060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9616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13</a:t>
            </a:r>
            <a:endParaRPr lang="en-US" sz="2600" dirty="0"/>
          </a:p>
        </p:txBody>
      </p:sp>
      <p:sp>
        <p:nvSpPr>
          <p:cNvPr id="15" name="Text 13"/>
          <p:cNvSpPr/>
          <p:nvPr/>
        </p:nvSpPr>
        <p:spPr>
          <a:xfrm>
            <a:off x="685800" y="4526280"/>
            <a:ext cx="2331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История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685800" y="4983480"/>
            <a:ext cx="23317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44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лаги 1ПМ, средние, тренд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3337560" y="3840480"/>
            <a:ext cx="2606040" cy="1920240"/>
          </a:xfrm>
          <a:prstGeom prst="roundRect">
            <a:avLst>
              <a:gd name="adj" fmla="val 4762"/>
            </a:avLst>
          </a:prstGeom>
          <a:solidFill>
            <a:srgbClr val="EAF0FF"/>
          </a:solidFill>
          <a:ln/>
        </p:spPr>
      </p:sp>
      <p:sp>
        <p:nvSpPr>
          <p:cNvPr id="18" name="Text 16"/>
          <p:cNvSpPr/>
          <p:nvPr/>
        </p:nvSpPr>
        <p:spPr>
          <a:xfrm>
            <a:off x="3337560" y="3931920"/>
            <a:ext cx="26060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9616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7</a:t>
            </a:r>
            <a:endParaRPr lang="en-US" sz="2600" dirty="0"/>
          </a:p>
        </p:txBody>
      </p:sp>
      <p:sp>
        <p:nvSpPr>
          <p:cNvPr id="19" name="Text 17"/>
          <p:cNvSpPr/>
          <p:nvPr/>
        </p:nvSpPr>
        <p:spPr>
          <a:xfrm>
            <a:off x="3474720" y="4526280"/>
            <a:ext cx="2331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Текущая тренировка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3474720" y="4983480"/>
            <a:ext cx="23317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44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топ-вес, повторы, RPE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6126480" y="3840480"/>
            <a:ext cx="2606040" cy="1920240"/>
          </a:xfrm>
          <a:prstGeom prst="roundRect">
            <a:avLst>
              <a:gd name="adj" fmla="val 4762"/>
            </a:avLst>
          </a:prstGeom>
          <a:solidFill>
            <a:srgbClr val="EAF0FF"/>
          </a:solidFill>
          <a:ln/>
        </p:spPr>
      </p:sp>
      <p:sp>
        <p:nvSpPr>
          <p:cNvPr id="22" name="Text 20"/>
          <p:cNvSpPr/>
          <p:nvPr/>
        </p:nvSpPr>
        <p:spPr>
          <a:xfrm>
            <a:off x="6126480" y="3931920"/>
            <a:ext cx="26060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9616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5</a:t>
            </a:r>
            <a:endParaRPr lang="en-US" sz="2600" dirty="0"/>
          </a:p>
        </p:txBody>
      </p:sp>
      <p:sp>
        <p:nvSpPr>
          <p:cNvPr id="23" name="Text 21"/>
          <p:cNvSpPr/>
          <p:nvPr/>
        </p:nvSpPr>
        <p:spPr>
          <a:xfrm>
            <a:off x="6263640" y="4526280"/>
            <a:ext cx="2331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Профиль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6263640" y="4983480"/>
            <a:ext cx="23317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44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вес, возраст, пол, стаж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8915400" y="3840480"/>
            <a:ext cx="2606040" cy="1920240"/>
          </a:xfrm>
          <a:prstGeom prst="roundRect">
            <a:avLst>
              <a:gd name="adj" fmla="val 4762"/>
            </a:avLst>
          </a:prstGeom>
          <a:solidFill>
            <a:srgbClr val="EAF0FF"/>
          </a:solidFill>
          <a:ln/>
        </p:spPr>
      </p:sp>
      <p:sp>
        <p:nvSpPr>
          <p:cNvPr id="26" name="Text 24"/>
          <p:cNvSpPr/>
          <p:nvPr/>
        </p:nvSpPr>
        <p:spPr>
          <a:xfrm>
            <a:off x="8915400" y="3931920"/>
            <a:ext cx="26060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9616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</a:t>
            </a:r>
            <a:endParaRPr lang="en-US" sz="2600" dirty="0"/>
          </a:p>
        </p:txBody>
      </p:sp>
      <p:sp>
        <p:nvSpPr>
          <p:cNvPr id="27" name="Text 25"/>
          <p:cNvSpPr/>
          <p:nvPr/>
        </p:nvSpPr>
        <p:spPr>
          <a:xfrm>
            <a:off x="9052560" y="4526280"/>
            <a:ext cx="2331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Упражнение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9052560" y="4983480"/>
            <a:ext cx="23317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44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тип, оборудование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AA0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FitApp · ВКР · МТУСИ, 2026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10698480" y="644652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AA0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/ 12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2026-05-29T00:52:48Z</dcterms:created>
  <dcterms:modified xsi:type="dcterms:W3CDTF">2026-05-29T00:52:48Z</dcterms:modified>
</cp:coreProperties>
</file>