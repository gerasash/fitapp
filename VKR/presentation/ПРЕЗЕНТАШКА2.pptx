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3"/>
  </p:notesMasterIdLst>
  <p:sldIdLst>
    <p:sldId id="256" r:id="rId2"/>
    <p:sldId id="299" r:id="rId3"/>
    <p:sldId id="281" r:id="rId4"/>
    <p:sldId id="282" r:id="rId5"/>
    <p:sldId id="283" r:id="rId6"/>
    <p:sldId id="284" r:id="rId7"/>
    <p:sldId id="285" r:id="rId8"/>
    <p:sldId id="286" r:id="rId9"/>
    <p:sldId id="288" r:id="rId10"/>
    <p:sldId id="289" r:id="rId11"/>
    <p:sldId id="290" r:id="rId12"/>
    <p:sldId id="291" r:id="rId13"/>
    <p:sldId id="292" r:id="rId14"/>
    <p:sldId id="293" r:id="rId15"/>
    <p:sldId id="294" r:id="rId16"/>
    <p:sldId id="295" r:id="rId17"/>
    <p:sldId id="296" r:id="rId18"/>
    <p:sldId id="297" r:id="rId19"/>
    <p:sldId id="298" r:id="rId20"/>
    <p:sldId id="257" r:id="rId21"/>
    <p:sldId id="258" r:id="rId22"/>
  </p:sldIdLst>
  <p:sldSz cx="12192000" cy="6858000"/>
  <p:notesSz cx="12192000" cy="6858000"/>
  <p:embeddedFontLst>
    <p:embeddedFont>
      <p:font typeface="Consolas" panose="020B0609020204030204" pitchFamily="49" charset="0"/>
      <p:regular r:id="rId24"/>
      <p:bold r:id="rId25"/>
      <p:italic r:id="rId26"/>
      <p:boldItalic r:id="rId27"/>
    </p:embeddedFont>
    <p:embeddedFont>
      <p:font typeface="Georgia" panose="02040502050405020303" pitchFamily="18" charset="0"/>
      <p:regular r:id="rId28"/>
      <p:bold r:id="rId29"/>
      <p:italic r:id="rId30"/>
      <p:boldItalic r:id="rId31"/>
    </p:embeddedFont>
    <p:embeddedFont>
      <p:font typeface="Montserrat" panose="00000500000000000000" pitchFamily="2" charset="-52"/>
      <p:regular r:id="rId32"/>
      <p:bold r:id="rId33"/>
      <p:italic r:id="rId34"/>
      <p:boldItalic r:id="rId35"/>
    </p:embeddedFont>
    <p:embeddedFont>
      <p:font typeface="Montserrat SemiBold" panose="00000700000000000000" pitchFamily="2" charset="-52"/>
      <p:bold r:id="rId36"/>
      <p:boldItalic r:id="rId37"/>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AB204471-B784-4DC2-B189-662B1D77BF70}">
          <p14:sldIdLst>
            <p14:sldId id="256"/>
            <p14:sldId id="299"/>
            <p14:sldId id="281"/>
            <p14:sldId id="282"/>
            <p14:sldId id="283"/>
            <p14:sldId id="284"/>
            <p14:sldId id="285"/>
            <p14:sldId id="286"/>
            <p14:sldId id="288"/>
            <p14:sldId id="289"/>
            <p14:sldId id="290"/>
            <p14:sldId id="291"/>
            <p14:sldId id="292"/>
            <p14:sldId id="293"/>
            <p14:sldId id="294"/>
            <p14:sldId id="295"/>
            <p14:sldId id="296"/>
            <p14:sldId id="297"/>
            <p14:sldId id="298"/>
            <p14:sldId id="257"/>
            <p14:sldId id="258"/>
          </p14:sldIdLst>
        </p14:section>
      </p14:sectionLst>
    </p:ex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99" autoAdjust="0"/>
    <p:restoredTop sz="94660"/>
  </p:normalViewPr>
  <p:slideViewPr>
    <p:cSldViewPr snapToGrid="0" showGuides="1">
      <p:cViewPr varScale="1">
        <p:scale>
          <a:sx n="116" d="100"/>
          <a:sy n="116" d="100"/>
        </p:scale>
        <p:origin x="437" y="82"/>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300" b="0" i="0" u="none" strike="noStrike">
                <a:solidFill>
                  <a:srgbClr val="372579"/>
                </a:solidFill>
                <a:latin typeface="Montserrat SemiBold"/>
              </a:defRPr>
            </a:pPr>
            <a:r>
              <a:rPr lang="ru-RU" sz="1300" b="0" i="0" u="none" strike="noStrike">
                <a:solidFill>
                  <a:srgbClr val="372579"/>
                </a:solidFill>
                <a:latin typeface="Montserrat SemiBold"/>
              </a:rPr>
              <a:t>Средняя ошибка прогноза 1ПМ (MAE, кг)</a:t>
            </a:r>
          </a:p>
        </c:rich>
      </c:tx>
      <c:overlay val="0"/>
    </c:title>
    <c:autoTitleDeleted val="0"/>
    <c:plotArea>
      <c:layout/>
      <c:barChart>
        <c:barDir val="col"/>
        <c:grouping val="clustered"/>
        <c:varyColors val="0"/>
        <c:ser>
          <c:idx val="0"/>
          <c:order val="0"/>
          <c:tx>
            <c:strRef>
              <c:f>Sheet1!$B$1</c:f>
              <c:strCache>
                <c:ptCount val="1"/>
                <c:pt idx="0">
                  <c:v>MAE (кг)</c:v>
                </c:pt>
              </c:strCache>
            </c:strRef>
          </c:tx>
          <c:spPr>
            <a:solidFill>
              <a:srgbClr val="8C64D8"/>
            </a:solidFill>
            <a:effectLst/>
          </c:spPr>
          <c:invertIfNegative val="0"/>
          <c:dPt>
            <c:idx val="0"/>
            <c:invertIfNegative val="0"/>
            <c:bubble3D val="0"/>
            <c:extLst>
              <c:ext xmlns:c16="http://schemas.microsoft.com/office/drawing/2014/chart" uri="{C3380CC4-5D6E-409C-BE32-E72D297353CC}">
                <c16:uniqueId val="{00000001-DFA9-4695-BBB1-DAABF6DE7709}"/>
              </c:ext>
            </c:extLst>
          </c:dPt>
          <c:dPt>
            <c:idx val="1"/>
            <c:invertIfNegative val="0"/>
            <c:bubble3D val="0"/>
            <c:spPr>
              <a:solidFill>
                <a:srgbClr val="47309C"/>
              </a:solidFill>
              <a:effectLst/>
            </c:spPr>
            <c:extLst>
              <c:ext xmlns:c16="http://schemas.microsoft.com/office/drawing/2014/chart" uri="{C3380CC4-5D6E-409C-BE32-E72D297353CC}">
                <c16:uniqueId val="{00000003-DFA9-4695-BBB1-DAABF6DE7709}"/>
              </c:ext>
            </c:extLst>
          </c:dPt>
          <c:dPt>
            <c:idx val="2"/>
            <c:invertIfNegative val="0"/>
            <c:bubble3D val="0"/>
            <c:spPr>
              <a:solidFill>
                <a:srgbClr val="E85362"/>
              </a:solidFill>
              <a:effectLst/>
            </c:spPr>
            <c:extLst>
              <c:ext xmlns:c16="http://schemas.microsoft.com/office/drawing/2014/chart" uri="{C3380CC4-5D6E-409C-BE32-E72D297353CC}">
                <c16:uniqueId val="{00000005-DFA9-4695-BBB1-DAABF6DE7709}"/>
              </c:ext>
            </c:extLst>
          </c:dPt>
          <c:dLbls>
            <c:numFmt formatCode="#,##0" sourceLinked="0"/>
            <c:spPr>
              <a:noFill/>
              <a:ln>
                <a:noFill/>
              </a:ln>
              <a:effectLst/>
            </c:spPr>
            <c:txPr>
              <a:bodyPr/>
              <a:lstStyle/>
              <a:p>
                <a:pPr>
                  <a:defRPr sz="1200" b="0" i="0" u="none" strike="noStrike">
                    <a:solidFill>
                      <a:srgbClr val="24184E"/>
                    </a:solidFill>
                    <a:latin typeface="Montserrat SemiBold"/>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Naive baseline</c:v>
                </c:pt>
                <c:pt idx="1">
                  <c:v>LinearRegression</c:v>
                </c:pt>
                <c:pt idx="2">
                  <c:v>LightGBM</c:v>
                </c:pt>
              </c:strCache>
            </c:strRef>
          </c:cat>
          <c:val>
            <c:numRef>
              <c:f>Sheet1!$B$2:$B$4</c:f>
              <c:numCache>
                <c:formatCode>General</c:formatCode>
                <c:ptCount val="3"/>
                <c:pt idx="0">
                  <c:v>2.359</c:v>
                </c:pt>
                <c:pt idx="1">
                  <c:v>2.1539999999999999</c:v>
                </c:pt>
                <c:pt idx="2">
                  <c:v>1.4370000000000001</c:v>
                </c:pt>
              </c:numCache>
            </c:numRef>
          </c:val>
          <c:extLst>
            <c:ext xmlns:c16="http://schemas.microsoft.com/office/drawing/2014/chart" uri="{C3380CC4-5D6E-409C-BE32-E72D297353CC}">
              <c16:uniqueId val="{00000006-DFA9-4695-BBB1-DAABF6DE770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4184E"/>
                </a:solidFill>
                <a:latin typeface="Montserrat"/>
              </a:defRPr>
            </a:pPr>
            <a:endParaRPr lang="ru-RU"/>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C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80"/>
                </a:solidFill>
                <a:latin typeface="Montserrat"/>
              </a:defRPr>
            </a:pPr>
            <a:endParaRPr lang="ru-RU"/>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300" b="0" i="0" u="none" strike="noStrike">
                <a:solidFill>
                  <a:srgbClr val="372579"/>
                </a:solidFill>
                <a:latin typeface="Montserrat SemiBold"/>
              </a:defRPr>
            </a:pPr>
            <a:r>
              <a:rPr lang="ru-RU" sz="1300" b="0" i="0" u="none" strike="noStrike">
                <a:solidFill>
                  <a:srgbClr val="372579"/>
                </a:solidFill>
                <a:latin typeface="Montserrat SemiBold"/>
              </a:rPr>
              <a:t>Средняя ошибка прогноза 1ПМ (MAE, кг)</a:t>
            </a:r>
          </a:p>
        </c:rich>
      </c:tx>
      <c:overlay val="0"/>
    </c:title>
    <c:autoTitleDeleted val="0"/>
    <c:plotArea>
      <c:layout/>
      <c:barChart>
        <c:barDir val="col"/>
        <c:grouping val="clustered"/>
        <c:varyColors val="0"/>
        <c:ser>
          <c:idx val="0"/>
          <c:order val="0"/>
          <c:tx>
            <c:strRef>
              <c:f>Sheet1!$B$1</c:f>
              <c:strCache>
                <c:ptCount val="1"/>
                <c:pt idx="0">
                  <c:v>MAE (кг)</c:v>
                </c:pt>
              </c:strCache>
            </c:strRef>
          </c:tx>
          <c:spPr>
            <a:solidFill>
              <a:srgbClr val="8C64D8"/>
            </a:solidFill>
            <a:effectLst/>
          </c:spPr>
          <c:invertIfNegative val="0"/>
          <c:dPt>
            <c:idx val="0"/>
            <c:invertIfNegative val="0"/>
            <c:bubble3D val="0"/>
            <c:extLst>
              <c:ext xmlns:c16="http://schemas.microsoft.com/office/drawing/2014/chart" uri="{C3380CC4-5D6E-409C-BE32-E72D297353CC}">
                <c16:uniqueId val="{00000001-DFA9-4695-BBB1-DAABF6DE7709}"/>
              </c:ext>
            </c:extLst>
          </c:dPt>
          <c:dPt>
            <c:idx val="1"/>
            <c:invertIfNegative val="0"/>
            <c:bubble3D val="0"/>
            <c:spPr>
              <a:solidFill>
                <a:srgbClr val="47309C"/>
              </a:solidFill>
              <a:effectLst/>
            </c:spPr>
            <c:extLst>
              <c:ext xmlns:c16="http://schemas.microsoft.com/office/drawing/2014/chart" uri="{C3380CC4-5D6E-409C-BE32-E72D297353CC}">
                <c16:uniqueId val="{00000003-DFA9-4695-BBB1-DAABF6DE7709}"/>
              </c:ext>
            </c:extLst>
          </c:dPt>
          <c:dPt>
            <c:idx val="2"/>
            <c:invertIfNegative val="0"/>
            <c:bubble3D val="0"/>
            <c:spPr>
              <a:solidFill>
                <a:srgbClr val="E85362"/>
              </a:solidFill>
              <a:effectLst/>
            </c:spPr>
            <c:extLst>
              <c:ext xmlns:c16="http://schemas.microsoft.com/office/drawing/2014/chart" uri="{C3380CC4-5D6E-409C-BE32-E72D297353CC}">
                <c16:uniqueId val="{00000005-DFA9-4695-BBB1-DAABF6DE7709}"/>
              </c:ext>
            </c:extLst>
          </c:dPt>
          <c:dLbls>
            <c:numFmt formatCode="#,##0" sourceLinked="0"/>
            <c:spPr>
              <a:noFill/>
              <a:ln>
                <a:noFill/>
              </a:ln>
              <a:effectLst/>
            </c:spPr>
            <c:txPr>
              <a:bodyPr/>
              <a:lstStyle/>
              <a:p>
                <a:pPr>
                  <a:defRPr sz="1200" b="0" i="0" u="none" strike="noStrike">
                    <a:solidFill>
                      <a:srgbClr val="24184E"/>
                    </a:solidFill>
                    <a:latin typeface="Montserrat SemiBold"/>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Naive baseline</c:v>
                </c:pt>
                <c:pt idx="1">
                  <c:v>LinearRegression</c:v>
                </c:pt>
                <c:pt idx="2">
                  <c:v>LightGBM</c:v>
                </c:pt>
              </c:strCache>
            </c:strRef>
          </c:cat>
          <c:val>
            <c:numRef>
              <c:f>Sheet1!$B$2:$B$4</c:f>
              <c:numCache>
                <c:formatCode>General</c:formatCode>
                <c:ptCount val="3"/>
                <c:pt idx="0">
                  <c:v>2.359</c:v>
                </c:pt>
                <c:pt idx="1">
                  <c:v>2.1539999999999999</c:v>
                </c:pt>
                <c:pt idx="2">
                  <c:v>1.4370000000000001</c:v>
                </c:pt>
              </c:numCache>
            </c:numRef>
          </c:val>
          <c:extLst>
            <c:ext xmlns:c16="http://schemas.microsoft.com/office/drawing/2014/chart" uri="{C3380CC4-5D6E-409C-BE32-E72D297353CC}">
              <c16:uniqueId val="{00000006-DFA9-4695-BBB1-DAABF6DE770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4184E"/>
                </a:solidFill>
                <a:latin typeface="Montserrat"/>
              </a:defRPr>
            </a:pPr>
            <a:endParaRPr lang="ru-RU"/>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C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280"/>
                </a:solidFill>
                <a:latin typeface="Montserrat"/>
              </a:defRPr>
            </a:pPr>
            <a:endParaRPr lang="ru-RU"/>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FA8369F-9FFB-48DA-B7CC-39FE5480EFE6}" type="datetimeFigureOut">
              <a:rPr lang="ru-RU" smtClean="0"/>
              <a:t>10.06.2026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8BE099E-78D5-446B-839C-50A8AC7E2368}" type="slidenum">
              <a:rPr lang="ru-RU" smtClean="0"/>
              <a:t>‹#›</a:t>
            </a:fld>
            <a:endParaRPr lang="ru-RU"/>
          </a:p>
        </p:txBody>
      </p:sp>
    </p:spTree>
    <p:extLst>
      <p:ext uri="{BB962C8B-B14F-4D97-AF65-F5344CB8AC3E}">
        <p14:creationId xmlns:p14="http://schemas.microsoft.com/office/powerpoint/2010/main" val="53858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8BE099E-78D5-446B-839C-50A8AC7E2368}" type="slidenum">
              <a:rPr lang="ru-RU" smtClean="0"/>
              <a:t>1</a:t>
            </a:fld>
            <a:endParaRPr lang="ru-RU"/>
          </a:p>
        </p:txBody>
      </p:sp>
    </p:spTree>
    <p:extLst>
      <p:ext uri="{BB962C8B-B14F-4D97-AF65-F5344CB8AC3E}">
        <p14:creationId xmlns:p14="http://schemas.microsoft.com/office/powerpoint/2010/main" val="3419570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Силовой тренинг — массовое занятие, и тем, кто тренируется, важно отслеживать прогресс и грамотно планировать веса. Я проанализировал популярные приложения — Strong, Hevy, FitNotes, Jefit — и увидел, что каждое закрывает лишь часть задач: где-то нет локального машинного обучения, где-то нет полноценной автономной работы, где-то функции спрятаны за подпиской. Ниша FitApp — объединить автономную работу, локальный прогноз без подписки, планировщик нагрузки, поддержку и Android, и Windows, и синхронизацию между устройствами.</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Цель работы — разработать кроссплатформенное приложение для учёта силовых тренировок с локальным прогнозом одноповторного максимума, планировщиком нагрузки и облачной синхронизацией. Для её достижения я поставил шесть задач: проанализировать аналоги, спроектировать архитектуру и базу данных, реализовать клиентское приложение, обучить ML-модель и перевести её в формат ONNX, реализовать протокол синхронизации, и провести тестирование. Дальше покажу, что получилось по каждому направлению.</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Сравнение по ключевым критериям свёл в таблицу. Главное отличие FitApp — это единственное решение с поддержкой Windows и единственное с локальным прогнозом одноповторного максимума. Автономную работу и RPE поддерживают и некоторые аналоги, но планировщик нагрузки либо платный, либо отсутствует. Вывод: FitApp объединяет все ключевые функции в одном бесплатном продукте с открытым исходным кодом.</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585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PPTIST_MASTER">
    <p:bg>
      <p:bgPr>
        <a:solidFill>
          <a:srgbClr val="FFFFFF"/>
        </a:solidFill>
        <a:effectLst/>
      </p:bgPr>
    </p:bg>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A26296CC-4B8C-4C06-900B-9406F51161A1}"/>
              </a:ext>
            </a:extLst>
          </p:cNvPr>
          <p:cNvSpPr>
            <a:spLocks noGrp="1"/>
          </p:cNvSpPr>
          <p:nvPr>
            <p:ph type="sldNum" sz="quarter" idx="11"/>
          </p:nvPr>
        </p:nvSpPr>
        <p:spPr/>
        <p:txBody>
          <a:bodyPr/>
          <a:lstStyle/>
          <a:p>
            <a:fld id="{F0A1730A-C93D-4743-8D10-40AC650802D0}" type="slidenum">
              <a:rPr lang="ru-RU" smtClean="0"/>
              <a:pPr/>
              <a:t>‹#›</a:t>
            </a:fld>
            <a:endParaRPr lang="ru-RU" dirty="0"/>
          </a:p>
        </p:txBody>
      </p:sp>
    </p:spTree>
    <p:extLst>
      <p:ext uri="{BB962C8B-B14F-4D97-AF65-F5344CB8AC3E}">
        <p14:creationId xmlns:p14="http://schemas.microsoft.com/office/powerpoint/2010/main" val="3879923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4"/>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5"/>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10.06.2026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6"/>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21.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a:xfrm>
            <a:off x="3795393" y="5178859"/>
            <a:ext cx="8056247" cy="1086389"/>
          </a:xfrm>
        </p:spPr>
        <p:txBody>
          <a:bodyPr/>
          <a:lstStyle/>
          <a:p>
            <a:pPr>
              <a:defRPr/>
            </a:pPr>
            <a:r>
              <a:rPr lang="ru-RU" dirty="0"/>
              <a:t>Студент: Герасимов Александр Евгеньевич</a:t>
            </a:r>
          </a:p>
          <a:p>
            <a:pPr>
              <a:defRPr/>
            </a:pPr>
            <a:r>
              <a:rPr lang="ru-RU" dirty="0"/>
              <a:t>Группа: БЭИ2202</a:t>
            </a:r>
          </a:p>
          <a:p>
            <a:pPr>
              <a:defRPr/>
            </a:pPr>
            <a:r>
              <a:rPr lang="ru-RU" dirty="0"/>
              <a:t>Научный руководитель: доцент к.т.н. Карташов Д.А.</a:t>
            </a:r>
            <a:br>
              <a:rPr lang="ru-RU" dirty="0"/>
            </a:br>
            <a:r>
              <a:rPr lang="ru-RU" dirty="0"/>
              <a:t>Консультант</a:t>
            </a:r>
            <a:r>
              <a:rPr lang="en-US" dirty="0"/>
              <a:t>:</a:t>
            </a:r>
            <a:r>
              <a:rPr lang="ru-RU" dirty="0"/>
              <a:t> Борисов С.П.</a:t>
            </a:r>
          </a:p>
          <a:p>
            <a:pPr>
              <a:defRPr/>
            </a:pPr>
            <a:endParaRPr lang="ru-RU" dirty="0"/>
          </a:p>
        </p:txBody>
      </p:sp>
      <p:sp>
        <p:nvSpPr>
          <p:cNvPr id="8" name="Текст 7"/>
          <p:cNvSpPr>
            <a:spLocks noGrp="1"/>
          </p:cNvSpPr>
          <p:nvPr>
            <p:ph type="body" sz="quarter" idx="13"/>
          </p:nvPr>
        </p:nvSpPr>
        <p:spPr bwMode="auto">
          <a:xfrm>
            <a:off x="3800791" y="4003199"/>
            <a:ext cx="8050849" cy="1086389"/>
          </a:xfrm>
        </p:spPr>
        <p:txBody>
          <a:bodyPr/>
          <a:lstStyle/>
          <a:p>
            <a:pPr>
              <a:defRPr/>
            </a:pPr>
            <a:r>
              <a:rPr lang="ru-RU" dirty="0"/>
              <a:t>Разработка информационной системы для учета и планирования спортивных тренировок</a:t>
            </a:r>
          </a:p>
        </p:txBody>
      </p:sp>
      <p:sp>
        <p:nvSpPr>
          <p:cNvPr id="9" name="Текст 8"/>
          <p:cNvSpPr>
            <a:spLocks noGrp="1"/>
          </p:cNvSpPr>
          <p:nvPr>
            <p:ph type="body" sz="quarter" idx="14"/>
          </p:nvPr>
        </p:nvSpPr>
        <p:spPr bwMode="auto"/>
        <p:txBody>
          <a:bodyPr/>
          <a:lstStyle/>
          <a:p>
            <a:pPr>
              <a:defRPr/>
            </a:pPr>
            <a:r>
              <a:rPr lang="en-US" dirty="0"/>
              <a:t>29.05.2026</a:t>
            </a:r>
            <a:endParaRPr lang="ru-RU" dirty="0"/>
          </a:p>
        </p:txBody>
      </p:sp>
      <p:sp>
        <p:nvSpPr>
          <p:cNvPr id="6" name="Заголовок 5"/>
          <p:cNvSpPr>
            <a:spLocks noGrp="1"/>
          </p:cNvSpPr>
          <p:nvPr>
            <p:ph type="title"/>
          </p:nvPr>
        </p:nvSpPr>
        <p:spPr bwMode="auto">
          <a:xfrm>
            <a:off x="3806189" y="1199038"/>
            <a:ext cx="8045451" cy="2517767"/>
          </a:xfrm>
        </p:spPr>
        <p:txBody>
          <a:bodyPr/>
          <a:lstStyle/>
          <a:p>
            <a:pPr>
              <a:defRPr/>
            </a:pPr>
            <a:r>
              <a:rPr lang="ru-RU" dirty="0"/>
              <a:t>ВЫПУСКНАЯ КВАЛИФИКАЦИОННАЯ РАБОТА БАКАЛАВРА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80D24A-D95F-4BD2-94CB-332EE3D06F09}"/>
              </a:ext>
            </a:extLst>
          </p:cNvPr>
          <p:cNvSpPr txBox="1">
            <a:spLocks/>
          </p:cNvSpPr>
          <p:nvPr/>
        </p:nvSpPr>
        <p:spPr>
          <a:xfrm>
            <a:off x="967331" y="3204511"/>
            <a:ext cx="10394830" cy="1855030"/>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2600" b="1" dirty="0">
                <a:latin typeface="+mn-lt"/>
                <a:cs typeface="Times New Roman" panose="02020603050405020304" pitchFamily="18" charset="0"/>
              </a:rPr>
              <a:t>Выпускная квалификационная работа </a:t>
            </a:r>
            <a:br>
              <a:rPr lang="ru-RU" sz="2600" dirty="0">
                <a:latin typeface="+mn-lt"/>
                <a:cs typeface="Times New Roman" panose="02020603050405020304" pitchFamily="18" charset="0"/>
              </a:rPr>
            </a:br>
            <a:r>
              <a:rPr lang="ru-RU" sz="2600" dirty="0">
                <a:latin typeface="+mn-lt"/>
                <a:cs typeface="Times New Roman" panose="02020603050405020304" pitchFamily="18" charset="0"/>
              </a:rPr>
              <a:t>на тему:</a:t>
            </a:r>
            <a:br>
              <a:rPr lang="ru-RU" sz="2600" dirty="0">
                <a:latin typeface="+mn-lt"/>
                <a:cs typeface="Times New Roman" panose="02020603050405020304" pitchFamily="18" charset="0"/>
              </a:rPr>
            </a:br>
            <a:r>
              <a:rPr lang="ru-RU" sz="2600" b="1" dirty="0">
                <a:latin typeface="+mn-lt"/>
                <a:cs typeface="Times New Roman" panose="02020603050405020304" pitchFamily="18" charset="0"/>
              </a:rPr>
              <a:t>«Разработка информационной системы для учета и планирования спортивных тренировок»</a:t>
            </a:r>
          </a:p>
        </p:txBody>
      </p:sp>
      <p:sp>
        <p:nvSpPr>
          <p:cNvPr id="3" name="Подзаголовок 2">
            <a:extLst>
              <a:ext uri="{FF2B5EF4-FFF2-40B4-BE49-F238E27FC236}">
                <a16:creationId xmlns:a16="http://schemas.microsoft.com/office/drawing/2014/main" id="{1037C2AC-DD6C-4175-AFF1-BC41040CB455}"/>
              </a:ext>
            </a:extLst>
          </p:cNvPr>
          <p:cNvSpPr txBox="1">
            <a:spLocks/>
          </p:cNvSpPr>
          <p:nvPr/>
        </p:nvSpPr>
        <p:spPr>
          <a:xfrm>
            <a:off x="6185140" y="5002970"/>
            <a:ext cx="6006860" cy="185503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0" algn="r">
              <a:spcBef>
                <a:spcPts val="0"/>
              </a:spcBef>
              <a:buNone/>
            </a:pPr>
            <a:r>
              <a:rPr lang="ru-RU" sz="1600" i="1" dirty="0">
                <a:ea typeface="Times New Roman" panose="02020603050405020304" pitchFamily="18" charset="0"/>
                <a:cs typeface="Times New Roman" panose="02020603050405020304" pitchFamily="18" charset="0"/>
              </a:rPr>
              <a:t>Выполнил студент группы БЭИ2202:</a:t>
            </a:r>
          </a:p>
          <a:p>
            <a:pPr indent="0" algn="r">
              <a:spcBef>
                <a:spcPts val="0"/>
              </a:spcBef>
              <a:buNone/>
            </a:pPr>
            <a:r>
              <a:rPr lang="ru-RU" sz="1600" i="1" dirty="0">
                <a:ea typeface="Times New Roman" panose="02020603050405020304" pitchFamily="18" charset="0"/>
                <a:cs typeface="Times New Roman" panose="02020603050405020304" pitchFamily="18" charset="0"/>
              </a:rPr>
              <a:t>Герасимов Александр Евгеньевич.</a:t>
            </a:r>
          </a:p>
          <a:p>
            <a:pPr indent="180340" algn="r">
              <a:spcBef>
                <a:spcPts val="0"/>
              </a:spcBef>
            </a:pPr>
            <a:endParaRPr lang="ru-RU" sz="1600" i="1" dirty="0">
              <a:ea typeface="Times New Roman" panose="02020603050405020304" pitchFamily="18" charset="0"/>
              <a:cs typeface="Times New Roman" panose="02020603050405020304" pitchFamily="18" charset="0"/>
            </a:endParaRPr>
          </a:p>
          <a:p>
            <a:pPr indent="0" algn="r">
              <a:lnSpc>
                <a:spcPct val="100000"/>
              </a:lnSpc>
              <a:spcBef>
                <a:spcPts val="0"/>
              </a:spcBef>
              <a:buNone/>
            </a:pPr>
            <a:r>
              <a:rPr lang="ru-RU" sz="1600" i="1" dirty="0">
                <a:ea typeface="Times New Roman" panose="02020603050405020304" pitchFamily="18" charset="0"/>
                <a:cs typeface="Times New Roman" panose="02020603050405020304" pitchFamily="18" charset="0"/>
              </a:rPr>
              <a:t>Научный руководитель:</a:t>
            </a:r>
          </a:p>
          <a:p>
            <a:pPr indent="0" algn="r">
              <a:lnSpc>
                <a:spcPct val="100000"/>
              </a:lnSpc>
              <a:spcBef>
                <a:spcPts val="0"/>
              </a:spcBef>
              <a:buNone/>
            </a:pPr>
            <a:r>
              <a:rPr lang="ru-RU" sz="1600" i="1" dirty="0">
                <a:ea typeface="Times New Roman" panose="02020603050405020304" pitchFamily="18" charset="0"/>
                <a:cs typeface="Times New Roman" panose="02020603050405020304" pitchFamily="18" charset="0"/>
              </a:rPr>
              <a:t>доцент к</a:t>
            </a:r>
            <a:r>
              <a:rPr lang="ru-RU" sz="1600" i="1" dirty="0">
                <a:effectLst/>
                <a:ea typeface="Times New Roman" panose="02020603050405020304" pitchFamily="18" charset="0"/>
                <a:cs typeface="Times New Roman" panose="02020603050405020304" pitchFamily="18" charset="0"/>
              </a:rPr>
              <a:t>.</a:t>
            </a:r>
            <a:r>
              <a:rPr lang="ru-RU" sz="1600" i="1" dirty="0">
                <a:ea typeface="Times New Roman" panose="02020603050405020304" pitchFamily="18" charset="0"/>
                <a:cs typeface="Times New Roman" panose="02020603050405020304" pitchFamily="18" charset="0"/>
              </a:rPr>
              <a:t>т.н. Карташов Дмитрий Александрович</a:t>
            </a:r>
            <a:endParaRPr lang="ru-RU" sz="1200" i="1" dirty="0">
              <a:effectLst/>
              <a:ea typeface="Times New Roman" panose="02020603050405020304" pitchFamily="18" charset="0"/>
              <a:cs typeface="Times New Roman" panose="02020603050405020304" pitchFamily="18" charset="0"/>
            </a:endParaRPr>
          </a:p>
        </p:txBody>
      </p:sp>
      <p:pic>
        <p:nvPicPr>
          <p:cNvPr id="4" name="Рисунок 3">
            <a:extLst>
              <a:ext uri="{FF2B5EF4-FFF2-40B4-BE49-F238E27FC236}">
                <a16:creationId xmlns:a16="http://schemas.microsoft.com/office/drawing/2014/main" id="{15AA8A62-C107-4DCE-9F04-8AF0049D8679}"/>
              </a:ext>
            </a:extLst>
          </p:cNvPr>
          <p:cNvPicPr>
            <a:picLocks noChangeAspect="1"/>
          </p:cNvPicPr>
          <p:nvPr/>
        </p:nvPicPr>
        <p:blipFill>
          <a:blip r:embed="rId2"/>
          <a:stretch>
            <a:fillRect/>
          </a:stretch>
        </p:blipFill>
        <p:spPr>
          <a:xfrm>
            <a:off x="10086673" y="599887"/>
            <a:ext cx="2242820" cy="2242820"/>
          </a:xfrm>
          <a:prstGeom prst="rect">
            <a:avLst/>
          </a:prstGeom>
          <a:effectLst>
            <a:outerShdw blurRad="50800" dist="38100" dir="18900000" algn="bl" rotWithShape="0">
              <a:prstClr val="black">
                <a:alpha val="40000"/>
              </a:prstClr>
            </a:outerShdw>
          </a:effectLst>
        </p:spPr>
      </p:pic>
      <p:pic>
        <p:nvPicPr>
          <p:cNvPr id="5" name="Рисунок 4">
            <a:extLst>
              <a:ext uri="{FF2B5EF4-FFF2-40B4-BE49-F238E27FC236}">
                <a16:creationId xmlns:a16="http://schemas.microsoft.com/office/drawing/2014/main" id="{843B763B-9958-4343-BFD9-F56E6D34D396}"/>
              </a:ext>
            </a:extLst>
          </p:cNvPr>
          <p:cNvPicPr>
            <a:picLocks noChangeAspect="1"/>
          </p:cNvPicPr>
          <p:nvPr/>
        </p:nvPicPr>
        <p:blipFill>
          <a:blip r:embed="rId2"/>
          <a:stretch>
            <a:fillRect/>
          </a:stretch>
        </p:blipFill>
        <p:spPr>
          <a:xfrm>
            <a:off x="0" y="697930"/>
            <a:ext cx="2242820" cy="2242820"/>
          </a:xfrm>
          <a:prstGeom prst="rect">
            <a:avLst/>
          </a:prstGeom>
          <a:effectLst>
            <a:outerShdw blurRad="50800" dist="38100" dir="10800000" algn="r" rotWithShape="0">
              <a:prstClr val="black">
                <a:alpha val="40000"/>
              </a:prstClr>
            </a:outerShdw>
          </a:effectLst>
        </p:spPr>
      </p:pic>
      <p:sp>
        <p:nvSpPr>
          <p:cNvPr id="6" name="Заголовок 1">
            <a:extLst>
              <a:ext uri="{FF2B5EF4-FFF2-40B4-BE49-F238E27FC236}">
                <a16:creationId xmlns:a16="http://schemas.microsoft.com/office/drawing/2014/main" id="{FCE03151-F47D-4D44-83F4-3B8EA4436033}"/>
              </a:ext>
            </a:extLst>
          </p:cNvPr>
          <p:cNvSpPr txBox="1">
            <a:spLocks/>
          </p:cNvSpPr>
          <p:nvPr/>
        </p:nvSpPr>
        <p:spPr>
          <a:xfrm>
            <a:off x="1752335" y="251064"/>
            <a:ext cx="8824823" cy="2707002"/>
          </a:xfrm>
          <a:prstGeom prst="rect">
            <a:avLst/>
          </a:prstGeom>
        </p:spPr>
        <p:txBody>
          <a:bodyPr vert="horz" lIns="9000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20000"/>
              </a:lnSpc>
            </a:pPr>
            <a:r>
              <a:rPr lang="ru-RU" sz="2400" dirty="0">
                <a:latin typeface="+mn-lt"/>
                <a:cs typeface="Times New Roman" pitchFamily="18" charset="0"/>
              </a:rPr>
              <a:t>МИНИСТЕРСТВО ЦИФРОВОГО РАЗВИТИЯ, СВЯЗИ И МАССОВЫХ </a:t>
            </a:r>
          </a:p>
          <a:p>
            <a:pPr algn="ctr">
              <a:lnSpc>
                <a:spcPct val="120000"/>
              </a:lnSpc>
            </a:pPr>
            <a:r>
              <a:rPr lang="ru-RU" sz="2400" dirty="0">
                <a:latin typeface="+mn-lt"/>
                <a:cs typeface="Times New Roman" pitchFamily="18" charset="0"/>
              </a:rPr>
              <a:t>КОММУНИКАЦИЙ РОССИЙСКОЙ ФЕДЕРАЦИИ</a:t>
            </a:r>
          </a:p>
          <a:p>
            <a:pPr algn="ctr">
              <a:lnSpc>
                <a:spcPct val="120000"/>
              </a:lnSpc>
            </a:pPr>
            <a:r>
              <a:rPr lang="ru-RU" sz="2400" dirty="0">
                <a:latin typeface="+mn-lt"/>
                <a:cs typeface="Times New Roman" pitchFamily="18" charset="0"/>
              </a:rPr>
              <a:t>Ордена Трудового Красного Знамени</a:t>
            </a:r>
          </a:p>
          <a:p>
            <a:pPr algn="ctr">
              <a:lnSpc>
                <a:spcPct val="120000"/>
              </a:lnSpc>
            </a:pPr>
            <a:r>
              <a:rPr lang="ru-RU" sz="2400" dirty="0">
                <a:latin typeface="+mn-lt"/>
                <a:cs typeface="Times New Roman" pitchFamily="18" charset="0"/>
              </a:rPr>
              <a:t> федеральное государственное бюджетное </a:t>
            </a:r>
          </a:p>
          <a:p>
            <a:pPr algn="ctr">
              <a:lnSpc>
                <a:spcPct val="120000"/>
              </a:lnSpc>
            </a:pPr>
            <a:r>
              <a:rPr lang="ru-RU" sz="2400" dirty="0">
                <a:latin typeface="+mn-lt"/>
                <a:cs typeface="Times New Roman" pitchFamily="18" charset="0"/>
              </a:rPr>
              <a:t>образовательное учреждение высшего образования</a:t>
            </a:r>
          </a:p>
          <a:p>
            <a:pPr algn="ctr">
              <a:lnSpc>
                <a:spcPct val="120000"/>
              </a:lnSpc>
            </a:pPr>
            <a:r>
              <a:rPr lang="ru-RU" sz="2400" dirty="0">
                <a:latin typeface="+mn-lt"/>
                <a:cs typeface="Times New Roman" pitchFamily="18" charset="0"/>
              </a:rPr>
              <a:t>«Московский технический университет связи и информатики»</a:t>
            </a:r>
          </a:p>
          <a:p>
            <a:pPr algn="ctr">
              <a:lnSpc>
                <a:spcPct val="120000"/>
              </a:lnSpc>
            </a:pPr>
            <a:r>
              <a:rPr lang="ru-RU" sz="2400" dirty="0">
                <a:latin typeface="+mn-lt"/>
                <a:cs typeface="Times New Roman" pitchFamily="18" charset="0"/>
              </a:rPr>
              <a:t>(МТУСИ)</a:t>
            </a:r>
          </a:p>
          <a:p>
            <a:pPr algn="ctr">
              <a:lnSpc>
                <a:spcPct val="120000"/>
              </a:lnSpc>
            </a:pPr>
            <a:r>
              <a:rPr lang="ru-RU" sz="2400" dirty="0">
                <a:latin typeface="+mn-lt"/>
                <a:cs typeface="Times New Roman" pitchFamily="18" charset="0"/>
              </a:rPr>
              <a:t>Кафедра «Информатика»</a:t>
            </a:r>
          </a:p>
        </p:txBody>
      </p:sp>
      <p:sp>
        <p:nvSpPr>
          <p:cNvPr id="7" name="Подзаголовок 2">
            <a:extLst>
              <a:ext uri="{FF2B5EF4-FFF2-40B4-BE49-F238E27FC236}">
                <a16:creationId xmlns:a16="http://schemas.microsoft.com/office/drawing/2014/main" id="{1DE87CF6-8E0F-4267-9684-322282E954A9}"/>
              </a:ext>
            </a:extLst>
          </p:cNvPr>
          <p:cNvSpPr txBox="1">
            <a:spLocks/>
          </p:cNvSpPr>
          <p:nvPr/>
        </p:nvSpPr>
        <p:spPr>
          <a:xfrm>
            <a:off x="5326811" y="6444712"/>
            <a:ext cx="1988389" cy="32611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ru-RU" sz="1600" i="1" dirty="0">
                <a:ea typeface="Times New Roman" panose="02020603050405020304" pitchFamily="18" charset="0"/>
                <a:cs typeface="Times New Roman" panose="02020603050405020304" pitchFamily="18" charset="0"/>
              </a:rPr>
              <a:t>Москва, 2026 г.</a:t>
            </a:r>
            <a:endParaRPr lang="ru-RU" sz="1200" i="1" dirty="0">
              <a:ea typeface="Times New Roman" panose="02020603050405020304" pitchFamily="18" charset="0"/>
              <a:cs typeface="Times New Roman" panose="02020603050405020304" pitchFamily="18" charset="0"/>
            </a:endParaRPr>
          </a:p>
        </p:txBody>
      </p:sp>
      <p:sp>
        <p:nvSpPr>
          <p:cNvPr id="12" name="Номер слайда 11">
            <a:extLst>
              <a:ext uri="{FF2B5EF4-FFF2-40B4-BE49-F238E27FC236}">
                <a16:creationId xmlns:a16="http://schemas.microsoft.com/office/drawing/2014/main" id="{FA4AD75E-120F-4F78-9685-EE2A20073F50}"/>
              </a:ext>
            </a:extLst>
          </p:cNvPr>
          <p:cNvSpPr>
            <a:spLocks noGrp="1"/>
          </p:cNvSpPr>
          <p:nvPr>
            <p:ph type="sldNum" sz="quarter" idx="11"/>
          </p:nvPr>
        </p:nvSpPr>
        <p:spPr/>
        <p:txBody>
          <a:bodyPr/>
          <a:lstStyle/>
          <a:p>
            <a:fld id="{F0A1730A-C93D-4743-8D10-40AC650802D0}" type="slidenum">
              <a:rPr lang="ru-RU" smtClean="0"/>
              <a:pPr/>
              <a:t>2</a:t>
            </a:fld>
            <a:endParaRPr lang="ru-RU" dirty="0"/>
          </a:p>
        </p:txBody>
      </p:sp>
    </p:spTree>
    <p:extLst>
      <p:ext uri="{BB962C8B-B14F-4D97-AF65-F5344CB8AC3E}">
        <p14:creationId xmlns:p14="http://schemas.microsoft.com/office/powerpoint/2010/main" val="230479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822960"/>
          </a:xfrm>
          <a:prstGeom prst="rect">
            <a:avLst/>
          </a:prstGeom>
          <a:noFill/>
          <a:ln/>
        </p:spPr>
        <p:txBody>
          <a:bodyPr wrap="square" rtlCol="0" anchor="ctr"/>
          <a:lstStyle/>
          <a:p>
            <a:pPr marL="0" indent="0">
              <a:buNone/>
            </a:pPr>
            <a:r>
              <a:rPr lang="en-US" sz="3400" b="1" dirty="0">
                <a:solidFill>
                  <a:srgbClr val="1E2761"/>
                </a:solidFill>
                <a:ea typeface="Georgia" pitchFamily="34" charset="-122"/>
                <a:cs typeface="Georgia" pitchFamily="34" charset="-120"/>
              </a:rPr>
              <a:t>Актуальность темы</a:t>
            </a:r>
            <a:endParaRPr lang="en-US" sz="3400" dirty="0"/>
          </a:p>
        </p:txBody>
      </p:sp>
      <p:sp>
        <p:nvSpPr>
          <p:cNvPr id="3" name="Text 1"/>
          <p:cNvSpPr/>
          <p:nvPr/>
        </p:nvSpPr>
        <p:spPr>
          <a:xfrm>
            <a:off x="548640" y="1463040"/>
            <a:ext cx="6400800" cy="3200400"/>
          </a:xfrm>
          <a:prstGeom prst="rect">
            <a:avLst/>
          </a:prstGeom>
          <a:noFill/>
          <a:ln/>
        </p:spPr>
        <p:txBody>
          <a:bodyPr wrap="square" rtlCol="0" anchor="t"/>
          <a:lstStyle/>
          <a:p>
            <a:pPr marL="342900" indent="-342900">
              <a:lnSpc>
                <a:spcPct val="105000"/>
              </a:lnSpc>
              <a:spcAft>
                <a:spcPts val="800"/>
              </a:spcAft>
              <a:buSzPct val="100000"/>
              <a:buChar char="•"/>
            </a:pPr>
            <a:r>
              <a:rPr lang="en-US" sz="1700" dirty="0">
                <a:solidFill>
                  <a:srgbClr val="44474F"/>
                </a:solidFill>
                <a:ea typeface="Calibri" pitchFamily="34" charset="-122"/>
                <a:cs typeface="Calibri" pitchFamily="34" charset="-120"/>
              </a:rPr>
              <a:t>Силовой тренинг — массовая практика, требующая систематического учёта нагрузки.</a:t>
            </a:r>
            <a:endParaRPr lang="en-US" sz="1700" dirty="0"/>
          </a:p>
          <a:p>
            <a:pPr marL="342900" indent="-342900">
              <a:lnSpc>
                <a:spcPct val="105000"/>
              </a:lnSpc>
              <a:spcAft>
                <a:spcPts val="800"/>
              </a:spcAft>
              <a:buSzPct val="100000"/>
              <a:buChar char="•"/>
            </a:pPr>
            <a:r>
              <a:rPr lang="en-US" sz="1700" dirty="0">
                <a:solidFill>
                  <a:srgbClr val="44474F"/>
                </a:solidFill>
                <a:ea typeface="Calibri" pitchFamily="34" charset="-122"/>
                <a:cs typeface="Calibri" pitchFamily="34" charset="-120"/>
              </a:rPr>
              <a:t>Ключевые задачи занимающегося — отслеживание прогресса 1ПМ и планирование рабочих весов.</a:t>
            </a:r>
            <a:endParaRPr lang="en-US" sz="1700" dirty="0"/>
          </a:p>
          <a:p>
            <a:pPr marL="342900" indent="-342900">
              <a:lnSpc>
                <a:spcPct val="105000"/>
              </a:lnSpc>
              <a:spcAft>
                <a:spcPts val="800"/>
              </a:spcAft>
              <a:buSzPct val="100000"/>
              <a:buChar char="•"/>
            </a:pPr>
            <a:r>
              <a:rPr lang="en-US" sz="1700" dirty="0">
                <a:solidFill>
                  <a:srgbClr val="44474F"/>
                </a:solidFill>
                <a:ea typeface="Calibri" pitchFamily="34" charset="-122"/>
                <a:cs typeface="Calibri" pitchFamily="34" charset="-120"/>
              </a:rPr>
              <a:t>Существующие приложения (Strong, Hevy, FitNotes, Jefit) закрывают лишь часть задач: либо без локального ML, либо без автономного режима, либо по подписке.</a:t>
            </a:r>
            <a:endParaRPr lang="en-US" sz="1700" dirty="0"/>
          </a:p>
        </p:txBody>
      </p:sp>
      <p:sp>
        <p:nvSpPr>
          <p:cNvPr id="4" name="Shape 2"/>
          <p:cNvSpPr/>
          <p:nvPr/>
        </p:nvSpPr>
        <p:spPr>
          <a:xfrm>
            <a:off x="7315200" y="1463040"/>
            <a:ext cx="4297680" cy="4206240"/>
          </a:xfrm>
          <a:prstGeom prst="roundRect">
            <a:avLst>
              <a:gd name="adj" fmla="val 2609"/>
            </a:avLst>
          </a:prstGeom>
          <a:solidFill>
            <a:srgbClr val="1E2761"/>
          </a:solidFill>
          <a:ln/>
        </p:spPr>
        <p:txBody>
          <a:bodyPr/>
          <a:lstStyle/>
          <a:p>
            <a:endParaRPr lang="ru-RU"/>
          </a:p>
        </p:txBody>
      </p:sp>
      <p:sp>
        <p:nvSpPr>
          <p:cNvPr id="5" name="Text 3"/>
          <p:cNvSpPr/>
          <p:nvPr/>
        </p:nvSpPr>
        <p:spPr>
          <a:xfrm>
            <a:off x="7315200" y="1645920"/>
            <a:ext cx="4297680" cy="457200"/>
          </a:xfrm>
          <a:prstGeom prst="rect">
            <a:avLst/>
          </a:prstGeom>
          <a:noFill/>
          <a:ln/>
        </p:spPr>
        <p:txBody>
          <a:bodyPr wrap="square" rtlCol="0" anchor="ctr"/>
          <a:lstStyle/>
          <a:p>
            <a:pPr marL="0" indent="0" algn="ctr">
              <a:buNone/>
            </a:pPr>
            <a:r>
              <a:rPr lang="en-US" sz="1800" b="1" dirty="0">
                <a:solidFill>
                  <a:srgbClr val="FFFFFF"/>
                </a:solidFill>
                <a:ea typeface="Georgia" pitchFamily="34" charset="-122"/>
                <a:cs typeface="Georgia" pitchFamily="34" charset="-120"/>
              </a:rPr>
              <a:t>НИША FITAPP</a:t>
            </a:r>
            <a:endParaRPr lang="en-US" sz="1800" dirty="0"/>
          </a:p>
        </p:txBody>
      </p:sp>
      <p:sp>
        <p:nvSpPr>
          <p:cNvPr id="6" name="Text 4"/>
          <p:cNvSpPr/>
          <p:nvPr/>
        </p:nvSpPr>
        <p:spPr>
          <a:xfrm>
            <a:off x="7589520" y="2240280"/>
            <a:ext cx="3749040" cy="3291840"/>
          </a:xfrm>
          <a:prstGeom prst="rect">
            <a:avLst/>
          </a:prstGeom>
          <a:noFill/>
          <a:ln/>
        </p:spPr>
        <p:txBody>
          <a:bodyPr wrap="square" rtlCol="0" anchor="t"/>
          <a:lstStyle/>
          <a:p>
            <a:pPr marL="342900" indent="-342900">
              <a:spcAft>
                <a:spcPts val="800"/>
              </a:spcAft>
              <a:buSzPct val="100000"/>
              <a:buChar char="✓"/>
            </a:pPr>
            <a:r>
              <a:rPr lang="en-US" sz="1500" dirty="0">
                <a:solidFill>
                  <a:srgbClr val="CADCFC"/>
                </a:solidFill>
                <a:ea typeface="Calibri" pitchFamily="34" charset="-122"/>
                <a:cs typeface="Calibri" pitchFamily="34" charset="-120"/>
              </a:rPr>
              <a:t>Автономная работа (приоритет локальных данных)</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Локальный ML-прогноз 1ПМ без подписки</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Планировщик нагрузки</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Android + Windows</a:t>
            </a:r>
            <a:endParaRPr lang="en-US" sz="1500" dirty="0"/>
          </a:p>
          <a:p>
            <a:pPr marL="342900" indent="-342900">
              <a:spcAft>
                <a:spcPts val="800"/>
              </a:spcAft>
              <a:buSzPct val="100000"/>
              <a:buChar char="✓"/>
            </a:pPr>
            <a:r>
              <a:rPr lang="en-US" sz="1500" dirty="0">
                <a:solidFill>
                  <a:srgbClr val="CADCFC"/>
                </a:solidFill>
                <a:ea typeface="Calibri" pitchFamily="34" charset="-122"/>
                <a:cs typeface="Calibri" pitchFamily="34" charset="-120"/>
              </a:rPr>
              <a:t>Синхронизация устройств</a:t>
            </a:r>
            <a:endParaRPr lang="en-US" sz="1500" dirty="0"/>
          </a:p>
        </p:txBody>
      </p:sp>
      <p:sp>
        <p:nvSpPr>
          <p:cNvPr id="7" name="Text 5"/>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9AA0A6"/>
                </a:solidFill>
                <a:latin typeface="Calibri" pitchFamily="34" charset="0"/>
                <a:ea typeface="Calibri" pitchFamily="34" charset="-122"/>
                <a:cs typeface="Calibri" pitchFamily="34" charset="-120"/>
              </a:rPr>
              <a:t>FitApp · ВКР · МТУСИ, 2026</a:t>
            </a:r>
            <a:endParaRPr lang="en-US" sz="1000" dirty="0"/>
          </a:p>
        </p:txBody>
      </p:sp>
      <p:sp>
        <p:nvSpPr>
          <p:cNvPr id="8" name="Text 6"/>
          <p:cNvSpPr/>
          <p:nvPr/>
        </p:nvSpPr>
        <p:spPr>
          <a:xfrm>
            <a:off x="10698480" y="6446520"/>
            <a:ext cx="914400" cy="274320"/>
          </a:xfrm>
          <a:prstGeom prst="rect">
            <a:avLst/>
          </a:prstGeom>
          <a:noFill/>
          <a:ln/>
        </p:spPr>
        <p:txBody>
          <a:bodyPr wrap="square" rtlCol="0" anchor="ctr"/>
          <a:lstStyle/>
          <a:p>
            <a:pPr marL="0" indent="0" algn="r">
              <a:buNone/>
            </a:pPr>
            <a:r>
              <a:rPr lang="en-US" sz="1000" dirty="0">
                <a:solidFill>
                  <a:srgbClr val="9AA0A6"/>
                </a:solidFill>
                <a:latin typeface="Calibri" pitchFamily="34" charset="0"/>
                <a:ea typeface="Calibri" pitchFamily="34" charset="-122"/>
                <a:cs typeface="Calibri" pitchFamily="34" charset="-120"/>
              </a:rPr>
              <a:t>2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0474BCC-2697-D0FE-50A4-4A3561EFA446}"/>
            </a:ext>
          </a:extLst>
        </p:cNvPr>
        <p:cNvGrpSpPr/>
        <p:nvPr/>
      </p:nvGrpSpPr>
      <p:grpSpPr bwMode="auto">
        <a:xfrm>
          <a:off x="0" y="0"/>
          <a:ext cx="0" cy="0"/>
          <a:chOff x="0" y="0"/>
          <a:chExt cx="0" cy="0"/>
        </a:xfrm>
      </p:grpSpPr>
      <p:sp>
        <p:nvSpPr>
          <p:cNvPr id="7" name="Заголовок 6">
            <a:extLst>
              <a:ext uri="{FF2B5EF4-FFF2-40B4-BE49-F238E27FC236}">
                <a16:creationId xmlns:a16="http://schemas.microsoft.com/office/drawing/2014/main" id="{7B47C06B-CF9E-171A-D085-138C821183B6}"/>
              </a:ext>
            </a:extLst>
          </p:cNvPr>
          <p:cNvSpPr>
            <a:spLocks noGrp="1"/>
          </p:cNvSpPr>
          <p:nvPr>
            <p:ph type="title"/>
          </p:nvPr>
        </p:nvSpPr>
        <p:spPr bwMode="auto"/>
        <p:txBody>
          <a:bodyPr/>
          <a:lstStyle/>
          <a:p>
            <a:pPr>
              <a:defRPr/>
            </a:pPr>
            <a:r>
              <a:rPr lang="ru-RU" dirty="0"/>
              <a:t>Актуальность темы</a:t>
            </a:r>
            <a:br>
              <a:rPr lang="ru-RU" dirty="0"/>
            </a:br>
            <a:endParaRPr lang="ru-RU" dirty="0"/>
          </a:p>
        </p:txBody>
      </p:sp>
      <p:sp>
        <p:nvSpPr>
          <p:cNvPr id="8" name="Рисунок 7">
            <a:extLst>
              <a:ext uri="{FF2B5EF4-FFF2-40B4-BE49-F238E27FC236}">
                <a16:creationId xmlns:a16="http://schemas.microsoft.com/office/drawing/2014/main" id="{12170AF5-EC4C-D7D8-A0E7-BE32F4063437}"/>
              </a:ext>
            </a:extLst>
          </p:cNvPr>
          <p:cNvSpPr>
            <a:spLocks noGrp="1"/>
          </p:cNvSpPr>
          <p:nvPr>
            <p:ph type="pic" sz="quarter" idx="13"/>
          </p:nvPr>
        </p:nvSpPr>
        <p:spPr bwMode="auto"/>
        <p:txBody>
          <a:bodyPr/>
          <a:lstStyle/>
          <a:p>
            <a:endParaRPr lang="ru-RU" dirty="0"/>
          </a:p>
        </p:txBody>
      </p:sp>
      <p:sp>
        <p:nvSpPr>
          <p:cNvPr id="9" name="Текст 8">
            <a:extLst>
              <a:ext uri="{FF2B5EF4-FFF2-40B4-BE49-F238E27FC236}">
                <a16:creationId xmlns:a16="http://schemas.microsoft.com/office/drawing/2014/main" id="{E5E1CF4D-16AF-FCAE-E826-DAA2AB038D74}"/>
              </a:ext>
            </a:extLst>
          </p:cNvPr>
          <p:cNvSpPr>
            <a:spLocks noGrp="1"/>
          </p:cNvSpPr>
          <p:nvPr>
            <p:ph type="body" sz="quarter" idx="14"/>
          </p:nvPr>
        </p:nvSpPr>
        <p:spPr bwMode="auto"/>
        <p:txBody>
          <a:bodyPr/>
          <a:lstStyle/>
          <a:p>
            <a:pPr>
              <a:defRPr/>
            </a:pPr>
            <a:endParaRPr lang="ru-RU"/>
          </a:p>
        </p:txBody>
      </p:sp>
      <p:sp>
        <p:nvSpPr>
          <p:cNvPr id="10" name="Текст 9">
            <a:extLst>
              <a:ext uri="{FF2B5EF4-FFF2-40B4-BE49-F238E27FC236}">
                <a16:creationId xmlns:a16="http://schemas.microsoft.com/office/drawing/2014/main" id="{781E3B6F-C635-30E6-D3A2-35D9AC72A887}"/>
              </a:ext>
            </a:extLst>
          </p:cNvPr>
          <p:cNvSpPr>
            <a:spLocks noGrp="1"/>
          </p:cNvSpPr>
          <p:nvPr>
            <p:ph type="body" sz="quarter" idx="17"/>
          </p:nvPr>
        </p:nvSpPr>
        <p:spPr bwMode="auto"/>
        <p:txBody>
          <a:bodyPr/>
          <a:lstStyle/>
          <a:p>
            <a:pPr marL="171450" indent="-171450">
              <a:buFont typeface="Arial" panose="020B0604020202020204" pitchFamily="34" charset="0"/>
              <a:buChar char="•"/>
              <a:defRPr/>
            </a:pPr>
            <a:r>
              <a:rPr lang="ru-RU" dirty="0"/>
              <a:t>Силовой тренинг — массовая практика, требующая систематического учёта нагрузки.</a:t>
            </a:r>
          </a:p>
          <a:p>
            <a:pPr marL="171450" indent="-171450">
              <a:buFont typeface="Arial" panose="020B0604020202020204" pitchFamily="34" charset="0"/>
              <a:buChar char="•"/>
              <a:defRPr/>
            </a:pPr>
            <a:r>
              <a:rPr lang="ru-RU" dirty="0"/>
              <a:t>Ключевые задачи занимающегося — отслеживание прогресса 1ПМ и планирование рабочих весов.</a:t>
            </a:r>
          </a:p>
          <a:p>
            <a:pPr marL="171450" indent="-171450">
              <a:buFont typeface="Arial" panose="020B0604020202020204" pitchFamily="34" charset="0"/>
              <a:buChar char="•"/>
              <a:defRPr/>
            </a:pPr>
            <a:r>
              <a:rPr lang="ru-RU" dirty="0"/>
              <a:t>Существующие приложения (</a:t>
            </a:r>
            <a:r>
              <a:rPr lang="ru-RU" dirty="0" err="1"/>
              <a:t>Strong</a:t>
            </a:r>
            <a:r>
              <a:rPr lang="ru-RU" dirty="0"/>
              <a:t>, </a:t>
            </a:r>
            <a:r>
              <a:rPr lang="ru-RU" dirty="0" err="1"/>
              <a:t>Hevy</a:t>
            </a:r>
            <a:r>
              <a:rPr lang="ru-RU" dirty="0"/>
              <a:t>, </a:t>
            </a:r>
            <a:r>
              <a:rPr lang="ru-RU" dirty="0" err="1"/>
              <a:t>FitNotes</a:t>
            </a:r>
            <a:r>
              <a:rPr lang="ru-RU" dirty="0"/>
              <a:t>, </a:t>
            </a:r>
            <a:r>
              <a:rPr lang="ru-RU" dirty="0" err="1"/>
              <a:t>Jefit</a:t>
            </a:r>
            <a:r>
              <a:rPr lang="ru-RU" dirty="0"/>
              <a:t>) закрывают лишь часть задач: либо без локального ML, либо без автономного режима, либо по подписке.</a:t>
            </a:r>
          </a:p>
          <a:p>
            <a:pPr>
              <a:defRPr/>
            </a:pPr>
            <a:endParaRPr lang="ru-RU" dirty="0"/>
          </a:p>
        </p:txBody>
      </p:sp>
      <p:sp>
        <p:nvSpPr>
          <p:cNvPr id="11" name="Текст 10">
            <a:extLst>
              <a:ext uri="{FF2B5EF4-FFF2-40B4-BE49-F238E27FC236}">
                <a16:creationId xmlns:a16="http://schemas.microsoft.com/office/drawing/2014/main" id="{8C469135-06BB-EE2B-245E-88ECDE9FC2E4}"/>
              </a:ext>
            </a:extLst>
          </p:cNvPr>
          <p:cNvSpPr>
            <a:spLocks noGrp="1"/>
          </p:cNvSpPr>
          <p:nvPr>
            <p:ph type="body" sz="quarter" idx="18"/>
          </p:nvPr>
        </p:nvSpPr>
        <p:spPr bwMode="auto"/>
        <p:txBody>
          <a:bodyPr/>
          <a:lstStyle/>
          <a:p>
            <a:pPr>
              <a:defRPr/>
            </a:pPr>
            <a:endParaRPr lang="ru-RU" dirty="0"/>
          </a:p>
        </p:txBody>
      </p:sp>
      <p:sp>
        <p:nvSpPr>
          <p:cNvPr id="12" name="Текст 11">
            <a:extLst>
              <a:ext uri="{FF2B5EF4-FFF2-40B4-BE49-F238E27FC236}">
                <a16:creationId xmlns:a16="http://schemas.microsoft.com/office/drawing/2014/main" id="{EA582343-0503-9C2E-7FB8-9417389880A8}"/>
              </a:ext>
            </a:extLst>
          </p:cNvPr>
          <p:cNvSpPr>
            <a:spLocks noGrp="1"/>
          </p:cNvSpPr>
          <p:nvPr>
            <p:ph type="body" sz="quarter" idx="19"/>
          </p:nvPr>
        </p:nvSpPr>
        <p:spPr bwMode="auto"/>
        <p:txBody>
          <a:bodyPr/>
          <a:lstStyle/>
          <a:p>
            <a:pPr>
              <a:defRPr/>
            </a:pPr>
            <a:endParaRPr lang="ru-RU"/>
          </a:p>
        </p:txBody>
      </p:sp>
    </p:spTree>
    <p:extLst>
      <p:ext uri="{BB962C8B-B14F-4D97-AF65-F5344CB8AC3E}">
        <p14:creationId xmlns:p14="http://schemas.microsoft.com/office/powerpoint/2010/main" val="940356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822960"/>
          </a:xfrm>
          <a:prstGeom prst="rect">
            <a:avLst/>
          </a:prstGeom>
          <a:noFill/>
          <a:ln/>
        </p:spPr>
        <p:txBody>
          <a:bodyPr wrap="square" rtlCol="0" anchor="ctr"/>
          <a:lstStyle/>
          <a:p>
            <a:pPr marL="0" indent="0">
              <a:buNone/>
            </a:pPr>
            <a:r>
              <a:rPr lang="en-US" sz="3400" b="1" dirty="0">
                <a:solidFill>
                  <a:srgbClr val="1E2761"/>
                </a:solidFill>
                <a:latin typeface="Georgia" pitchFamily="34" charset="0"/>
                <a:ea typeface="Georgia" pitchFamily="34" charset="-122"/>
                <a:cs typeface="Georgia" pitchFamily="34" charset="-120"/>
              </a:rPr>
              <a:t>Цель и задачи работы</a:t>
            </a:r>
            <a:endParaRPr lang="en-US" sz="3400" dirty="0"/>
          </a:p>
        </p:txBody>
      </p:sp>
      <p:sp>
        <p:nvSpPr>
          <p:cNvPr id="3" name="Shape 1"/>
          <p:cNvSpPr/>
          <p:nvPr/>
        </p:nvSpPr>
        <p:spPr>
          <a:xfrm>
            <a:off x="548640" y="1325880"/>
            <a:ext cx="11064240" cy="1143000"/>
          </a:xfrm>
          <a:prstGeom prst="roundRect">
            <a:avLst>
              <a:gd name="adj" fmla="val 8000"/>
            </a:avLst>
          </a:prstGeom>
          <a:solidFill>
            <a:srgbClr val="CADCFC"/>
          </a:solidFill>
          <a:ln/>
        </p:spPr>
        <p:txBody>
          <a:bodyPr/>
          <a:lstStyle/>
          <a:p>
            <a:endParaRPr lang="ru-RU"/>
          </a:p>
        </p:txBody>
      </p:sp>
      <p:sp>
        <p:nvSpPr>
          <p:cNvPr id="4" name="Text 2"/>
          <p:cNvSpPr/>
          <p:nvPr/>
        </p:nvSpPr>
        <p:spPr>
          <a:xfrm>
            <a:off x="822960" y="1417320"/>
            <a:ext cx="10515600" cy="9601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ЦЕЛЬ РАБОТЫ.  </a:t>
            </a:r>
            <a:r>
              <a:rPr lang="en-US" sz="1600" dirty="0">
                <a:solidFill>
                  <a:srgbClr val="44474F"/>
                </a:solidFill>
                <a:latin typeface="Calibri" pitchFamily="34" charset="0"/>
                <a:ea typeface="Calibri" pitchFamily="34" charset="-122"/>
                <a:cs typeface="Calibri" pitchFamily="34" charset="-120"/>
              </a:rPr>
              <a:t>Разработка кроссплатформенного приложения для учёта силовых тренировок с локальным ML-прогнозированием 1ПМ, планировщиком нагрузки и облачной синхронизацией.</a:t>
            </a:r>
            <a:endParaRPr lang="en-US" sz="1600" dirty="0"/>
          </a:p>
        </p:txBody>
      </p:sp>
      <p:sp>
        <p:nvSpPr>
          <p:cNvPr id="5" name="Shape 3"/>
          <p:cNvSpPr/>
          <p:nvPr/>
        </p:nvSpPr>
        <p:spPr>
          <a:xfrm>
            <a:off x="548640" y="2788920"/>
            <a:ext cx="548640" cy="548640"/>
          </a:xfrm>
          <a:prstGeom prst="ellipse">
            <a:avLst/>
          </a:prstGeom>
          <a:solidFill>
            <a:srgbClr val="1E2761"/>
          </a:solidFill>
          <a:ln/>
        </p:spPr>
        <p:txBody>
          <a:bodyPr/>
          <a:lstStyle/>
          <a:p>
            <a:endParaRPr lang="ru-RU"/>
          </a:p>
        </p:txBody>
      </p:sp>
      <p:sp>
        <p:nvSpPr>
          <p:cNvPr id="6" name="Text 4"/>
          <p:cNvSpPr/>
          <p:nvPr/>
        </p:nvSpPr>
        <p:spPr>
          <a:xfrm>
            <a:off x="548640" y="2788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234440" y="2788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Проанализировать предметную область и аналоги</a:t>
            </a:r>
            <a:endParaRPr lang="en-US" sz="1450" dirty="0"/>
          </a:p>
        </p:txBody>
      </p:sp>
      <p:sp>
        <p:nvSpPr>
          <p:cNvPr id="8" name="Shape 6"/>
          <p:cNvSpPr/>
          <p:nvPr/>
        </p:nvSpPr>
        <p:spPr>
          <a:xfrm>
            <a:off x="6172200" y="2788920"/>
            <a:ext cx="548640" cy="548640"/>
          </a:xfrm>
          <a:prstGeom prst="ellipse">
            <a:avLst/>
          </a:prstGeom>
          <a:solidFill>
            <a:srgbClr val="1E2761"/>
          </a:solidFill>
          <a:ln/>
        </p:spPr>
        <p:txBody>
          <a:bodyPr/>
          <a:lstStyle/>
          <a:p>
            <a:endParaRPr lang="ru-RU"/>
          </a:p>
        </p:txBody>
      </p:sp>
      <p:sp>
        <p:nvSpPr>
          <p:cNvPr id="9" name="Text 7"/>
          <p:cNvSpPr/>
          <p:nvPr/>
        </p:nvSpPr>
        <p:spPr>
          <a:xfrm>
            <a:off x="6172200" y="2788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6858000" y="2788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Спроектировать архитектуру клиента и сервера, базу данных</a:t>
            </a:r>
            <a:endParaRPr lang="en-US" sz="1450" dirty="0"/>
          </a:p>
        </p:txBody>
      </p:sp>
      <p:sp>
        <p:nvSpPr>
          <p:cNvPr id="11" name="Shape 9"/>
          <p:cNvSpPr/>
          <p:nvPr/>
        </p:nvSpPr>
        <p:spPr>
          <a:xfrm>
            <a:off x="548640" y="3931920"/>
            <a:ext cx="548640" cy="548640"/>
          </a:xfrm>
          <a:prstGeom prst="ellipse">
            <a:avLst/>
          </a:prstGeom>
          <a:solidFill>
            <a:srgbClr val="1E2761"/>
          </a:solidFill>
          <a:ln/>
        </p:spPr>
        <p:txBody>
          <a:bodyPr/>
          <a:lstStyle/>
          <a:p>
            <a:endParaRPr lang="ru-RU"/>
          </a:p>
        </p:txBody>
      </p:sp>
      <p:sp>
        <p:nvSpPr>
          <p:cNvPr id="12" name="Text 10"/>
          <p:cNvSpPr/>
          <p:nvPr/>
        </p:nvSpPr>
        <p:spPr>
          <a:xfrm>
            <a:off x="548640" y="3931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3" name="Text 11"/>
          <p:cNvSpPr/>
          <p:nvPr/>
        </p:nvSpPr>
        <p:spPr>
          <a:xfrm>
            <a:off x="1234440" y="3931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Реализовать клиент: дневник, шаблоны, статистику</a:t>
            </a:r>
            <a:endParaRPr lang="en-US" sz="1450" dirty="0"/>
          </a:p>
        </p:txBody>
      </p:sp>
      <p:sp>
        <p:nvSpPr>
          <p:cNvPr id="14" name="Shape 12"/>
          <p:cNvSpPr/>
          <p:nvPr/>
        </p:nvSpPr>
        <p:spPr>
          <a:xfrm>
            <a:off x="6172200" y="3931920"/>
            <a:ext cx="548640" cy="548640"/>
          </a:xfrm>
          <a:prstGeom prst="ellipse">
            <a:avLst/>
          </a:prstGeom>
          <a:solidFill>
            <a:srgbClr val="1E2761"/>
          </a:solidFill>
          <a:ln/>
        </p:spPr>
        <p:txBody>
          <a:bodyPr/>
          <a:lstStyle/>
          <a:p>
            <a:endParaRPr lang="ru-RU"/>
          </a:p>
        </p:txBody>
      </p:sp>
      <p:sp>
        <p:nvSpPr>
          <p:cNvPr id="15" name="Text 13"/>
          <p:cNvSpPr/>
          <p:nvPr/>
        </p:nvSpPr>
        <p:spPr>
          <a:xfrm>
            <a:off x="6172200" y="3931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16" name="Text 14"/>
          <p:cNvSpPr/>
          <p:nvPr/>
        </p:nvSpPr>
        <p:spPr>
          <a:xfrm>
            <a:off x="6858000" y="3931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Обучить ML-модель прогноза 1ПМ (LightGBM → ONNX)</a:t>
            </a:r>
            <a:endParaRPr lang="en-US" sz="1450" dirty="0"/>
          </a:p>
        </p:txBody>
      </p:sp>
      <p:sp>
        <p:nvSpPr>
          <p:cNvPr id="17" name="Shape 15"/>
          <p:cNvSpPr/>
          <p:nvPr/>
        </p:nvSpPr>
        <p:spPr>
          <a:xfrm>
            <a:off x="548640" y="5074920"/>
            <a:ext cx="548640" cy="548640"/>
          </a:xfrm>
          <a:prstGeom prst="ellipse">
            <a:avLst/>
          </a:prstGeom>
          <a:solidFill>
            <a:srgbClr val="1E2761"/>
          </a:solidFill>
          <a:ln/>
        </p:spPr>
        <p:txBody>
          <a:bodyPr/>
          <a:lstStyle/>
          <a:p>
            <a:endParaRPr lang="ru-RU"/>
          </a:p>
        </p:txBody>
      </p:sp>
      <p:sp>
        <p:nvSpPr>
          <p:cNvPr id="18" name="Text 16"/>
          <p:cNvSpPr/>
          <p:nvPr/>
        </p:nvSpPr>
        <p:spPr>
          <a:xfrm>
            <a:off x="548640" y="5074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19" name="Text 17"/>
          <p:cNvSpPr/>
          <p:nvPr/>
        </p:nvSpPr>
        <p:spPr>
          <a:xfrm>
            <a:off x="1234440" y="5074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Реализовать протокол синхронизации (побеждает последняя запись)</a:t>
            </a:r>
            <a:endParaRPr lang="en-US" sz="1450" dirty="0"/>
          </a:p>
        </p:txBody>
      </p:sp>
      <p:sp>
        <p:nvSpPr>
          <p:cNvPr id="20" name="Shape 18"/>
          <p:cNvSpPr/>
          <p:nvPr/>
        </p:nvSpPr>
        <p:spPr>
          <a:xfrm>
            <a:off x="6172200" y="5074920"/>
            <a:ext cx="548640" cy="548640"/>
          </a:xfrm>
          <a:prstGeom prst="ellipse">
            <a:avLst/>
          </a:prstGeom>
          <a:solidFill>
            <a:srgbClr val="1E2761"/>
          </a:solidFill>
          <a:ln/>
        </p:spPr>
        <p:txBody>
          <a:bodyPr/>
          <a:lstStyle/>
          <a:p>
            <a:endParaRPr lang="ru-RU"/>
          </a:p>
        </p:txBody>
      </p:sp>
      <p:sp>
        <p:nvSpPr>
          <p:cNvPr id="21" name="Text 19"/>
          <p:cNvSpPr/>
          <p:nvPr/>
        </p:nvSpPr>
        <p:spPr>
          <a:xfrm>
            <a:off x="6172200" y="5074920"/>
            <a:ext cx="548640" cy="54864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6</a:t>
            </a:r>
            <a:endParaRPr lang="en-US" sz="2200" dirty="0"/>
          </a:p>
        </p:txBody>
      </p:sp>
      <p:sp>
        <p:nvSpPr>
          <p:cNvPr id="22" name="Text 20"/>
          <p:cNvSpPr/>
          <p:nvPr/>
        </p:nvSpPr>
        <p:spPr>
          <a:xfrm>
            <a:off x="6858000" y="5074920"/>
            <a:ext cx="4754880" cy="822960"/>
          </a:xfrm>
          <a:prstGeom prst="rect">
            <a:avLst/>
          </a:prstGeom>
          <a:noFill/>
          <a:ln/>
        </p:spPr>
        <p:txBody>
          <a:bodyPr wrap="square" rtlCol="0" anchor="ctr"/>
          <a:lstStyle/>
          <a:p>
            <a:pPr marL="0" indent="0">
              <a:buNone/>
            </a:pPr>
            <a:r>
              <a:rPr lang="en-US" sz="1450" dirty="0">
                <a:solidFill>
                  <a:srgbClr val="44474F"/>
                </a:solidFill>
                <a:latin typeface="Calibri" pitchFamily="34" charset="0"/>
                <a:ea typeface="Calibri" pitchFamily="34" charset="-122"/>
                <a:cs typeface="Calibri" pitchFamily="34" charset="-120"/>
              </a:rPr>
              <a:t>Провести функциональное и интеграционное тестирование</a:t>
            </a:r>
            <a:endParaRPr lang="en-US" sz="1450" dirty="0"/>
          </a:p>
        </p:txBody>
      </p:sp>
      <p:sp>
        <p:nvSpPr>
          <p:cNvPr id="23" name="Text 21"/>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9AA0A6"/>
                </a:solidFill>
                <a:latin typeface="Calibri" pitchFamily="34" charset="0"/>
                <a:ea typeface="Calibri" pitchFamily="34" charset="-122"/>
                <a:cs typeface="Calibri" pitchFamily="34" charset="-120"/>
              </a:rPr>
              <a:t>FitApp · ВКР · МТУСИ, 2026</a:t>
            </a:r>
            <a:endParaRPr lang="en-US" sz="1000" dirty="0"/>
          </a:p>
        </p:txBody>
      </p:sp>
      <p:sp>
        <p:nvSpPr>
          <p:cNvPr id="24" name="Text 22"/>
          <p:cNvSpPr/>
          <p:nvPr/>
        </p:nvSpPr>
        <p:spPr>
          <a:xfrm>
            <a:off x="10698480" y="6446520"/>
            <a:ext cx="914400" cy="274320"/>
          </a:xfrm>
          <a:prstGeom prst="rect">
            <a:avLst/>
          </a:prstGeom>
          <a:noFill/>
          <a:ln/>
        </p:spPr>
        <p:txBody>
          <a:bodyPr wrap="square" rtlCol="0" anchor="ctr"/>
          <a:lstStyle/>
          <a:p>
            <a:pPr marL="0" indent="0" algn="r">
              <a:buNone/>
            </a:pPr>
            <a:r>
              <a:rPr lang="en-US" sz="1000" dirty="0">
                <a:solidFill>
                  <a:srgbClr val="9AA0A6"/>
                </a:solidFill>
                <a:latin typeface="Calibri" pitchFamily="34" charset="0"/>
                <a:ea typeface="Calibri" pitchFamily="34" charset="-122"/>
                <a:cs typeface="Calibri" pitchFamily="34" charset="-120"/>
              </a:rPr>
              <a:t>3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822960"/>
          </a:xfrm>
          <a:prstGeom prst="rect">
            <a:avLst/>
          </a:prstGeom>
          <a:noFill/>
          <a:ln/>
        </p:spPr>
        <p:txBody>
          <a:bodyPr wrap="square" rtlCol="0" anchor="ctr"/>
          <a:lstStyle/>
          <a:p>
            <a:pPr marL="0" indent="0">
              <a:buNone/>
            </a:pPr>
            <a:r>
              <a:rPr lang="en-US" sz="3400" b="1" dirty="0">
                <a:solidFill>
                  <a:srgbClr val="1E2761"/>
                </a:solidFill>
                <a:latin typeface="Georgia" pitchFamily="34" charset="0"/>
                <a:ea typeface="Georgia" pitchFamily="34" charset="-122"/>
                <a:cs typeface="Georgia" pitchFamily="34" charset="-120"/>
              </a:rPr>
              <a:t>Сравнительный анализ аналогов</a:t>
            </a:r>
            <a:endParaRPr lang="en-US" sz="3400" dirty="0"/>
          </a:p>
        </p:txBody>
      </p:sp>
      <p:graphicFrame>
        <p:nvGraphicFramePr>
          <p:cNvPr id="3" name="Table 0"/>
          <p:cNvGraphicFramePr>
            <a:graphicFrameLocks noGrp="1"/>
          </p:cNvGraphicFramePr>
          <p:nvPr/>
        </p:nvGraphicFramePr>
        <p:xfrm>
          <a:off x="548640" y="1371600"/>
          <a:ext cx="11064240" cy="3657600"/>
        </p:xfrm>
        <a:graphic>
          <a:graphicData uri="http://schemas.openxmlformats.org/drawingml/2006/table">
            <a:tbl>
              <a:tblPr/>
              <a:tblGrid>
                <a:gridCol w="2834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Критерий</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Strong</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Hevy</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FitNotes</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Jefit</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FitApp</a:t>
                      </a:r>
                      <a:endParaRPr lang="en-US" sz="130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Поддержка Windows</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1"/>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Автономная работа</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2"/>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Поддержка RPE</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частично</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3"/>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ML-прогноз 1ПМ</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4"/>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Планировщик нагрузки</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платно</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5"/>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Облачная синхронизация</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iCloud</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6"/>
                  </a:ext>
                </a:extLst>
              </a:tr>
              <a:tr h="457200">
                <a:tc>
                  <a:txBody>
                    <a:bodyPr/>
                    <a:lstStyle/>
                    <a:p>
                      <a:pPr marL="0" indent="0" algn="l">
                        <a:buNone/>
                      </a:pPr>
                      <a:r>
                        <a:rPr lang="en-US" sz="1250" dirty="0">
                          <a:solidFill>
                            <a:srgbClr val="44474F"/>
                          </a:solidFill>
                          <a:latin typeface="Calibri" pitchFamily="34" charset="0"/>
                          <a:ea typeface="Calibri" pitchFamily="34" charset="-122"/>
                          <a:cs typeface="Calibri" pitchFamily="34" charset="-120"/>
                        </a:rPr>
                        <a:t>Монетизация</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усл.-беспл.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усл.-беспл.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44474F"/>
                          </a:solidFill>
                          <a:latin typeface="Calibri" pitchFamily="34" charset="0"/>
                          <a:ea typeface="Calibri" pitchFamily="34" charset="-122"/>
                          <a:cs typeface="Calibri" pitchFamily="34" charset="-120"/>
                        </a:rPr>
                        <a:t>усл.-беспл.</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Open Source</a:t>
                      </a:r>
                      <a:endParaRPr lang="en-US" sz="1250" dirty="0">
                        <a:latin typeface="Calibri" charset="0"/>
                        <a:ea typeface="Calibri" charset="0"/>
                        <a:cs typeface="Calibri" charset="0"/>
                      </a:endParaRPr>
                    </a:p>
                  </a:txBody>
                  <a:tcPr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EAF0FF"/>
                    </a:solidFill>
                  </a:tcPr>
                </a:tc>
                <a:extLst>
                  <a:ext uri="{0D108BD9-81ED-4DB2-BD59-A6C34878D82A}">
                    <a16:rowId xmlns:a16="http://schemas.microsoft.com/office/drawing/2014/main" val="10007"/>
                  </a:ext>
                </a:extLst>
              </a:tr>
            </a:tbl>
          </a:graphicData>
        </a:graphic>
      </p:graphicFrame>
      <p:sp>
        <p:nvSpPr>
          <p:cNvPr id="4" name="Text 1"/>
          <p:cNvSpPr/>
          <p:nvPr/>
        </p:nvSpPr>
        <p:spPr>
          <a:xfrm>
            <a:off x="548640" y="5486400"/>
            <a:ext cx="11064240" cy="640080"/>
          </a:xfrm>
          <a:prstGeom prst="rect">
            <a:avLst/>
          </a:prstGeom>
          <a:noFill/>
          <a:ln/>
        </p:spPr>
        <p:txBody>
          <a:bodyPr wrap="square" rtlCol="0" anchor="ctr"/>
          <a:lstStyle/>
          <a:p>
            <a:pPr marL="0" indent="0" algn="l">
              <a:buNone/>
            </a:pPr>
            <a:r>
              <a:rPr lang="en-US" sz="1500" i="1" dirty="0">
                <a:solidFill>
                  <a:srgbClr val="1E2761"/>
                </a:solidFill>
                <a:latin typeface="Calibri" pitchFamily="34" charset="0"/>
                <a:ea typeface="Calibri" pitchFamily="34" charset="-122"/>
                <a:cs typeface="Calibri" pitchFamily="34" charset="-120"/>
              </a:rPr>
              <a:t>FitApp — единственное решение, объединяющее все ключевые функции в одном бесплатном продукте с открытым исходным кодом.</a:t>
            </a:r>
            <a:endParaRPr lang="en-US" sz="1500" dirty="0"/>
          </a:p>
        </p:txBody>
      </p:sp>
      <p:sp>
        <p:nvSpPr>
          <p:cNvPr id="5" name="Text 2"/>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9AA0A6"/>
                </a:solidFill>
                <a:latin typeface="Calibri" pitchFamily="34" charset="0"/>
                <a:ea typeface="Calibri" pitchFamily="34" charset="-122"/>
                <a:cs typeface="Calibri" pitchFamily="34" charset="-120"/>
              </a:rPr>
              <a:t>FitApp · ВКР · МТУСИ, 2026</a:t>
            </a:r>
            <a:endParaRPr lang="en-US" sz="1000" dirty="0"/>
          </a:p>
        </p:txBody>
      </p:sp>
      <p:sp>
        <p:nvSpPr>
          <p:cNvPr id="6" name="Text 3"/>
          <p:cNvSpPr/>
          <p:nvPr/>
        </p:nvSpPr>
        <p:spPr>
          <a:xfrm>
            <a:off x="10698480" y="6446520"/>
            <a:ext cx="914400" cy="274320"/>
          </a:xfrm>
          <a:prstGeom prst="rect">
            <a:avLst/>
          </a:prstGeom>
          <a:noFill/>
          <a:ln/>
        </p:spPr>
        <p:txBody>
          <a:bodyPr wrap="square" rtlCol="0" anchor="ctr"/>
          <a:lstStyle/>
          <a:p>
            <a:pPr marL="0" indent="0" algn="r">
              <a:buNone/>
            </a:pPr>
            <a:r>
              <a:rPr lang="en-US" sz="1000" dirty="0">
                <a:solidFill>
                  <a:srgbClr val="9AA0A6"/>
                </a:solidFill>
                <a:latin typeface="Calibri" pitchFamily="34" charset="0"/>
                <a:ea typeface="Calibri" pitchFamily="34" charset="-122"/>
                <a:cs typeface="Calibri" pitchFamily="34" charset="-120"/>
              </a:rPr>
              <a:t>4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a:t>
            </a:r>
            <a:r>
              <a:rPr lang="ru-RU" sz="3733" b="1" dirty="0">
                <a:solidFill>
                  <a:srgbClr val="24184E"/>
                </a:solidFill>
                <a:latin typeface="Montserrat SemiBold" pitchFamily="34" charset="0"/>
                <a:ea typeface="Montserrat SemiBold" pitchFamily="34" charset="-122"/>
                <a:cs typeface="Montserrat SemiBold" pitchFamily="34" charset="-120"/>
              </a:rPr>
              <a:t>набор данных</a:t>
            </a:r>
            <a:r>
              <a:rPr lang="en-US" sz="3733" b="1" dirty="0">
                <a:solidFill>
                  <a:srgbClr val="24184E"/>
                </a:solidFill>
                <a:latin typeface="Montserrat SemiBold" pitchFamily="34" charset="0"/>
                <a:ea typeface="Montserrat SemiBold" pitchFamily="34" charset="-122"/>
                <a:cs typeface="Montserrat SemiBold" pitchFamily="34" charset="-120"/>
              </a:rPr>
              <a:t> и признаки</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7 / 12</a:t>
            </a:r>
            <a:endParaRPr lang="en-US" sz="1333" dirty="0"/>
          </a:p>
        </p:txBody>
      </p:sp>
      <p:sp>
        <p:nvSpPr>
          <p:cNvPr id="8" name="Text 6"/>
          <p:cNvSpPr/>
          <p:nvPr/>
        </p:nvSpPr>
        <p:spPr>
          <a:xfrm>
            <a:off x="67056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ДАННЫЕ ОБУЧЕНИЯ</a:t>
            </a:r>
            <a:endParaRPr lang="en-US" sz="1733" dirty="0"/>
          </a:p>
        </p:txBody>
      </p:sp>
      <p:sp>
        <p:nvSpPr>
          <p:cNvPr id="9" name="Shape 7"/>
          <p:cNvSpPr/>
          <p:nvPr/>
        </p:nvSpPr>
        <p:spPr>
          <a:xfrm>
            <a:off x="670560" y="2133600"/>
            <a:ext cx="5364480" cy="1158240"/>
          </a:xfrm>
          <a:prstGeom prst="rect">
            <a:avLst/>
          </a:prstGeom>
          <a:solidFill>
            <a:srgbClr val="FFFFFF"/>
          </a:solidFill>
          <a:ln w="12700">
            <a:solidFill>
              <a:srgbClr val="372579"/>
            </a:solidFill>
            <a:prstDash val="solid"/>
          </a:ln>
        </p:spPr>
        <p:txBody>
          <a:bodyPr/>
          <a:lstStyle/>
          <a:p>
            <a:endParaRPr lang="ru-RU" sz="2400"/>
          </a:p>
        </p:txBody>
      </p:sp>
      <p:sp>
        <p:nvSpPr>
          <p:cNvPr id="10" name="Shape 8"/>
          <p:cNvSpPr/>
          <p:nvPr/>
        </p:nvSpPr>
        <p:spPr>
          <a:xfrm>
            <a:off x="670560" y="2133600"/>
            <a:ext cx="146304" cy="1158240"/>
          </a:xfrm>
          <a:prstGeom prst="rect">
            <a:avLst/>
          </a:prstGeom>
          <a:solidFill>
            <a:srgbClr val="372579"/>
          </a:solidFill>
          <a:ln w="12700">
            <a:solidFill>
              <a:srgbClr val="372579"/>
            </a:solidFill>
            <a:prstDash val="solid"/>
          </a:ln>
        </p:spPr>
        <p:txBody>
          <a:bodyPr/>
          <a:lstStyle/>
          <a:p>
            <a:endParaRPr lang="ru-RU" sz="2400"/>
          </a:p>
        </p:txBody>
      </p:sp>
      <p:sp>
        <p:nvSpPr>
          <p:cNvPr id="11" name="Text 9"/>
          <p:cNvSpPr/>
          <p:nvPr/>
        </p:nvSpPr>
        <p:spPr>
          <a:xfrm>
            <a:off x="914400" y="2194560"/>
            <a:ext cx="2377440" cy="1036320"/>
          </a:xfrm>
          <a:prstGeom prst="rect">
            <a:avLst/>
          </a:prstGeom>
          <a:noFill/>
          <a:ln/>
        </p:spPr>
        <p:txBody>
          <a:bodyPr wrap="square" lIns="0" tIns="0" rIns="0" bIns="0" rtlCol="0" anchor="ctr"/>
          <a:lstStyle/>
          <a:p>
            <a:r>
              <a:rPr lang="en-US" sz="3467" b="1" dirty="0">
                <a:solidFill>
                  <a:srgbClr val="372579"/>
                </a:solidFill>
                <a:latin typeface="Montserrat SemiBold" pitchFamily="34" charset="0"/>
                <a:ea typeface="Montserrat SemiBold" pitchFamily="34" charset="-122"/>
                <a:cs typeface="Montserrat SemiBold" pitchFamily="34" charset="-120"/>
              </a:rPr>
              <a:t>763 322</a:t>
            </a:r>
            <a:endParaRPr lang="en-US" sz="3467" dirty="0"/>
          </a:p>
        </p:txBody>
      </p:sp>
      <p:sp>
        <p:nvSpPr>
          <p:cNvPr id="12" name="Text 10"/>
          <p:cNvSpPr/>
          <p:nvPr/>
        </p:nvSpPr>
        <p:spPr>
          <a:xfrm>
            <a:off x="3139440" y="2208156"/>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тренировочных подходов</a:t>
            </a:r>
            <a:endParaRPr lang="en-US" sz="1467" dirty="0"/>
          </a:p>
        </p:txBody>
      </p:sp>
      <p:sp>
        <p:nvSpPr>
          <p:cNvPr id="13" name="Shape 11"/>
          <p:cNvSpPr/>
          <p:nvPr/>
        </p:nvSpPr>
        <p:spPr>
          <a:xfrm>
            <a:off x="670560" y="3474720"/>
            <a:ext cx="5364480" cy="1158240"/>
          </a:xfrm>
          <a:prstGeom prst="rect">
            <a:avLst/>
          </a:prstGeom>
          <a:solidFill>
            <a:srgbClr val="FFFFFF"/>
          </a:solidFill>
          <a:ln w="12700">
            <a:solidFill>
              <a:srgbClr val="E85362"/>
            </a:solidFill>
            <a:prstDash val="solid"/>
          </a:ln>
        </p:spPr>
        <p:txBody>
          <a:bodyPr/>
          <a:lstStyle/>
          <a:p>
            <a:endParaRPr lang="ru-RU" sz="2400"/>
          </a:p>
        </p:txBody>
      </p:sp>
      <p:sp>
        <p:nvSpPr>
          <p:cNvPr id="14" name="Shape 12"/>
          <p:cNvSpPr/>
          <p:nvPr/>
        </p:nvSpPr>
        <p:spPr>
          <a:xfrm>
            <a:off x="670560" y="3474720"/>
            <a:ext cx="146304" cy="1158240"/>
          </a:xfrm>
          <a:prstGeom prst="rect">
            <a:avLst/>
          </a:prstGeom>
          <a:solidFill>
            <a:srgbClr val="E85362"/>
          </a:solidFill>
          <a:ln w="12700">
            <a:solidFill>
              <a:srgbClr val="E85362"/>
            </a:solidFill>
            <a:prstDash val="solid"/>
          </a:ln>
        </p:spPr>
        <p:txBody>
          <a:bodyPr/>
          <a:lstStyle/>
          <a:p>
            <a:endParaRPr lang="ru-RU" sz="2400"/>
          </a:p>
        </p:txBody>
      </p:sp>
      <p:sp>
        <p:nvSpPr>
          <p:cNvPr id="15" name="Text 13"/>
          <p:cNvSpPr/>
          <p:nvPr/>
        </p:nvSpPr>
        <p:spPr>
          <a:xfrm>
            <a:off x="914400" y="3535680"/>
            <a:ext cx="2377440" cy="1036320"/>
          </a:xfrm>
          <a:prstGeom prst="rect">
            <a:avLst/>
          </a:prstGeom>
          <a:noFill/>
          <a:ln/>
        </p:spPr>
        <p:txBody>
          <a:bodyPr wrap="square" lIns="0" tIns="0" rIns="0" bIns="0" rtlCol="0" anchor="ctr"/>
          <a:lstStyle/>
          <a:p>
            <a:r>
              <a:rPr lang="en-US" sz="3467" b="1" dirty="0">
                <a:solidFill>
                  <a:srgbClr val="E85362"/>
                </a:solidFill>
                <a:latin typeface="Montserrat SemiBold" pitchFamily="34" charset="0"/>
                <a:ea typeface="Montserrat SemiBold" pitchFamily="34" charset="-122"/>
                <a:cs typeface="Montserrat SemiBold" pitchFamily="34" charset="-120"/>
              </a:rPr>
              <a:t>500</a:t>
            </a:r>
            <a:endParaRPr lang="en-US" sz="3467" dirty="0"/>
          </a:p>
        </p:txBody>
      </p:sp>
      <p:sp>
        <p:nvSpPr>
          <p:cNvPr id="16" name="Text 14"/>
          <p:cNvSpPr/>
          <p:nvPr/>
        </p:nvSpPr>
        <p:spPr>
          <a:xfrm>
            <a:off x="3139440" y="3532172"/>
            <a:ext cx="2682240" cy="1036320"/>
          </a:xfrm>
          <a:prstGeom prst="rect">
            <a:avLst/>
          </a:prstGeom>
          <a:noFill/>
          <a:ln/>
        </p:spPr>
        <p:txBody>
          <a:bodyPr wrap="square" lIns="0" tIns="0" rIns="0" bIns="0" rtlCol="0" anchor="ctr"/>
          <a:lstStyle/>
          <a:p>
            <a:r>
              <a:rPr lang="ru-RU" sz="1467" dirty="0">
                <a:solidFill>
                  <a:srgbClr val="24184E"/>
                </a:solidFill>
                <a:latin typeface="Montserrat" pitchFamily="34" charset="0"/>
                <a:ea typeface="Montserrat" pitchFamily="34" charset="-122"/>
                <a:cs typeface="Montserrat" pitchFamily="34" charset="-120"/>
              </a:rPr>
              <a:t> виртуальных </a:t>
            </a:r>
            <a:r>
              <a:rPr lang="en-US" sz="1467" dirty="0" err="1">
                <a:solidFill>
                  <a:srgbClr val="24184E"/>
                </a:solidFill>
                <a:latin typeface="Montserrat" pitchFamily="34" charset="0"/>
                <a:ea typeface="Montserrat" pitchFamily="34" charset="-122"/>
                <a:cs typeface="Montserrat" pitchFamily="34" charset="-120"/>
              </a:rPr>
              <a:t>спортсменов</a:t>
            </a:r>
            <a:endParaRPr lang="en-US" sz="1467" dirty="0"/>
          </a:p>
        </p:txBody>
      </p:sp>
      <p:sp>
        <p:nvSpPr>
          <p:cNvPr id="17" name="Shape 15"/>
          <p:cNvSpPr/>
          <p:nvPr/>
        </p:nvSpPr>
        <p:spPr>
          <a:xfrm>
            <a:off x="670560" y="4815840"/>
            <a:ext cx="5364480" cy="1158240"/>
          </a:xfrm>
          <a:prstGeom prst="rect">
            <a:avLst/>
          </a:prstGeom>
          <a:solidFill>
            <a:srgbClr val="FFFFFF"/>
          </a:solidFill>
          <a:ln w="12700">
            <a:solidFill>
              <a:srgbClr val="FA815F"/>
            </a:solidFill>
            <a:prstDash val="solid"/>
          </a:ln>
        </p:spPr>
        <p:txBody>
          <a:bodyPr/>
          <a:lstStyle/>
          <a:p>
            <a:endParaRPr lang="ru-RU" sz="2400"/>
          </a:p>
        </p:txBody>
      </p:sp>
      <p:sp>
        <p:nvSpPr>
          <p:cNvPr id="18" name="Shape 16"/>
          <p:cNvSpPr/>
          <p:nvPr/>
        </p:nvSpPr>
        <p:spPr>
          <a:xfrm>
            <a:off x="670560" y="4815840"/>
            <a:ext cx="146304" cy="1158240"/>
          </a:xfrm>
          <a:prstGeom prst="rect">
            <a:avLst/>
          </a:prstGeom>
          <a:solidFill>
            <a:srgbClr val="FA815F"/>
          </a:solidFill>
          <a:ln w="12700">
            <a:solidFill>
              <a:srgbClr val="FA815F"/>
            </a:solidFill>
            <a:prstDash val="solid"/>
          </a:ln>
        </p:spPr>
        <p:txBody>
          <a:bodyPr/>
          <a:lstStyle/>
          <a:p>
            <a:endParaRPr lang="ru-RU" sz="2400"/>
          </a:p>
        </p:txBody>
      </p:sp>
      <p:sp>
        <p:nvSpPr>
          <p:cNvPr id="19" name="Text 17"/>
          <p:cNvSpPr/>
          <p:nvPr/>
        </p:nvSpPr>
        <p:spPr>
          <a:xfrm>
            <a:off x="914400" y="4876800"/>
            <a:ext cx="2377440" cy="1036320"/>
          </a:xfrm>
          <a:prstGeom prst="rect">
            <a:avLst/>
          </a:prstGeom>
          <a:noFill/>
          <a:ln/>
        </p:spPr>
        <p:txBody>
          <a:bodyPr wrap="square" lIns="0" tIns="0" rIns="0" bIns="0" rtlCol="0" anchor="ctr"/>
          <a:lstStyle/>
          <a:p>
            <a:r>
              <a:rPr lang="en-US" sz="3467" b="1" dirty="0">
                <a:solidFill>
                  <a:srgbClr val="FA815F"/>
                </a:solidFill>
                <a:latin typeface="Montserrat SemiBold" pitchFamily="34" charset="0"/>
                <a:ea typeface="Montserrat SemiBold" pitchFamily="34" charset="-122"/>
                <a:cs typeface="Montserrat SemiBold" pitchFamily="34" charset="-120"/>
              </a:rPr>
              <a:t>118 350</a:t>
            </a:r>
            <a:endParaRPr lang="en-US" sz="3467" dirty="0"/>
          </a:p>
        </p:txBody>
      </p:sp>
      <p:sp>
        <p:nvSpPr>
          <p:cNvPr id="20" name="Text 18"/>
          <p:cNvSpPr/>
          <p:nvPr/>
        </p:nvSpPr>
        <p:spPr>
          <a:xfrm>
            <a:off x="3139440" y="487680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обучающих пар (X → y)</a:t>
            </a:r>
            <a:endParaRPr lang="en-US" sz="1467" dirty="0"/>
          </a:p>
        </p:txBody>
      </p:sp>
      <p:sp>
        <p:nvSpPr>
          <p:cNvPr id="21" name="Text 19"/>
          <p:cNvSpPr/>
          <p:nvPr/>
        </p:nvSpPr>
        <p:spPr>
          <a:xfrm>
            <a:off x="633984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29 ПРИЗНАКОВ · 4 ГРУППЫ</a:t>
            </a:r>
            <a:endParaRPr lang="en-US" sz="1733" dirty="0"/>
          </a:p>
        </p:txBody>
      </p:sp>
      <p:sp>
        <p:nvSpPr>
          <p:cNvPr id="22" name="Shape 20"/>
          <p:cNvSpPr/>
          <p:nvPr/>
        </p:nvSpPr>
        <p:spPr>
          <a:xfrm>
            <a:off x="6339840" y="213360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3" name="Shape 21"/>
          <p:cNvSpPr/>
          <p:nvPr/>
        </p:nvSpPr>
        <p:spPr>
          <a:xfrm>
            <a:off x="6461760" y="225552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4" name="Text 22"/>
          <p:cNvSpPr/>
          <p:nvPr/>
        </p:nvSpPr>
        <p:spPr>
          <a:xfrm>
            <a:off x="6461760" y="225552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13</a:t>
            </a:r>
            <a:endParaRPr lang="en-US" sz="1867" dirty="0"/>
          </a:p>
        </p:txBody>
      </p:sp>
      <p:sp>
        <p:nvSpPr>
          <p:cNvPr id="25" name="Text 23"/>
          <p:cNvSpPr/>
          <p:nvPr/>
        </p:nvSpPr>
        <p:spPr>
          <a:xfrm>
            <a:off x="7254240" y="219456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История</a:t>
            </a:r>
            <a:endParaRPr lang="en-US" sz="1600" dirty="0"/>
          </a:p>
          <a:p>
            <a:r>
              <a:rPr lang="en-US" sz="1333" dirty="0">
                <a:solidFill>
                  <a:srgbClr val="24184E"/>
                </a:solidFill>
                <a:latin typeface="Montserrat" pitchFamily="34" charset="0"/>
                <a:ea typeface="Montserrat" pitchFamily="34" charset="-122"/>
                <a:cs typeface="Montserrat" pitchFamily="34" charset="-120"/>
              </a:rPr>
              <a:t>лаги 1ПМ, средние, тренд</a:t>
            </a:r>
            <a:endParaRPr lang="en-US" sz="1600" dirty="0"/>
          </a:p>
        </p:txBody>
      </p:sp>
      <p:sp>
        <p:nvSpPr>
          <p:cNvPr id="26" name="Shape 24"/>
          <p:cNvSpPr/>
          <p:nvPr/>
        </p:nvSpPr>
        <p:spPr>
          <a:xfrm>
            <a:off x="6339840" y="310896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7" name="Shape 25"/>
          <p:cNvSpPr/>
          <p:nvPr/>
        </p:nvSpPr>
        <p:spPr>
          <a:xfrm>
            <a:off x="6461760" y="323088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8" name="Text 26"/>
          <p:cNvSpPr/>
          <p:nvPr/>
        </p:nvSpPr>
        <p:spPr>
          <a:xfrm>
            <a:off x="6461760" y="323088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7</a:t>
            </a:r>
            <a:endParaRPr lang="en-US" sz="1867" dirty="0"/>
          </a:p>
        </p:txBody>
      </p:sp>
      <p:sp>
        <p:nvSpPr>
          <p:cNvPr id="29" name="Text 27"/>
          <p:cNvSpPr/>
          <p:nvPr/>
        </p:nvSpPr>
        <p:spPr>
          <a:xfrm>
            <a:off x="7254240" y="316992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Текущая тренировка</a:t>
            </a:r>
            <a:endParaRPr lang="en-US" sz="1600" dirty="0"/>
          </a:p>
          <a:p>
            <a:r>
              <a:rPr lang="en-US" sz="1333" dirty="0">
                <a:solidFill>
                  <a:srgbClr val="24184E"/>
                </a:solidFill>
                <a:latin typeface="Montserrat" pitchFamily="34" charset="0"/>
                <a:ea typeface="Montserrat" pitchFamily="34" charset="-122"/>
                <a:cs typeface="Montserrat" pitchFamily="34" charset="-120"/>
              </a:rPr>
              <a:t>топ-вес, повторы, RPE</a:t>
            </a:r>
            <a:endParaRPr lang="en-US" sz="1600" dirty="0"/>
          </a:p>
        </p:txBody>
      </p:sp>
      <p:sp>
        <p:nvSpPr>
          <p:cNvPr id="30" name="Shape 28"/>
          <p:cNvSpPr/>
          <p:nvPr/>
        </p:nvSpPr>
        <p:spPr>
          <a:xfrm>
            <a:off x="6339840" y="408432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1" name="Shape 29"/>
          <p:cNvSpPr/>
          <p:nvPr/>
        </p:nvSpPr>
        <p:spPr>
          <a:xfrm>
            <a:off x="6461760" y="420624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2" name="Text 30"/>
          <p:cNvSpPr/>
          <p:nvPr/>
        </p:nvSpPr>
        <p:spPr>
          <a:xfrm>
            <a:off x="6461760" y="420624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5</a:t>
            </a:r>
            <a:endParaRPr lang="en-US" sz="1867" dirty="0"/>
          </a:p>
        </p:txBody>
      </p:sp>
      <p:sp>
        <p:nvSpPr>
          <p:cNvPr id="33" name="Text 31"/>
          <p:cNvSpPr/>
          <p:nvPr/>
        </p:nvSpPr>
        <p:spPr>
          <a:xfrm>
            <a:off x="7254240" y="414528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Профиль</a:t>
            </a:r>
            <a:endParaRPr lang="en-US" sz="1600" dirty="0"/>
          </a:p>
          <a:p>
            <a:r>
              <a:rPr lang="en-US" sz="1333" dirty="0">
                <a:solidFill>
                  <a:srgbClr val="24184E"/>
                </a:solidFill>
                <a:latin typeface="Montserrat" pitchFamily="34" charset="0"/>
                <a:ea typeface="Montserrat" pitchFamily="34" charset="-122"/>
                <a:cs typeface="Montserrat" pitchFamily="34" charset="-120"/>
              </a:rPr>
              <a:t>вес, возраст, пол, стаж</a:t>
            </a:r>
            <a:endParaRPr lang="en-US" sz="1600" dirty="0"/>
          </a:p>
        </p:txBody>
      </p:sp>
      <p:sp>
        <p:nvSpPr>
          <p:cNvPr id="34" name="Shape 32"/>
          <p:cNvSpPr/>
          <p:nvPr/>
        </p:nvSpPr>
        <p:spPr>
          <a:xfrm>
            <a:off x="6339840" y="505968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5" name="Shape 33"/>
          <p:cNvSpPr/>
          <p:nvPr/>
        </p:nvSpPr>
        <p:spPr>
          <a:xfrm>
            <a:off x="6461760" y="518160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6" name="Text 34"/>
          <p:cNvSpPr/>
          <p:nvPr/>
        </p:nvSpPr>
        <p:spPr>
          <a:xfrm>
            <a:off x="6461760" y="518160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4</a:t>
            </a:r>
            <a:endParaRPr lang="en-US" sz="1867" dirty="0"/>
          </a:p>
        </p:txBody>
      </p:sp>
      <p:sp>
        <p:nvSpPr>
          <p:cNvPr id="37" name="Text 35"/>
          <p:cNvSpPr/>
          <p:nvPr/>
        </p:nvSpPr>
        <p:spPr>
          <a:xfrm>
            <a:off x="7254240" y="512064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Упражнение</a:t>
            </a:r>
            <a:endParaRPr lang="en-US" sz="1600" dirty="0"/>
          </a:p>
          <a:p>
            <a:r>
              <a:rPr lang="en-US" sz="1333" dirty="0">
                <a:solidFill>
                  <a:srgbClr val="24184E"/>
                </a:solidFill>
                <a:latin typeface="Montserrat" pitchFamily="34" charset="0"/>
                <a:ea typeface="Montserrat" pitchFamily="34" charset="-122"/>
                <a:cs typeface="Montserrat" pitchFamily="34" charset="-120"/>
              </a:rPr>
              <a:t>тип, оборудование</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результаты обучения</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8 / 12</a:t>
            </a:r>
            <a:endParaRPr lang="en-US" sz="1333" dirty="0"/>
          </a:p>
        </p:txBody>
      </p:sp>
      <p:graphicFrame>
        <p:nvGraphicFramePr>
          <p:cNvPr id="8" name="Chart 0"/>
          <p:cNvGraphicFramePr/>
          <p:nvPr/>
        </p:nvGraphicFramePr>
        <p:xfrm>
          <a:off x="670560" y="1584960"/>
          <a:ext cx="6461760" cy="45110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498080" y="1706880"/>
            <a:ext cx="4267200" cy="1889760"/>
          </a:xfrm>
          <a:prstGeom prst="rect">
            <a:avLst/>
          </a:prstGeom>
          <a:solidFill>
            <a:srgbClr val="E85362"/>
          </a:solidFill>
          <a:ln w="12700">
            <a:solidFill>
              <a:srgbClr val="E85362"/>
            </a:solidFill>
            <a:prstDash val="solid"/>
          </a:ln>
        </p:spPr>
        <p:txBody>
          <a:bodyPr/>
          <a:lstStyle/>
          <a:p>
            <a:endParaRPr lang="ru-RU" sz="2400"/>
          </a:p>
        </p:txBody>
      </p:sp>
      <p:sp>
        <p:nvSpPr>
          <p:cNvPr id="10" name="Text 7"/>
          <p:cNvSpPr/>
          <p:nvPr/>
        </p:nvSpPr>
        <p:spPr>
          <a:xfrm>
            <a:off x="7498080" y="1767840"/>
            <a:ext cx="4267200" cy="1767840"/>
          </a:xfrm>
          <a:prstGeom prst="rect">
            <a:avLst/>
          </a:prstGeom>
          <a:noFill/>
          <a:ln/>
        </p:spPr>
        <p:txBody>
          <a:bodyPr wrap="square" lIns="0" tIns="0" rIns="0" bIns="0" rtlCol="0" anchor="ctr"/>
          <a:lstStyle/>
          <a:p>
            <a:pPr algn="ctr"/>
            <a:r>
              <a:rPr lang="en-US" sz="5333" b="1" dirty="0">
                <a:solidFill>
                  <a:srgbClr val="FFFFFF"/>
                </a:solidFill>
                <a:latin typeface="Montserrat SemiBold" pitchFamily="34" charset="0"/>
                <a:ea typeface="Montserrat SemiBold" pitchFamily="34" charset="-122"/>
                <a:cs typeface="Montserrat SemiBold" pitchFamily="34" charset="-120"/>
              </a:rPr>
              <a:t>−39 %</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снижение MAE</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LightGBM vs Naive</a:t>
            </a:r>
            <a:endParaRPr lang="en-US" sz="5333" dirty="0"/>
          </a:p>
        </p:txBody>
      </p:sp>
      <p:sp>
        <p:nvSpPr>
          <p:cNvPr id="11" name="Shape 8"/>
          <p:cNvSpPr/>
          <p:nvPr/>
        </p:nvSpPr>
        <p:spPr>
          <a:xfrm>
            <a:off x="7498080" y="3779520"/>
            <a:ext cx="4267200" cy="2316480"/>
          </a:xfrm>
          <a:prstGeom prst="rect">
            <a:avLst/>
          </a:prstGeom>
          <a:solidFill>
            <a:srgbClr val="E8E0F7"/>
          </a:solidFill>
          <a:ln w="12700">
            <a:solidFill>
              <a:srgbClr val="372579"/>
            </a:solidFill>
            <a:prstDash val="solid"/>
          </a:ln>
        </p:spPr>
        <p:txBody>
          <a:bodyPr/>
          <a:lstStyle/>
          <a:p>
            <a:endParaRPr lang="ru-RU" sz="2400"/>
          </a:p>
        </p:txBody>
      </p:sp>
      <p:sp>
        <p:nvSpPr>
          <p:cNvPr id="12" name="Shape 9"/>
          <p:cNvSpPr/>
          <p:nvPr/>
        </p:nvSpPr>
        <p:spPr>
          <a:xfrm>
            <a:off x="7498080" y="3779520"/>
            <a:ext cx="4267200" cy="487680"/>
          </a:xfrm>
          <a:prstGeom prst="rect">
            <a:avLst/>
          </a:prstGeom>
          <a:solidFill>
            <a:srgbClr val="372579"/>
          </a:solidFill>
          <a:ln w="12700">
            <a:solidFill>
              <a:srgbClr val="372579"/>
            </a:solidFill>
            <a:prstDash val="solid"/>
          </a:ln>
        </p:spPr>
        <p:txBody>
          <a:bodyPr/>
          <a:lstStyle/>
          <a:p>
            <a:endParaRPr lang="ru-RU" sz="2400"/>
          </a:p>
        </p:txBody>
      </p:sp>
      <p:sp>
        <p:nvSpPr>
          <p:cNvPr id="13" name="Text 10"/>
          <p:cNvSpPr/>
          <p:nvPr/>
        </p:nvSpPr>
        <p:spPr>
          <a:xfrm>
            <a:off x="7498080" y="3779520"/>
            <a:ext cx="4267200" cy="487680"/>
          </a:xfrm>
          <a:prstGeom prst="rect">
            <a:avLst/>
          </a:prstGeom>
          <a:noFill/>
          <a:ln/>
        </p:spPr>
        <p:txBody>
          <a:bodyPr wrap="square" rtlCol="0" anchor="ctr"/>
          <a:lstStyle/>
          <a:p>
            <a:pPr algn="ctr"/>
            <a:r>
              <a:rPr lang="en-US" sz="1333" b="1" spc="267" dirty="0">
                <a:solidFill>
                  <a:srgbClr val="FFFFFF"/>
                </a:solidFill>
                <a:latin typeface="Montserrat SemiBold" pitchFamily="34" charset="0"/>
                <a:ea typeface="Montserrat SemiBold" pitchFamily="34" charset="-122"/>
                <a:cs typeface="Montserrat SemiBold" pitchFamily="34" charset="-120"/>
              </a:rPr>
              <a:t>СООТВЕТСТВИЕ ПАЙПЛАЙНОВ</a:t>
            </a:r>
            <a:endParaRPr lang="en-US" sz="1333" dirty="0"/>
          </a:p>
        </p:txBody>
      </p:sp>
      <p:sp>
        <p:nvSpPr>
          <p:cNvPr id="14" name="Text 11"/>
          <p:cNvSpPr/>
          <p:nvPr/>
        </p:nvSpPr>
        <p:spPr>
          <a:xfrm>
            <a:off x="7680960" y="4328160"/>
            <a:ext cx="3901440" cy="1706880"/>
          </a:xfrm>
          <a:prstGeom prst="rect">
            <a:avLst/>
          </a:prstGeom>
          <a:noFill/>
          <a:ln/>
        </p:spPr>
        <p:txBody>
          <a:bodyPr wrap="square" rtlCol="0" anchor="t"/>
          <a:lstStyle/>
          <a:p>
            <a:pPr>
              <a:spcAft>
                <a:spcPts val="533"/>
              </a:spcAft>
            </a:pPr>
            <a:r>
              <a:rPr lang="en-US" sz="1333" dirty="0">
                <a:solidFill>
                  <a:srgbClr val="24184E"/>
                </a:solidFill>
                <a:latin typeface="Montserrat" pitchFamily="34" charset="0"/>
                <a:ea typeface="Montserrat" pitchFamily="34" charset="-122"/>
                <a:cs typeface="Montserrat" pitchFamily="34" charset="-120"/>
              </a:rPr>
              <a:t>Python (LightGBM) ↔ C# (ONNX):</a:t>
            </a:r>
            <a:endParaRPr lang="en-US" sz="1333" dirty="0"/>
          </a:p>
          <a:p>
            <a:r>
              <a:rPr lang="en-US" sz="1333" dirty="0">
                <a:solidFill>
                  <a:srgbClr val="6B6280"/>
                </a:solidFill>
                <a:latin typeface="Montserrat" pitchFamily="34" charset="0"/>
                <a:ea typeface="Montserrat" pitchFamily="34" charset="-122"/>
                <a:cs typeface="Montserrat" pitchFamily="34" charset="-120"/>
              </a:rPr>
              <a:t>медиана: </a:t>
            </a:r>
            <a:r>
              <a:rPr lang="en-US" sz="1733" b="1" dirty="0">
                <a:solidFill>
                  <a:srgbClr val="E85362"/>
                </a:solidFill>
                <a:latin typeface="Montserrat SemiBold" pitchFamily="34" charset="0"/>
                <a:ea typeface="Montserrat SemiBold" pitchFamily="34" charset="-122"/>
                <a:cs typeface="Montserrat SemiBold" pitchFamily="34" charset="-120"/>
              </a:rPr>
              <a:t>1,6 × 10⁻⁵ кг</a:t>
            </a:r>
            <a:endParaRPr lang="en-US" sz="1333" dirty="0"/>
          </a:p>
          <a:p>
            <a:r>
              <a:rPr lang="en-US" sz="1333" dirty="0">
                <a:solidFill>
                  <a:srgbClr val="6B6280"/>
                </a:solidFill>
                <a:latin typeface="Montserrat" pitchFamily="34" charset="0"/>
                <a:ea typeface="Montserrat" pitchFamily="34" charset="-122"/>
                <a:cs typeface="Montserrat" pitchFamily="34" charset="-120"/>
              </a:rPr>
              <a:t>p99: </a:t>
            </a:r>
            <a:r>
              <a:rPr lang="en-US" sz="1733" b="1" dirty="0">
                <a:solidFill>
                  <a:srgbClr val="E85362"/>
                </a:solidFill>
                <a:latin typeface="Montserrat SemiBold" pitchFamily="34" charset="0"/>
                <a:ea typeface="Montserrat SemiBold" pitchFamily="34" charset="-122"/>
                <a:cs typeface="Montserrat SemiBold" pitchFamily="34" charset="-120"/>
              </a:rPr>
              <a:t>0,082 кг</a:t>
            </a:r>
            <a:endParaRPr lang="en-US" sz="133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Актуальность темы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2 / 12</a:t>
            </a:r>
            <a:endParaRPr lang="en-US" sz="1333" dirty="0"/>
          </a:p>
        </p:txBody>
      </p:sp>
      <p:sp>
        <p:nvSpPr>
          <p:cNvPr id="8" name="Text 6"/>
          <p:cNvSpPr/>
          <p:nvPr/>
        </p:nvSpPr>
        <p:spPr>
          <a:xfrm>
            <a:off x="670560" y="1584960"/>
            <a:ext cx="6827520" cy="4632960"/>
          </a:xfrm>
          <a:prstGeom prst="rect">
            <a:avLst/>
          </a:prstGeom>
          <a:noFill/>
          <a:ln/>
        </p:spPr>
        <p:txBody>
          <a:bodyPr wrap="square" rtlCol="0" anchor="t"/>
          <a:lstStyle/>
          <a:p>
            <a:r>
              <a:rPr lang="en-US" sz="1867" b="1" dirty="0">
                <a:solidFill>
                  <a:srgbClr val="372579"/>
                </a:solidFill>
                <a:latin typeface="Montserrat" pitchFamily="34" charset="0"/>
                <a:ea typeface="Montserrat" pitchFamily="34" charset="-122"/>
                <a:cs typeface="Montserrat" pitchFamily="34" charset="-120"/>
              </a:rPr>
              <a:t>Силовой тренинг</a:t>
            </a:r>
            <a:r>
              <a:rPr lang="en-US" sz="1867" dirty="0">
                <a:solidFill>
                  <a:srgbClr val="24184E"/>
                </a:solidFill>
                <a:latin typeface="Montserrat" pitchFamily="34" charset="0"/>
                <a:ea typeface="Montserrat" pitchFamily="34" charset="-122"/>
                <a:cs typeface="Montserrat" pitchFamily="34" charset="-120"/>
              </a:rPr>
              <a:t> — массовая практика, требующая систематического учёта нагрузки.</a:t>
            </a:r>
            <a:endParaRPr lang="en-US" sz="1867" dirty="0"/>
          </a:p>
          <a:p>
            <a:r>
              <a:rPr lang="en-US" sz="1867" dirty="0">
                <a:solidFill>
                  <a:srgbClr val="24184E"/>
                </a:solidFill>
                <a:latin typeface="Montserrat" pitchFamily="34" charset="0"/>
                <a:ea typeface="Montserrat" pitchFamily="34" charset="-122"/>
                <a:cs typeface="Montserrat" pitchFamily="34" charset="-120"/>
              </a:rPr>
              <a:t>Ключевые задачи занимающегося — отслеживание прогресса </a:t>
            </a:r>
            <a:r>
              <a:rPr lang="en-US" sz="1867" b="1" dirty="0">
                <a:solidFill>
                  <a:srgbClr val="E85362"/>
                </a:solidFill>
                <a:latin typeface="Montserrat" pitchFamily="34" charset="0"/>
                <a:ea typeface="Montserrat" pitchFamily="34" charset="-122"/>
                <a:cs typeface="Montserrat" pitchFamily="34" charset="-120"/>
              </a:rPr>
              <a:t>1ПМ</a:t>
            </a:r>
            <a:r>
              <a:rPr lang="en-US" sz="1867" dirty="0">
                <a:solidFill>
                  <a:srgbClr val="24184E"/>
                </a:solidFill>
                <a:latin typeface="Montserrat" pitchFamily="34" charset="0"/>
                <a:ea typeface="Montserrat" pitchFamily="34" charset="-122"/>
                <a:cs typeface="Montserrat" pitchFamily="34" charset="-120"/>
              </a:rPr>
              <a:t> и планирование рабочих весов.</a:t>
            </a:r>
            <a:endParaRPr lang="en-US" sz="1867" dirty="0"/>
          </a:p>
          <a:p>
            <a:r>
              <a:rPr lang="en-US" sz="1867" dirty="0">
                <a:solidFill>
                  <a:srgbClr val="24184E"/>
                </a:solidFill>
                <a:latin typeface="Montserrat" pitchFamily="34" charset="0"/>
                <a:ea typeface="Montserrat" pitchFamily="34" charset="-122"/>
                <a:cs typeface="Montserrat" pitchFamily="34" charset="-120"/>
              </a:rPr>
              <a:t>Существующие приложения (Strong, Hevy, FitNotes, Jefit) закрывают лишь часть задач: либо без ML, либо без офлайн-режима, либо с подпиской.</a:t>
            </a:r>
            <a:endParaRPr lang="en-US" sz="1867" dirty="0"/>
          </a:p>
        </p:txBody>
      </p:sp>
      <p:sp>
        <p:nvSpPr>
          <p:cNvPr id="9" name="Shape 7"/>
          <p:cNvSpPr/>
          <p:nvPr/>
        </p:nvSpPr>
        <p:spPr>
          <a:xfrm>
            <a:off x="7802880" y="1706880"/>
            <a:ext cx="3901440" cy="4389120"/>
          </a:xfrm>
          <a:prstGeom prst="rect">
            <a:avLst/>
          </a:prstGeom>
          <a:solidFill>
            <a:srgbClr val="E8E0F7"/>
          </a:solidFill>
          <a:ln w="12700">
            <a:solidFill>
              <a:srgbClr val="372579"/>
            </a:solidFill>
            <a:prstDash val="solid"/>
          </a:ln>
        </p:spPr>
        <p:txBody>
          <a:bodyPr/>
          <a:lstStyle/>
          <a:p>
            <a:endParaRPr lang="ru-RU" sz="2400"/>
          </a:p>
        </p:txBody>
      </p:sp>
      <p:sp>
        <p:nvSpPr>
          <p:cNvPr id="10" name="Shape 8"/>
          <p:cNvSpPr/>
          <p:nvPr/>
        </p:nvSpPr>
        <p:spPr>
          <a:xfrm>
            <a:off x="7802880" y="1706880"/>
            <a:ext cx="3901440" cy="609600"/>
          </a:xfrm>
          <a:prstGeom prst="rect">
            <a:avLst/>
          </a:prstGeom>
          <a:solidFill>
            <a:srgbClr val="372579"/>
          </a:solidFill>
          <a:ln w="12700">
            <a:solidFill>
              <a:srgbClr val="372579"/>
            </a:solidFill>
            <a:prstDash val="solid"/>
          </a:ln>
        </p:spPr>
        <p:txBody>
          <a:bodyPr/>
          <a:lstStyle/>
          <a:p>
            <a:endParaRPr lang="ru-RU" sz="2400"/>
          </a:p>
        </p:txBody>
      </p:sp>
      <p:sp>
        <p:nvSpPr>
          <p:cNvPr id="11" name="Text 9"/>
          <p:cNvSpPr/>
          <p:nvPr/>
        </p:nvSpPr>
        <p:spPr>
          <a:xfrm>
            <a:off x="7802880" y="1706880"/>
            <a:ext cx="3901440" cy="609600"/>
          </a:xfrm>
          <a:prstGeom prst="rect">
            <a:avLst/>
          </a:prstGeom>
          <a:noFill/>
          <a:ln/>
        </p:spPr>
        <p:txBody>
          <a:bodyPr wrap="square" rtlCol="0" anchor="ctr"/>
          <a:lstStyle/>
          <a:p>
            <a:pPr algn="ctr"/>
            <a:r>
              <a:rPr lang="en-US" sz="1733" b="1" spc="400" dirty="0">
                <a:solidFill>
                  <a:srgbClr val="FFFFFF"/>
                </a:solidFill>
                <a:latin typeface="Montserrat SemiBold" pitchFamily="34" charset="0"/>
                <a:ea typeface="Montserrat SemiBold" pitchFamily="34" charset="-122"/>
                <a:cs typeface="Montserrat SemiBold" pitchFamily="34" charset="-120"/>
              </a:rPr>
              <a:t>НИША FITAPP</a:t>
            </a:r>
            <a:endParaRPr lang="en-US" sz="1733" dirty="0"/>
          </a:p>
        </p:txBody>
      </p:sp>
      <p:sp>
        <p:nvSpPr>
          <p:cNvPr id="12" name="Text 10"/>
          <p:cNvSpPr/>
          <p:nvPr/>
        </p:nvSpPr>
        <p:spPr>
          <a:xfrm>
            <a:off x="8046720" y="2499360"/>
            <a:ext cx="3413760" cy="3474720"/>
          </a:xfrm>
          <a:prstGeom prst="rect">
            <a:avLst/>
          </a:prstGeom>
          <a:noFill/>
          <a:ln/>
        </p:spPr>
        <p:txBody>
          <a:bodyPr wrap="square" rtlCol="0" anchor="t"/>
          <a:lstStyle/>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Offline-first архитектура</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Локальный ML без подписки</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Планировщик нагрузки</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Android + Windows</a:t>
            </a:r>
            <a:endParaRPr lang="en-US" sz="1733" dirty="0"/>
          </a:p>
          <a:p>
            <a:pPr marL="457189" indent="-457189">
              <a:spcAft>
                <a:spcPts val="1067"/>
              </a:spcAft>
              <a:buSzPct val="100000"/>
              <a:buChar char="■"/>
            </a:pPr>
            <a:r>
              <a:rPr lang="en-US" sz="1733" b="1" dirty="0">
                <a:solidFill>
                  <a:srgbClr val="24184E"/>
                </a:solidFill>
                <a:latin typeface="Montserrat" pitchFamily="34" charset="0"/>
                <a:ea typeface="Montserrat" pitchFamily="34" charset="-122"/>
                <a:cs typeface="Montserrat" pitchFamily="34" charset="-120"/>
              </a:rPr>
              <a:t>Синхронизация устройств</a:t>
            </a:r>
            <a:endParaRPr lang="en-US" sz="173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Цель и задачи работы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3 / 12</a:t>
            </a:r>
            <a:endParaRPr lang="en-US" sz="1333" dirty="0"/>
          </a:p>
        </p:txBody>
      </p:sp>
      <p:sp>
        <p:nvSpPr>
          <p:cNvPr id="8" name="Shape 6"/>
          <p:cNvSpPr/>
          <p:nvPr/>
        </p:nvSpPr>
        <p:spPr>
          <a:xfrm>
            <a:off x="670560" y="1524000"/>
            <a:ext cx="11033760" cy="1158240"/>
          </a:xfrm>
          <a:prstGeom prst="rect">
            <a:avLst/>
          </a:prstGeom>
          <a:solidFill>
            <a:srgbClr val="372579"/>
          </a:solidFill>
          <a:ln w="12700">
            <a:solidFill>
              <a:srgbClr val="372579"/>
            </a:solidFill>
            <a:prstDash val="solid"/>
          </a:ln>
        </p:spPr>
        <p:txBody>
          <a:bodyPr/>
          <a:lstStyle/>
          <a:p>
            <a:endParaRPr lang="ru-RU" sz="2400"/>
          </a:p>
        </p:txBody>
      </p:sp>
      <p:sp>
        <p:nvSpPr>
          <p:cNvPr id="9" name="Shape 7"/>
          <p:cNvSpPr/>
          <p:nvPr/>
        </p:nvSpPr>
        <p:spPr>
          <a:xfrm>
            <a:off x="670560" y="1524000"/>
            <a:ext cx="146304" cy="1158240"/>
          </a:xfrm>
          <a:prstGeom prst="rect">
            <a:avLst/>
          </a:prstGeom>
          <a:solidFill>
            <a:srgbClr val="E85362"/>
          </a:solidFill>
          <a:ln w="12700">
            <a:solidFill>
              <a:srgbClr val="E85362"/>
            </a:solidFill>
            <a:prstDash val="solid"/>
          </a:ln>
        </p:spPr>
        <p:txBody>
          <a:bodyPr/>
          <a:lstStyle/>
          <a:p>
            <a:endParaRPr lang="ru-RU" sz="2400"/>
          </a:p>
        </p:txBody>
      </p:sp>
      <p:sp>
        <p:nvSpPr>
          <p:cNvPr id="10" name="Text 8"/>
          <p:cNvSpPr/>
          <p:nvPr/>
        </p:nvSpPr>
        <p:spPr>
          <a:xfrm>
            <a:off x="1036320" y="1584960"/>
            <a:ext cx="10668000" cy="1036320"/>
          </a:xfrm>
          <a:prstGeom prst="rect">
            <a:avLst/>
          </a:prstGeom>
          <a:noFill/>
          <a:ln/>
        </p:spPr>
        <p:txBody>
          <a:bodyPr wrap="square" lIns="0" tIns="0" rIns="0" bIns="0" rtlCol="0" anchor="ctr"/>
          <a:lstStyle/>
          <a:p>
            <a:r>
              <a:rPr lang="en-US" sz="1467" b="1" spc="400" dirty="0">
                <a:solidFill>
                  <a:srgbClr val="E85362"/>
                </a:solidFill>
                <a:latin typeface="Montserrat" pitchFamily="34" charset="0"/>
                <a:ea typeface="Montserrat" pitchFamily="34" charset="-122"/>
                <a:cs typeface="Montserrat" pitchFamily="34" charset="-120"/>
              </a:rPr>
              <a:t>ЦЕЛЬ РАБОТЫ</a:t>
            </a:r>
            <a:endParaRPr lang="en-US" sz="1467" dirty="0"/>
          </a:p>
          <a:p>
            <a:r>
              <a:rPr lang="en-US" sz="1733" dirty="0">
                <a:solidFill>
                  <a:srgbClr val="FFFFFF"/>
                </a:solidFill>
                <a:latin typeface="Montserrat" pitchFamily="34" charset="0"/>
                <a:ea typeface="Montserrat" pitchFamily="34" charset="-122"/>
                <a:cs typeface="Montserrat" pitchFamily="34" charset="-120"/>
              </a:rPr>
              <a:t>Разработка кроссплатформенного приложения для учёта силовых тренировок с локальным ML-прогнозированием 1ПМ, планировщиком нагрузки и облачной синхронизацией.</a:t>
            </a:r>
            <a:endParaRPr lang="en-US" sz="1467" dirty="0"/>
          </a:p>
        </p:txBody>
      </p:sp>
      <p:sp>
        <p:nvSpPr>
          <p:cNvPr id="11" name="Shape 9"/>
          <p:cNvSpPr/>
          <p:nvPr/>
        </p:nvSpPr>
        <p:spPr>
          <a:xfrm>
            <a:off x="670560" y="298704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12" name="Shape 10"/>
          <p:cNvSpPr/>
          <p:nvPr/>
        </p:nvSpPr>
        <p:spPr>
          <a:xfrm>
            <a:off x="853440" y="316992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13" name="Text 11"/>
          <p:cNvSpPr/>
          <p:nvPr/>
        </p:nvSpPr>
        <p:spPr>
          <a:xfrm>
            <a:off x="853440" y="316992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1</a:t>
            </a:r>
            <a:endParaRPr lang="en-US" sz="2133" dirty="0"/>
          </a:p>
        </p:txBody>
      </p:sp>
      <p:sp>
        <p:nvSpPr>
          <p:cNvPr id="14" name="Text 12"/>
          <p:cNvSpPr/>
          <p:nvPr/>
        </p:nvSpPr>
        <p:spPr>
          <a:xfrm>
            <a:off x="1524000" y="310896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Проанализировать предметную область и аналоги</a:t>
            </a:r>
            <a:endParaRPr lang="en-US" sz="1467" dirty="0"/>
          </a:p>
        </p:txBody>
      </p:sp>
      <p:sp>
        <p:nvSpPr>
          <p:cNvPr id="15" name="Shape 13"/>
          <p:cNvSpPr/>
          <p:nvPr/>
        </p:nvSpPr>
        <p:spPr>
          <a:xfrm>
            <a:off x="4389120" y="298704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16" name="Shape 14"/>
          <p:cNvSpPr/>
          <p:nvPr/>
        </p:nvSpPr>
        <p:spPr>
          <a:xfrm>
            <a:off x="4572000" y="316992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17" name="Text 15"/>
          <p:cNvSpPr/>
          <p:nvPr/>
        </p:nvSpPr>
        <p:spPr>
          <a:xfrm>
            <a:off x="4572000" y="316992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2</a:t>
            </a:r>
            <a:endParaRPr lang="en-US" sz="2133" dirty="0"/>
          </a:p>
        </p:txBody>
      </p:sp>
      <p:sp>
        <p:nvSpPr>
          <p:cNvPr id="18" name="Text 16"/>
          <p:cNvSpPr/>
          <p:nvPr/>
        </p:nvSpPr>
        <p:spPr>
          <a:xfrm>
            <a:off x="5242560" y="310896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Спроектировать архитектуру клиента и сервера</a:t>
            </a:r>
            <a:endParaRPr lang="en-US" sz="1467" dirty="0"/>
          </a:p>
        </p:txBody>
      </p:sp>
      <p:sp>
        <p:nvSpPr>
          <p:cNvPr id="19" name="Shape 17"/>
          <p:cNvSpPr/>
          <p:nvPr/>
        </p:nvSpPr>
        <p:spPr>
          <a:xfrm>
            <a:off x="8107680" y="298704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20" name="Shape 18"/>
          <p:cNvSpPr/>
          <p:nvPr/>
        </p:nvSpPr>
        <p:spPr>
          <a:xfrm>
            <a:off x="8290560" y="316992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21" name="Text 19"/>
          <p:cNvSpPr/>
          <p:nvPr/>
        </p:nvSpPr>
        <p:spPr>
          <a:xfrm>
            <a:off x="8290560" y="316992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3</a:t>
            </a:r>
            <a:endParaRPr lang="en-US" sz="2133" dirty="0"/>
          </a:p>
        </p:txBody>
      </p:sp>
      <p:sp>
        <p:nvSpPr>
          <p:cNvPr id="22" name="Text 20"/>
          <p:cNvSpPr/>
          <p:nvPr/>
        </p:nvSpPr>
        <p:spPr>
          <a:xfrm>
            <a:off x="8961120" y="310896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Реализовать клиент: дневник, шаблоны, статистику</a:t>
            </a:r>
            <a:endParaRPr lang="en-US" sz="1467" dirty="0"/>
          </a:p>
        </p:txBody>
      </p:sp>
      <p:sp>
        <p:nvSpPr>
          <p:cNvPr id="23" name="Shape 21"/>
          <p:cNvSpPr/>
          <p:nvPr/>
        </p:nvSpPr>
        <p:spPr>
          <a:xfrm>
            <a:off x="670560" y="475488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24" name="Shape 22"/>
          <p:cNvSpPr/>
          <p:nvPr/>
        </p:nvSpPr>
        <p:spPr>
          <a:xfrm>
            <a:off x="853440" y="493776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25" name="Text 23"/>
          <p:cNvSpPr/>
          <p:nvPr/>
        </p:nvSpPr>
        <p:spPr>
          <a:xfrm>
            <a:off x="853440" y="493776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4</a:t>
            </a:r>
            <a:endParaRPr lang="en-US" sz="2133" dirty="0"/>
          </a:p>
        </p:txBody>
      </p:sp>
      <p:sp>
        <p:nvSpPr>
          <p:cNvPr id="26" name="Text 24"/>
          <p:cNvSpPr/>
          <p:nvPr/>
        </p:nvSpPr>
        <p:spPr>
          <a:xfrm>
            <a:off x="1524000" y="487680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Обучить ML-модель 1ПМ (LightGBM → ONNX)</a:t>
            </a:r>
            <a:endParaRPr lang="en-US" sz="1467" dirty="0"/>
          </a:p>
        </p:txBody>
      </p:sp>
      <p:sp>
        <p:nvSpPr>
          <p:cNvPr id="27" name="Shape 25"/>
          <p:cNvSpPr/>
          <p:nvPr/>
        </p:nvSpPr>
        <p:spPr>
          <a:xfrm>
            <a:off x="4389120" y="475488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28" name="Shape 26"/>
          <p:cNvSpPr/>
          <p:nvPr/>
        </p:nvSpPr>
        <p:spPr>
          <a:xfrm>
            <a:off x="4572000" y="493776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29" name="Text 27"/>
          <p:cNvSpPr/>
          <p:nvPr/>
        </p:nvSpPr>
        <p:spPr>
          <a:xfrm>
            <a:off x="4572000" y="493776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5</a:t>
            </a:r>
            <a:endParaRPr lang="en-US" sz="2133" dirty="0"/>
          </a:p>
        </p:txBody>
      </p:sp>
      <p:sp>
        <p:nvSpPr>
          <p:cNvPr id="30" name="Text 28"/>
          <p:cNvSpPr/>
          <p:nvPr/>
        </p:nvSpPr>
        <p:spPr>
          <a:xfrm>
            <a:off x="5242560" y="487680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Реализовать протокол синхронизации (LWW)</a:t>
            </a:r>
            <a:endParaRPr lang="en-US" sz="1467" dirty="0"/>
          </a:p>
        </p:txBody>
      </p:sp>
      <p:sp>
        <p:nvSpPr>
          <p:cNvPr id="31" name="Shape 29"/>
          <p:cNvSpPr/>
          <p:nvPr/>
        </p:nvSpPr>
        <p:spPr>
          <a:xfrm>
            <a:off x="8107680" y="4754880"/>
            <a:ext cx="3596640" cy="1645920"/>
          </a:xfrm>
          <a:prstGeom prst="rect">
            <a:avLst/>
          </a:prstGeom>
          <a:solidFill>
            <a:srgbClr val="E8E0F7"/>
          </a:solidFill>
          <a:ln w="6350">
            <a:solidFill>
              <a:srgbClr val="8C64D8"/>
            </a:solidFill>
            <a:prstDash val="solid"/>
          </a:ln>
        </p:spPr>
        <p:txBody>
          <a:bodyPr/>
          <a:lstStyle/>
          <a:p>
            <a:endParaRPr lang="ru-RU" sz="2400"/>
          </a:p>
        </p:txBody>
      </p:sp>
      <p:sp>
        <p:nvSpPr>
          <p:cNvPr id="32" name="Shape 30"/>
          <p:cNvSpPr/>
          <p:nvPr/>
        </p:nvSpPr>
        <p:spPr>
          <a:xfrm>
            <a:off x="8290560" y="4937760"/>
            <a:ext cx="548640" cy="548640"/>
          </a:xfrm>
          <a:prstGeom prst="ellipse">
            <a:avLst/>
          </a:prstGeom>
          <a:solidFill>
            <a:srgbClr val="E85362"/>
          </a:solidFill>
          <a:ln w="12700">
            <a:solidFill>
              <a:srgbClr val="E85362"/>
            </a:solidFill>
            <a:prstDash val="solid"/>
          </a:ln>
        </p:spPr>
        <p:txBody>
          <a:bodyPr/>
          <a:lstStyle/>
          <a:p>
            <a:endParaRPr lang="ru-RU" sz="2400"/>
          </a:p>
        </p:txBody>
      </p:sp>
      <p:sp>
        <p:nvSpPr>
          <p:cNvPr id="33" name="Text 31"/>
          <p:cNvSpPr/>
          <p:nvPr/>
        </p:nvSpPr>
        <p:spPr>
          <a:xfrm>
            <a:off x="8290560" y="4937760"/>
            <a:ext cx="548640" cy="548640"/>
          </a:xfrm>
          <a:prstGeom prst="rect">
            <a:avLst/>
          </a:prstGeom>
          <a:noFill/>
          <a:ln/>
        </p:spPr>
        <p:txBody>
          <a:bodyPr wrap="square" lIns="0" tIns="0" rIns="0" bIns="0" rtlCol="0" anchor="ctr"/>
          <a:lstStyle/>
          <a:p>
            <a:pPr algn="ctr"/>
            <a:r>
              <a:rPr lang="en-US" sz="2133" b="1" dirty="0">
                <a:solidFill>
                  <a:srgbClr val="FFFFFF"/>
                </a:solidFill>
                <a:latin typeface="Montserrat SemiBold" pitchFamily="34" charset="0"/>
                <a:ea typeface="Montserrat SemiBold" pitchFamily="34" charset="-122"/>
                <a:cs typeface="Montserrat SemiBold" pitchFamily="34" charset="-120"/>
              </a:rPr>
              <a:t>6</a:t>
            </a:r>
            <a:endParaRPr lang="en-US" sz="2133" dirty="0"/>
          </a:p>
        </p:txBody>
      </p:sp>
      <p:sp>
        <p:nvSpPr>
          <p:cNvPr id="34" name="Text 32"/>
          <p:cNvSpPr/>
          <p:nvPr/>
        </p:nvSpPr>
        <p:spPr>
          <a:xfrm>
            <a:off x="8961120" y="4876800"/>
            <a:ext cx="2621280" cy="140208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Провести функциональное и интеграционное тестирование</a:t>
            </a:r>
            <a:endParaRPr lang="en-US" sz="146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Сравнительный анализ аналогов</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4 / 12</a:t>
            </a:r>
            <a:endParaRPr lang="en-US" sz="1333" dirty="0"/>
          </a:p>
        </p:txBody>
      </p:sp>
      <p:graphicFrame>
        <p:nvGraphicFramePr>
          <p:cNvPr id="8" name="Table 0"/>
          <p:cNvGraphicFramePr>
            <a:graphicFrameLocks noGrp="1"/>
          </p:cNvGraphicFramePr>
          <p:nvPr/>
        </p:nvGraphicFramePr>
        <p:xfrm>
          <a:off x="670560" y="1524000"/>
          <a:ext cx="11033760" cy="3195320"/>
        </p:xfrm>
        <a:graphic>
          <a:graphicData uri="http://schemas.openxmlformats.org/drawingml/2006/table">
            <a:tbl>
              <a:tblPr/>
              <a:tblGrid>
                <a:gridCol w="2987040">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1609344">
                  <a:extLst>
                    <a:ext uri="{9D8B030D-6E8A-4147-A177-3AD203B41FA5}">
                      <a16:colId xmlns:a16="http://schemas.microsoft.com/office/drawing/2014/main" val="20002"/>
                    </a:ext>
                  </a:extLst>
                </a:gridCol>
                <a:gridCol w="1609344">
                  <a:extLst>
                    <a:ext uri="{9D8B030D-6E8A-4147-A177-3AD203B41FA5}">
                      <a16:colId xmlns:a16="http://schemas.microsoft.com/office/drawing/2014/main" val="20003"/>
                    </a:ext>
                  </a:extLst>
                </a:gridCol>
                <a:gridCol w="1609344">
                  <a:extLst>
                    <a:ext uri="{9D8B030D-6E8A-4147-A177-3AD203B41FA5}">
                      <a16:colId xmlns:a16="http://schemas.microsoft.com/office/drawing/2014/main" val="20004"/>
                    </a:ext>
                  </a:extLst>
                </a:gridCol>
                <a:gridCol w="1609344">
                  <a:extLst>
                    <a:ext uri="{9D8B030D-6E8A-4147-A177-3AD203B41FA5}">
                      <a16:colId xmlns:a16="http://schemas.microsoft.com/office/drawing/2014/main" val="20005"/>
                    </a:ext>
                  </a:extLst>
                </a:gridCol>
              </a:tblGrid>
              <a:tr h="345440">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Критерий</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Strong</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Hevy</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FitNotes</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Jefit</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FitApp</a:t>
                      </a:r>
                      <a:endParaRPr lang="en-US" sz="15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0"/>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Поддержка Windows</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1"/>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Offline-first</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2"/>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Поддержка RPE</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частично</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3"/>
                  </a:ext>
                </a:extLst>
              </a:tr>
              <a:tr h="386080">
                <a:tc>
                  <a:txBody>
                    <a:bodyPr/>
                    <a:lstStyle/>
                    <a:p>
                      <a:pPr marL="0" indent="0" algn="l">
                        <a:buNone/>
                      </a:pPr>
                      <a:r>
                        <a:rPr lang="en-US" sz="1300" b="1" dirty="0">
                          <a:solidFill>
                            <a:srgbClr val="24184E"/>
                          </a:solidFill>
                          <a:latin typeface="Montserrat" pitchFamily="34" charset="0"/>
                          <a:ea typeface="Montserrat" pitchFamily="34" charset="-122"/>
                          <a:cs typeface="Montserrat" pitchFamily="34" charset="-120"/>
                        </a:rPr>
                        <a:t>ML-прогноз 1ПМ</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4"/>
                  </a:ext>
                </a:extLst>
              </a:tr>
              <a:tr h="386080">
                <a:tc>
                  <a:txBody>
                    <a:bodyPr/>
                    <a:lstStyle/>
                    <a:p>
                      <a:pPr marL="0" indent="0" algn="l">
                        <a:buNone/>
                      </a:pPr>
                      <a:r>
                        <a:rPr lang="en-US" sz="1300" b="1" dirty="0">
                          <a:solidFill>
                            <a:srgbClr val="24184E"/>
                          </a:solidFill>
                          <a:latin typeface="Montserrat" pitchFamily="34" charset="0"/>
                          <a:ea typeface="Montserrat" pitchFamily="34" charset="-122"/>
                          <a:cs typeface="Montserrat" pitchFamily="34" charset="-120"/>
                        </a:rPr>
                        <a:t>Планировщик нагрузки</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платно</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5"/>
                  </a:ext>
                </a:extLst>
              </a:tr>
              <a:tr h="38608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Облачная синхронизация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iCloud</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600" dirty="0">
                          <a:solidFill>
                            <a:srgbClr val="6B6280"/>
                          </a:solidFill>
                          <a:latin typeface="Montserrat" pitchFamily="34" charset="0"/>
                          <a:ea typeface="Montserrat" pitchFamily="34" charset="-122"/>
                          <a:cs typeface="Montserrat" pitchFamily="34" charset="-120"/>
                        </a:rPr>
                        <a:t>—</a:t>
                      </a:r>
                      <a:endParaRPr lang="en-US" sz="16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0FA958"/>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a:t>
                      </a:r>
                      <a:endParaRPr lang="en-US" sz="17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5362"/>
                    </a:solidFill>
                  </a:tcPr>
                </a:tc>
                <a:extLst>
                  <a:ext uri="{0D108BD9-81ED-4DB2-BD59-A6C34878D82A}">
                    <a16:rowId xmlns:a16="http://schemas.microsoft.com/office/drawing/2014/main" val="10006"/>
                  </a:ext>
                </a:extLst>
              </a:tr>
              <a:tr h="528320">
                <a:tc>
                  <a:txBody>
                    <a:bodyPr/>
                    <a:lstStyle/>
                    <a:p>
                      <a:pPr marL="0" indent="0" algn="l">
                        <a:buNone/>
                      </a:pPr>
                      <a:r>
                        <a:rPr lang="en-US" sz="1300" dirty="0">
                          <a:solidFill>
                            <a:srgbClr val="24184E"/>
                          </a:solidFill>
                          <a:latin typeface="Montserrat" pitchFamily="34" charset="0"/>
                          <a:ea typeface="Montserrat" pitchFamily="34" charset="-122"/>
                          <a:cs typeface="Montserrat" pitchFamily="34" charset="-120"/>
                        </a:rPr>
                        <a:t>Модель монетизации</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err="1">
                          <a:solidFill>
                            <a:srgbClr val="24184E"/>
                          </a:solidFill>
                          <a:latin typeface="Montserrat" pitchFamily="34" charset="0"/>
                          <a:ea typeface="Montserrat" pitchFamily="34" charset="-122"/>
                          <a:cs typeface="Montserrat" pitchFamily="34" charset="-120"/>
                        </a:rPr>
                        <a:t>Усл</a:t>
                      </a:r>
                      <a:r>
                        <a:rPr lang="ru-RU" sz="1300" dirty="0" err="1">
                          <a:solidFill>
                            <a:srgbClr val="24184E"/>
                          </a:solidFill>
                          <a:latin typeface="Montserrat" pitchFamily="34" charset="0"/>
                          <a:ea typeface="Montserrat" pitchFamily="34" charset="-122"/>
                          <a:cs typeface="Montserrat" pitchFamily="34" charset="-120"/>
                        </a:rPr>
                        <a:t>овно</a:t>
                      </a:r>
                      <a:r>
                        <a:rPr lang="en-US" sz="1300" dirty="0">
                          <a:solidFill>
                            <a:srgbClr val="24184E"/>
                          </a:solidFill>
                          <a:latin typeface="Montserrat" pitchFamily="34" charset="0"/>
                          <a:ea typeface="Montserrat" pitchFamily="34" charset="-122"/>
                          <a:cs typeface="Montserrat" pitchFamily="34" charset="-120"/>
                        </a:rPr>
                        <a:t>-</a:t>
                      </a:r>
                      <a:r>
                        <a:rPr lang="en-US" sz="1300" dirty="0" err="1">
                          <a:solidFill>
                            <a:srgbClr val="24184E"/>
                          </a:solidFill>
                          <a:latin typeface="Montserrat" pitchFamily="34" charset="0"/>
                          <a:ea typeface="Montserrat" pitchFamily="34" charset="-122"/>
                          <a:cs typeface="Montserrat" pitchFamily="34" charset="-120"/>
                        </a:rPr>
                        <a:t>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err="1">
                          <a:solidFill>
                            <a:srgbClr val="24184E"/>
                          </a:solidFill>
                          <a:latin typeface="Montserrat" pitchFamily="34" charset="0"/>
                          <a:ea typeface="Montserrat" pitchFamily="34" charset="-122"/>
                          <a:cs typeface="Montserrat" pitchFamily="34" charset="-120"/>
                        </a:rPr>
                        <a:t>Усл</a:t>
                      </a:r>
                      <a:r>
                        <a:rPr lang="ru-RU" sz="1300" dirty="0" err="1">
                          <a:solidFill>
                            <a:srgbClr val="24184E"/>
                          </a:solidFill>
                          <a:latin typeface="Montserrat" pitchFamily="34" charset="0"/>
                          <a:ea typeface="Montserrat" pitchFamily="34" charset="-122"/>
                          <a:cs typeface="Montserrat" pitchFamily="34" charset="-120"/>
                        </a:rPr>
                        <a:t>овно</a:t>
                      </a:r>
                      <a:r>
                        <a:rPr lang="en-US" sz="1300" dirty="0">
                          <a:solidFill>
                            <a:srgbClr val="24184E"/>
                          </a:solidFill>
                          <a:latin typeface="Montserrat" pitchFamily="34" charset="0"/>
                          <a:ea typeface="Montserrat" pitchFamily="34" charset="-122"/>
                          <a:cs typeface="Montserrat" pitchFamily="34" charset="-120"/>
                        </a:rPr>
                        <a:t>-</a:t>
                      </a:r>
                      <a:r>
                        <a:rPr lang="en-US" sz="1300" dirty="0" err="1">
                          <a:solidFill>
                            <a:srgbClr val="24184E"/>
                          </a:solidFill>
                          <a:latin typeface="Montserrat" pitchFamily="34" charset="0"/>
                          <a:ea typeface="Montserrat" pitchFamily="34" charset="-122"/>
                          <a:cs typeface="Montserrat" pitchFamily="34" charset="-120"/>
                        </a:rPr>
                        <a:t>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Усл.-бесплатная</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24184E"/>
                          </a:solidFill>
                          <a:latin typeface="Montserrat" pitchFamily="34" charset="0"/>
                          <a:ea typeface="Montserrat" pitchFamily="34" charset="-122"/>
                          <a:cs typeface="Montserrat" pitchFamily="34" charset="-120"/>
                        </a:rPr>
                        <a:t>Open Source</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E8E0F7"/>
                    </a:solidFill>
                  </a:tcPr>
                </a:tc>
                <a:extLst>
                  <a:ext uri="{0D108BD9-81ED-4DB2-BD59-A6C34878D82A}">
                    <a16:rowId xmlns:a16="http://schemas.microsoft.com/office/drawing/2014/main" val="10007"/>
                  </a:ext>
                </a:extLst>
              </a:tr>
            </a:tbl>
          </a:graphicData>
        </a:graphic>
      </p:graphicFrame>
      <p:sp>
        <p:nvSpPr>
          <p:cNvPr id="9" name="Shape 6"/>
          <p:cNvSpPr/>
          <p:nvPr/>
        </p:nvSpPr>
        <p:spPr>
          <a:xfrm>
            <a:off x="670560" y="5730240"/>
            <a:ext cx="11033760" cy="609600"/>
          </a:xfrm>
          <a:prstGeom prst="rect">
            <a:avLst/>
          </a:prstGeom>
          <a:solidFill>
            <a:srgbClr val="E8E0F7"/>
          </a:solidFill>
          <a:ln w="6350">
            <a:solidFill>
              <a:srgbClr val="372579"/>
            </a:solidFill>
            <a:prstDash val="solid"/>
          </a:ln>
        </p:spPr>
        <p:txBody>
          <a:bodyPr/>
          <a:lstStyle/>
          <a:p>
            <a:endParaRPr lang="ru-RU" sz="2400"/>
          </a:p>
        </p:txBody>
      </p:sp>
      <p:sp>
        <p:nvSpPr>
          <p:cNvPr id="10" name="Shape 7"/>
          <p:cNvSpPr/>
          <p:nvPr/>
        </p:nvSpPr>
        <p:spPr>
          <a:xfrm>
            <a:off x="670560" y="5730240"/>
            <a:ext cx="121920" cy="609600"/>
          </a:xfrm>
          <a:prstGeom prst="rect">
            <a:avLst/>
          </a:prstGeom>
          <a:solidFill>
            <a:srgbClr val="E85362"/>
          </a:solidFill>
          <a:ln w="12700">
            <a:solidFill>
              <a:srgbClr val="E85362"/>
            </a:solidFill>
            <a:prstDash val="solid"/>
          </a:ln>
        </p:spPr>
        <p:txBody>
          <a:bodyPr/>
          <a:lstStyle/>
          <a:p>
            <a:endParaRPr lang="ru-RU" sz="2400"/>
          </a:p>
        </p:txBody>
      </p:sp>
      <p:sp>
        <p:nvSpPr>
          <p:cNvPr id="11" name="Text 8"/>
          <p:cNvSpPr/>
          <p:nvPr/>
        </p:nvSpPr>
        <p:spPr>
          <a:xfrm>
            <a:off x="975360" y="5754624"/>
            <a:ext cx="10668000" cy="548640"/>
          </a:xfrm>
          <a:prstGeom prst="rect">
            <a:avLst/>
          </a:prstGeom>
          <a:noFill/>
          <a:ln/>
        </p:spPr>
        <p:txBody>
          <a:bodyPr wrap="square" lIns="0" tIns="0" rIns="0" bIns="0" rtlCol="0" anchor="ctr"/>
          <a:lstStyle/>
          <a:p>
            <a:r>
              <a:rPr lang="en-US" sz="1467" b="1" dirty="0">
                <a:solidFill>
                  <a:srgbClr val="372579"/>
                </a:solidFill>
                <a:latin typeface="Montserrat" pitchFamily="34" charset="0"/>
                <a:ea typeface="Montserrat" pitchFamily="34" charset="-122"/>
                <a:cs typeface="Montserrat" pitchFamily="34" charset="-120"/>
              </a:rPr>
              <a:t>Вывод: </a:t>
            </a:r>
            <a:r>
              <a:rPr lang="en-US" sz="1467" dirty="0">
                <a:solidFill>
                  <a:srgbClr val="24184E"/>
                </a:solidFill>
                <a:latin typeface="Montserrat" pitchFamily="34" charset="0"/>
                <a:ea typeface="Montserrat" pitchFamily="34" charset="-122"/>
                <a:cs typeface="Montserrat" pitchFamily="34" charset="-120"/>
              </a:rPr>
              <a:t>FitApp — единственное решение, объединяющее все ключевые функции в одном бесплатном open-source продукте.</a:t>
            </a:r>
            <a:endParaRPr lang="en-US" sz="146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Архитектура системы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5 / 12</a:t>
            </a:r>
            <a:endParaRPr lang="en-US" sz="1333" dirty="0"/>
          </a:p>
        </p:txBody>
      </p:sp>
      <p:sp>
        <p:nvSpPr>
          <p:cNvPr id="8" name="Shape 6"/>
          <p:cNvSpPr/>
          <p:nvPr/>
        </p:nvSpPr>
        <p:spPr>
          <a:xfrm>
            <a:off x="670560" y="1524000"/>
            <a:ext cx="5242560" cy="4693920"/>
          </a:xfrm>
          <a:prstGeom prst="rect">
            <a:avLst/>
          </a:prstGeom>
          <a:solidFill>
            <a:srgbClr val="FFFFFF"/>
          </a:solidFill>
          <a:ln w="25400">
            <a:solidFill>
              <a:srgbClr val="372579"/>
            </a:solidFill>
            <a:prstDash val="solid"/>
          </a:ln>
        </p:spPr>
        <p:txBody>
          <a:bodyPr/>
          <a:lstStyle/>
          <a:p>
            <a:endParaRPr lang="ru-RU" sz="2400"/>
          </a:p>
        </p:txBody>
      </p:sp>
      <p:sp>
        <p:nvSpPr>
          <p:cNvPr id="9" name="Shape 7"/>
          <p:cNvSpPr/>
          <p:nvPr/>
        </p:nvSpPr>
        <p:spPr>
          <a:xfrm>
            <a:off x="670560" y="1524000"/>
            <a:ext cx="5242560" cy="609600"/>
          </a:xfrm>
          <a:prstGeom prst="rect">
            <a:avLst/>
          </a:prstGeom>
          <a:solidFill>
            <a:srgbClr val="372579"/>
          </a:solidFill>
          <a:ln w="12700">
            <a:solidFill>
              <a:srgbClr val="372579"/>
            </a:solidFill>
            <a:prstDash val="solid"/>
          </a:ln>
        </p:spPr>
        <p:txBody>
          <a:bodyPr/>
          <a:lstStyle/>
          <a:p>
            <a:endParaRPr lang="ru-RU" sz="2400"/>
          </a:p>
        </p:txBody>
      </p:sp>
      <p:sp>
        <p:nvSpPr>
          <p:cNvPr id="10" name="Text 8"/>
          <p:cNvSpPr/>
          <p:nvPr/>
        </p:nvSpPr>
        <p:spPr>
          <a:xfrm>
            <a:off x="670560" y="1524000"/>
            <a:ext cx="5242560" cy="609600"/>
          </a:xfrm>
          <a:prstGeom prst="rect">
            <a:avLst/>
          </a:prstGeom>
          <a:noFill/>
          <a:ln/>
        </p:spPr>
        <p:txBody>
          <a:bodyPr wrap="square" rtlCol="0" anchor="ctr"/>
          <a:lstStyle/>
          <a:p>
            <a:pPr algn="ctr"/>
            <a:r>
              <a:rPr lang="en-US" sz="1733" b="1" spc="267" dirty="0">
                <a:solidFill>
                  <a:srgbClr val="FFFFFF"/>
                </a:solidFill>
                <a:latin typeface="Montserrat SemiBold" pitchFamily="34" charset="0"/>
                <a:ea typeface="Montserrat SemiBold" pitchFamily="34" charset="-122"/>
                <a:cs typeface="Montserrat SemiBold" pitchFamily="34" charset="-120"/>
              </a:rPr>
              <a:t>КЛИЕНТ · .NET MAUI 9</a:t>
            </a:r>
            <a:endParaRPr lang="en-US" sz="1733" dirty="0"/>
          </a:p>
        </p:txBody>
      </p:sp>
      <p:sp>
        <p:nvSpPr>
          <p:cNvPr id="11" name="Shape 9"/>
          <p:cNvSpPr/>
          <p:nvPr/>
        </p:nvSpPr>
        <p:spPr>
          <a:xfrm>
            <a:off x="914400" y="2377440"/>
            <a:ext cx="4754880" cy="792480"/>
          </a:xfrm>
          <a:prstGeom prst="rect">
            <a:avLst/>
          </a:prstGeom>
          <a:solidFill>
            <a:srgbClr val="E8E0F7"/>
          </a:solidFill>
          <a:ln w="6350">
            <a:solidFill>
              <a:srgbClr val="8C64D8"/>
            </a:solidFill>
            <a:prstDash val="solid"/>
          </a:ln>
        </p:spPr>
        <p:txBody>
          <a:bodyPr/>
          <a:lstStyle/>
          <a:p>
            <a:endParaRPr lang="ru-RU" sz="2400"/>
          </a:p>
        </p:txBody>
      </p:sp>
      <p:sp>
        <p:nvSpPr>
          <p:cNvPr id="12" name="Text 10"/>
          <p:cNvSpPr/>
          <p:nvPr/>
        </p:nvSpPr>
        <p:spPr>
          <a:xfrm>
            <a:off x="914400" y="2377440"/>
            <a:ext cx="4754880" cy="792480"/>
          </a:xfrm>
          <a:prstGeom prst="rect">
            <a:avLst/>
          </a:prstGeom>
          <a:noFill/>
          <a:ln/>
        </p:spPr>
        <p:txBody>
          <a:bodyPr wrap="square" lIns="0" tIns="0" rIns="0" bIns="0" rtlCol="0" anchor="ctr"/>
          <a:lstStyle/>
          <a:p>
            <a:pPr algn="ctr"/>
            <a:r>
              <a:rPr lang="en-US" sz="1467" b="1" dirty="0">
                <a:solidFill>
                  <a:srgbClr val="372579"/>
                </a:solidFill>
                <a:latin typeface="Montserrat" pitchFamily="34" charset="0"/>
                <a:ea typeface="Montserrat" pitchFamily="34" charset="-122"/>
                <a:cs typeface="Montserrat" pitchFamily="34" charset="-120"/>
              </a:rPr>
              <a:t>MVVM</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Views · ViewModels · Models</a:t>
            </a:r>
            <a:endParaRPr lang="en-US" sz="1467" dirty="0"/>
          </a:p>
        </p:txBody>
      </p:sp>
      <p:sp>
        <p:nvSpPr>
          <p:cNvPr id="13" name="Shape 11"/>
          <p:cNvSpPr/>
          <p:nvPr/>
        </p:nvSpPr>
        <p:spPr>
          <a:xfrm>
            <a:off x="914400" y="3291840"/>
            <a:ext cx="4754880" cy="1341120"/>
          </a:xfrm>
          <a:prstGeom prst="rect">
            <a:avLst/>
          </a:prstGeom>
          <a:solidFill>
            <a:srgbClr val="E8E0F7"/>
          </a:solidFill>
          <a:ln w="6350">
            <a:solidFill>
              <a:srgbClr val="8C64D8"/>
            </a:solidFill>
            <a:prstDash val="solid"/>
          </a:ln>
        </p:spPr>
        <p:txBody>
          <a:bodyPr/>
          <a:lstStyle/>
          <a:p>
            <a:endParaRPr lang="ru-RU" sz="2400"/>
          </a:p>
        </p:txBody>
      </p:sp>
      <p:sp>
        <p:nvSpPr>
          <p:cNvPr id="14" name="Text 12"/>
          <p:cNvSpPr/>
          <p:nvPr/>
        </p:nvSpPr>
        <p:spPr>
          <a:xfrm>
            <a:off x="914400" y="3389376"/>
            <a:ext cx="4754880" cy="1219200"/>
          </a:xfrm>
          <a:prstGeom prst="rect">
            <a:avLst/>
          </a:prstGeom>
          <a:noFill/>
          <a:ln/>
        </p:spPr>
        <p:txBody>
          <a:bodyPr wrap="square" lIns="0" tIns="0" rIns="0" bIns="0" rtlCol="0" anchor="t"/>
          <a:lstStyle/>
          <a:p>
            <a:pPr algn="ctr"/>
            <a:r>
              <a:rPr lang="en-US" sz="1467" b="1" spc="267" dirty="0">
                <a:solidFill>
                  <a:srgbClr val="372579"/>
                </a:solidFill>
                <a:latin typeface="Montserrat" pitchFamily="34" charset="0"/>
                <a:ea typeface="Montserrat" pitchFamily="34" charset="-122"/>
                <a:cs typeface="Montserrat" pitchFamily="34" charset="-120"/>
              </a:rPr>
              <a:t>СЕРВИСНЫЙ СЛОЙ</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OnnxPredictionService</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WorkoutPlannerService</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SyncService · AuthClient</a:t>
            </a:r>
            <a:endParaRPr lang="en-US" sz="1467" dirty="0"/>
          </a:p>
        </p:txBody>
      </p:sp>
      <p:sp>
        <p:nvSpPr>
          <p:cNvPr id="15" name="Shape 13"/>
          <p:cNvSpPr/>
          <p:nvPr/>
        </p:nvSpPr>
        <p:spPr>
          <a:xfrm>
            <a:off x="914400" y="4754880"/>
            <a:ext cx="4754880" cy="1341120"/>
          </a:xfrm>
          <a:prstGeom prst="rect">
            <a:avLst/>
          </a:prstGeom>
          <a:solidFill>
            <a:srgbClr val="E8E0F7"/>
          </a:solidFill>
          <a:ln w="6350">
            <a:solidFill>
              <a:srgbClr val="8C64D8"/>
            </a:solidFill>
            <a:prstDash val="solid"/>
          </a:ln>
        </p:spPr>
        <p:txBody>
          <a:bodyPr/>
          <a:lstStyle/>
          <a:p>
            <a:endParaRPr lang="ru-RU" sz="2400"/>
          </a:p>
        </p:txBody>
      </p:sp>
      <p:sp>
        <p:nvSpPr>
          <p:cNvPr id="16" name="Text 14"/>
          <p:cNvSpPr/>
          <p:nvPr/>
        </p:nvSpPr>
        <p:spPr>
          <a:xfrm>
            <a:off x="914400" y="4852416"/>
            <a:ext cx="4754880" cy="1219200"/>
          </a:xfrm>
          <a:prstGeom prst="rect">
            <a:avLst/>
          </a:prstGeom>
          <a:noFill/>
          <a:ln/>
        </p:spPr>
        <p:txBody>
          <a:bodyPr wrap="square" lIns="0" tIns="0" rIns="0" bIns="0" rtlCol="0" anchor="t"/>
          <a:lstStyle/>
          <a:p>
            <a:pPr algn="ctr"/>
            <a:r>
              <a:rPr lang="en-US" sz="1467" b="1" spc="267" dirty="0">
                <a:solidFill>
                  <a:srgbClr val="372579"/>
                </a:solidFill>
                <a:latin typeface="Montserrat" pitchFamily="34" charset="0"/>
                <a:ea typeface="Montserrat" pitchFamily="34" charset="-122"/>
                <a:cs typeface="Montserrat" pitchFamily="34" charset="-120"/>
              </a:rPr>
              <a:t>ЛОКАЛЬНОЕ ХРАНИЛИЩЕ</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SQLite · ONNX-модель (1,5 МБ)</a:t>
            </a:r>
            <a:endParaRPr lang="en-US" sz="1467" dirty="0"/>
          </a:p>
          <a:p>
            <a:pPr algn="ctr"/>
            <a:r>
              <a:rPr lang="en-US" sz="1333" dirty="0">
                <a:solidFill>
                  <a:srgbClr val="24184E"/>
                </a:solidFill>
                <a:latin typeface="Montserrat" pitchFamily="34" charset="0"/>
                <a:ea typeface="Montserrat" pitchFamily="34" charset="-122"/>
                <a:cs typeface="Montserrat" pitchFamily="34" charset="-120"/>
              </a:rPr>
              <a:t>SecureStorage (JWT)</a:t>
            </a:r>
            <a:endParaRPr lang="en-US" sz="1467" dirty="0"/>
          </a:p>
        </p:txBody>
      </p:sp>
      <p:sp>
        <p:nvSpPr>
          <p:cNvPr id="17" name="Shape 15"/>
          <p:cNvSpPr/>
          <p:nvPr/>
        </p:nvSpPr>
        <p:spPr>
          <a:xfrm>
            <a:off x="5974080" y="3048000"/>
            <a:ext cx="853440" cy="0"/>
          </a:xfrm>
          <a:prstGeom prst="line">
            <a:avLst/>
          </a:prstGeom>
          <a:noFill/>
          <a:ln w="31750">
            <a:solidFill>
              <a:srgbClr val="E85362"/>
            </a:solidFill>
            <a:prstDash val="solid"/>
            <a:headEnd type="triangle"/>
            <a:tailEnd type="triangle"/>
          </a:ln>
        </p:spPr>
        <p:txBody>
          <a:bodyPr/>
          <a:lstStyle/>
          <a:p>
            <a:endParaRPr lang="ru-RU" sz="2400"/>
          </a:p>
        </p:txBody>
      </p:sp>
      <p:sp>
        <p:nvSpPr>
          <p:cNvPr id="18" name="Text 16"/>
          <p:cNvSpPr/>
          <p:nvPr/>
        </p:nvSpPr>
        <p:spPr>
          <a:xfrm>
            <a:off x="5913120" y="2316480"/>
            <a:ext cx="975360" cy="609600"/>
          </a:xfrm>
          <a:prstGeom prst="rect">
            <a:avLst/>
          </a:prstGeom>
          <a:noFill/>
          <a:ln/>
        </p:spPr>
        <p:txBody>
          <a:bodyPr wrap="square" rtlCol="0" anchor="ctr"/>
          <a:lstStyle/>
          <a:p>
            <a:pPr algn="ctr"/>
            <a:r>
              <a:rPr lang="en-US" sz="1200" b="1" dirty="0">
                <a:solidFill>
                  <a:srgbClr val="E85362"/>
                </a:solidFill>
                <a:latin typeface="Montserrat" pitchFamily="34" charset="0"/>
                <a:ea typeface="Montserrat" pitchFamily="34" charset="-122"/>
                <a:cs typeface="Montserrat" pitchFamily="34" charset="-120"/>
              </a:rPr>
              <a:t>HTTPS</a:t>
            </a:r>
            <a:endParaRPr lang="en-US" sz="1200" dirty="0"/>
          </a:p>
          <a:p>
            <a:pPr algn="ctr"/>
            <a:r>
              <a:rPr lang="en-US" sz="1067" dirty="0">
                <a:solidFill>
                  <a:srgbClr val="372579"/>
                </a:solidFill>
                <a:latin typeface="Montserrat" pitchFamily="34" charset="0"/>
                <a:ea typeface="Montserrat" pitchFamily="34" charset="-122"/>
                <a:cs typeface="Montserrat" pitchFamily="34" charset="-120"/>
              </a:rPr>
              <a:t>JWT Bearer</a:t>
            </a:r>
            <a:endParaRPr lang="en-US" sz="1200" dirty="0"/>
          </a:p>
        </p:txBody>
      </p:sp>
      <p:sp>
        <p:nvSpPr>
          <p:cNvPr id="19" name="Shape 17"/>
          <p:cNvSpPr/>
          <p:nvPr/>
        </p:nvSpPr>
        <p:spPr>
          <a:xfrm>
            <a:off x="6888480" y="1524000"/>
            <a:ext cx="4876800" cy="2682240"/>
          </a:xfrm>
          <a:prstGeom prst="rect">
            <a:avLst/>
          </a:prstGeom>
          <a:solidFill>
            <a:srgbClr val="FFFFFF"/>
          </a:solidFill>
          <a:ln w="25400">
            <a:solidFill>
              <a:srgbClr val="372579"/>
            </a:solidFill>
            <a:prstDash val="solid"/>
          </a:ln>
        </p:spPr>
        <p:txBody>
          <a:bodyPr/>
          <a:lstStyle/>
          <a:p>
            <a:endParaRPr lang="ru-RU" sz="2400"/>
          </a:p>
        </p:txBody>
      </p:sp>
      <p:sp>
        <p:nvSpPr>
          <p:cNvPr id="20" name="Shape 18"/>
          <p:cNvSpPr/>
          <p:nvPr/>
        </p:nvSpPr>
        <p:spPr>
          <a:xfrm>
            <a:off x="6888480" y="1524000"/>
            <a:ext cx="4876800" cy="609600"/>
          </a:xfrm>
          <a:prstGeom prst="rect">
            <a:avLst/>
          </a:prstGeom>
          <a:solidFill>
            <a:srgbClr val="372579"/>
          </a:solidFill>
          <a:ln w="12700">
            <a:solidFill>
              <a:srgbClr val="372579"/>
            </a:solidFill>
            <a:prstDash val="solid"/>
          </a:ln>
        </p:spPr>
        <p:txBody>
          <a:bodyPr/>
          <a:lstStyle/>
          <a:p>
            <a:endParaRPr lang="ru-RU" sz="2400"/>
          </a:p>
        </p:txBody>
      </p:sp>
      <p:sp>
        <p:nvSpPr>
          <p:cNvPr id="21" name="Text 19"/>
          <p:cNvSpPr/>
          <p:nvPr/>
        </p:nvSpPr>
        <p:spPr>
          <a:xfrm>
            <a:off x="6888480" y="1524000"/>
            <a:ext cx="4876800" cy="609600"/>
          </a:xfrm>
          <a:prstGeom prst="rect">
            <a:avLst/>
          </a:prstGeom>
          <a:noFill/>
          <a:ln/>
        </p:spPr>
        <p:txBody>
          <a:bodyPr wrap="square" rtlCol="0" anchor="ctr"/>
          <a:lstStyle/>
          <a:p>
            <a:pPr algn="ctr"/>
            <a:r>
              <a:rPr lang="en-US" sz="1733" b="1" spc="267" dirty="0">
                <a:solidFill>
                  <a:srgbClr val="FFFFFF"/>
                </a:solidFill>
                <a:latin typeface="Montserrat SemiBold" pitchFamily="34" charset="0"/>
                <a:ea typeface="Montserrat SemiBold" pitchFamily="34" charset="-122"/>
                <a:cs typeface="Montserrat SemiBold" pitchFamily="34" charset="-120"/>
              </a:rPr>
              <a:t>СЕРВЕР · ASP.NET Core 9</a:t>
            </a:r>
            <a:endParaRPr lang="en-US" sz="1733" dirty="0"/>
          </a:p>
        </p:txBody>
      </p:sp>
      <p:sp>
        <p:nvSpPr>
          <p:cNvPr id="22" name="Text 20"/>
          <p:cNvSpPr/>
          <p:nvPr/>
        </p:nvSpPr>
        <p:spPr>
          <a:xfrm>
            <a:off x="7193280" y="2255520"/>
            <a:ext cx="4267200" cy="1828800"/>
          </a:xfrm>
          <a:prstGeom prst="rect">
            <a:avLst/>
          </a:prstGeom>
          <a:noFill/>
          <a:ln/>
        </p:spPr>
        <p:txBody>
          <a:bodyPr wrap="square" rtlCol="0" anchor="t"/>
          <a:lstStyle/>
          <a:p>
            <a:pPr>
              <a:spcAft>
                <a:spcPts val="400"/>
              </a:spcAft>
            </a:pPr>
            <a:r>
              <a:rPr lang="en-US" sz="1467" dirty="0">
                <a:solidFill>
                  <a:srgbClr val="24184E"/>
                </a:solidFill>
                <a:latin typeface="Montserrat" pitchFamily="34" charset="0"/>
                <a:ea typeface="Montserrat" pitchFamily="34" charset="-122"/>
                <a:cs typeface="Montserrat" pitchFamily="34" charset="-120"/>
              </a:rPr>
              <a:t>POST /auth/register</a:t>
            </a:r>
            <a:endParaRPr lang="en-US" sz="1467" dirty="0"/>
          </a:p>
          <a:p>
            <a:pPr>
              <a:spcAft>
                <a:spcPts val="400"/>
              </a:spcAft>
            </a:pPr>
            <a:r>
              <a:rPr lang="en-US" sz="1467" dirty="0">
                <a:solidFill>
                  <a:srgbClr val="24184E"/>
                </a:solidFill>
                <a:latin typeface="Montserrat" pitchFamily="34" charset="0"/>
                <a:ea typeface="Montserrat" pitchFamily="34" charset="-122"/>
                <a:cs typeface="Montserrat" pitchFamily="34" charset="-120"/>
              </a:rPr>
              <a:t>POST /auth/login</a:t>
            </a:r>
            <a:endParaRPr lang="en-US" sz="1467" dirty="0"/>
          </a:p>
          <a:p>
            <a:r>
              <a:rPr lang="en-US" sz="1467" b="1" dirty="0">
                <a:solidFill>
                  <a:srgbClr val="24184E"/>
                </a:solidFill>
                <a:latin typeface="Montserrat" pitchFamily="34" charset="0"/>
                <a:ea typeface="Montserrat" pitchFamily="34" charset="-122"/>
                <a:cs typeface="Montserrat" pitchFamily="34" charset="-120"/>
              </a:rPr>
              <a:t>POST /sync </a:t>
            </a:r>
            <a:r>
              <a:rPr lang="en-US" sz="1333" i="1" dirty="0">
                <a:solidFill>
                  <a:srgbClr val="E85362"/>
                </a:solidFill>
                <a:latin typeface="Montserrat" pitchFamily="34" charset="0"/>
                <a:ea typeface="Montserrat" pitchFamily="34" charset="-122"/>
                <a:cs typeface="Montserrat" pitchFamily="34" charset="-120"/>
              </a:rPr>
              <a:t>[Bearer JWT]</a:t>
            </a:r>
            <a:endParaRPr lang="en-US" sz="1467" dirty="0"/>
          </a:p>
          <a:p>
            <a:r>
              <a:rPr lang="en-US" sz="1333" i="1" dirty="0">
                <a:solidFill>
                  <a:srgbClr val="6B6280"/>
                </a:solidFill>
                <a:latin typeface="Montserrat" pitchFamily="34" charset="0"/>
                <a:ea typeface="Montserrat" pitchFamily="34" charset="-122"/>
                <a:cs typeface="Montserrat" pitchFamily="34" charset="-120"/>
              </a:rPr>
              <a:t>BCrypt · JWT HS256 · 30 дней</a:t>
            </a:r>
            <a:endParaRPr lang="en-US" sz="1467" dirty="0"/>
          </a:p>
        </p:txBody>
      </p:sp>
      <p:sp>
        <p:nvSpPr>
          <p:cNvPr id="23" name="Shape 21"/>
          <p:cNvSpPr/>
          <p:nvPr/>
        </p:nvSpPr>
        <p:spPr>
          <a:xfrm>
            <a:off x="9326880" y="4267200"/>
            <a:ext cx="0" cy="548640"/>
          </a:xfrm>
          <a:prstGeom prst="line">
            <a:avLst/>
          </a:prstGeom>
          <a:noFill/>
          <a:ln w="31750">
            <a:solidFill>
              <a:srgbClr val="E85362"/>
            </a:solidFill>
            <a:prstDash val="solid"/>
            <a:headEnd type="triangle"/>
            <a:tailEnd type="triangle"/>
          </a:ln>
        </p:spPr>
        <p:txBody>
          <a:bodyPr/>
          <a:lstStyle/>
          <a:p>
            <a:endParaRPr lang="ru-RU" sz="2400"/>
          </a:p>
        </p:txBody>
      </p:sp>
      <p:sp>
        <p:nvSpPr>
          <p:cNvPr id="24" name="Shape 22"/>
          <p:cNvSpPr/>
          <p:nvPr/>
        </p:nvSpPr>
        <p:spPr>
          <a:xfrm>
            <a:off x="7315200" y="4876800"/>
            <a:ext cx="4023360" cy="1219200"/>
          </a:xfrm>
          <a:prstGeom prst="ellipse">
            <a:avLst/>
          </a:prstGeom>
          <a:solidFill>
            <a:srgbClr val="E8E0F7"/>
          </a:solidFill>
          <a:ln w="19050">
            <a:solidFill>
              <a:srgbClr val="372579"/>
            </a:solidFill>
            <a:prstDash val="solid"/>
          </a:ln>
        </p:spPr>
        <p:txBody>
          <a:bodyPr/>
          <a:lstStyle/>
          <a:p>
            <a:endParaRPr lang="ru-RU" sz="2400"/>
          </a:p>
        </p:txBody>
      </p:sp>
      <p:sp>
        <p:nvSpPr>
          <p:cNvPr id="25" name="Text 23"/>
          <p:cNvSpPr/>
          <p:nvPr/>
        </p:nvSpPr>
        <p:spPr>
          <a:xfrm>
            <a:off x="7315200" y="4876800"/>
            <a:ext cx="4023360" cy="1219200"/>
          </a:xfrm>
          <a:prstGeom prst="rect">
            <a:avLst/>
          </a:prstGeom>
          <a:noFill/>
          <a:ln/>
        </p:spPr>
        <p:txBody>
          <a:bodyPr wrap="square" lIns="0" tIns="0" rIns="0" bIns="0" rtlCol="0" anchor="ctr"/>
          <a:lstStyle/>
          <a:p>
            <a:pPr algn="ctr"/>
            <a:r>
              <a:rPr lang="en-US" sz="1600" b="1" dirty="0">
                <a:solidFill>
                  <a:srgbClr val="372579"/>
                </a:solidFill>
                <a:latin typeface="Montserrat" pitchFamily="34" charset="0"/>
                <a:ea typeface="Montserrat" pitchFamily="34" charset="-122"/>
                <a:cs typeface="Montserrat" pitchFamily="34" charset="-120"/>
              </a:rPr>
              <a:t>PostgreSQL / Neon</a:t>
            </a:r>
            <a:endParaRPr lang="en-US" sz="1600" dirty="0"/>
          </a:p>
          <a:p>
            <a:pPr algn="ctr"/>
            <a:r>
              <a:rPr lang="en-US" sz="1333" i="1" dirty="0">
                <a:solidFill>
                  <a:srgbClr val="24184E"/>
                </a:solidFill>
                <a:latin typeface="Montserrat" pitchFamily="34" charset="0"/>
                <a:ea typeface="Montserrat" pitchFamily="34" charset="-122"/>
                <a:cs typeface="Montserrat" pitchFamily="34" charset="-120"/>
              </a:rPr>
              <a:t>serverless, 512 МБ</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28242E1A-FE70-2B5B-3649-35DEFBAEAA76}"/>
              </a:ext>
            </a:extLst>
          </p:cNvPr>
          <p:cNvPicPr>
            <a:picLocks noChangeAspect="1"/>
          </p:cNvPicPr>
          <p:nvPr/>
        </p:nvPicPr>
        <p:blipFill>
          <a:blip r:embed="rId2"/>
          <a:stretch>
            <a:fillRect/>
          </a:stretch>
        </p:blipFill>
        <p:spPr>
          <a:xfrm>
            <a:off x="1180343" y="676904"/>
            <a:ext cx="9574172" cy="5665541"/>
          </a:xfrm>
          <a:prstGeom prst="rect">
            <a:avLst/>
          </a:prstGeom>
        </p:spPr>
      </p:pic>
    </p:spTree>
    <p:extLst>
      <p:ext uri="{BB962C8B-B14F-4D97-AF65-F5344CB8AC3E}">
        <p14:creationId xmlns:p14="http://schemas.microsoft.com/office/powerpoint/2010/main" val="3193409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Стек технологий</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6 / 12</a:t>
            </a:r>
            <a:endParaRPr lang="en-US" sz="1333" dirty="0"/>
          </a:p>
        </p:txBody>
      </p:sp>
      <p:sp>
        <p:nvSpPr>
          <p:cNvPr id="8" name="Shape 6"/>
          <p:cNvSpPr/>
          <p:nvPr/>
        </p:nvSpPr>
        <p:spPr>
          <a:xfrm>
            <a:off x="670560" y="1645920"/>
            <a:ext cx="2621280" cy="4450080"/>
          </a:xfrm>
          <a:prstGeom prst="rect">
            <a:avLst/>
          </a:prstGeom>
          <a:solidFill>
            <a:srgbClr val="FFFFFF"/>
          </a:solidFill>
          <a:ln w="19050">
            <a:solidFill>
              <a:srgbClr val="372579"/>
            </a:solidFill>
            <a:prstDash val="solid"/>
          </a:ln>
        </p:spPr>
        <p:txBody>
          <a:bodyPr/>
          <a:lstStyle/>
          <a:p>
            <a:endParaRPr lang="ru-RU" sz="2400"/>
          </a:p>
        </p:txBody>
      </p:sp>
      <p:sp>
        <p:nvSpPr>
          <p:cNvPr id="9" name="Shape 7"/>
          <p:cNvSpPr/>
          <p:nvPr/>
        </p:nvSpPr>
        <p:spPr>
          <a:xfrm>
            <a:off x="670560" y="1645920"/>
            <a:ext cx="2621280" cy="731520"/>
          </a:xfrm>
          <a:prstGeom prst="rect">
            <a:avLst/>
          </a:prstGeom>
          <a:solidFill>
            <a:srgbClr val="372579"/>
          </a:solidFill>
          <a:ln w="12700">
            <a:solidFill>
              <a:srgbClr val="372579"/>
            </a:solidFill>
            <a:prstDash val="solid"/>
          </a:ln>
        </p:spPr>
        <p:txBody>
          <a:bodyPr/>
          <a:lstStyle/>
          <a:p>
            <a:endParaRPr lang="ru-RU" sz="2400"/>
          </a:p>
        </p:txBody>
      </p:sp>
      <p:sp>
        <p:nvSpPr>
          <p:cNvPr id="10" name="Text 8"/>
          <p:cNvSpPr/>
          <p:nvPr/>
        </p:nvSpPr>
        <p:spPr>
          <a:xfrm>
            <a:off x="67056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КЛИЕНТ</a:t>
            </a:r>
            <a:endParaRPr lang="en-US" sz="1600" dirty="0"/>
          </a:p>
        </p:txBody>
      </p:sp>
      <p:sp>
        <p:nvSpPr>
          <p:cNvPr id="11" name="Text 9"/>
          <p:cNvSpPr/>
          <p:nvPr/>
        </p:nvSpPr>
        <p:spPr>
          <a:xfrm>
            <a:off x="85344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.NET MAUI 9</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C# / XAML</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CommunityToolkit.Mvvm</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SQLite (sqlite-net-pcl)</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LiveChartsCore</a:t>
            </a:r>
            <a:endParaRPr lang="en-US" sz="1467" dirty="0"/>
          </a:p>
        </p:txBody>
      </p:sp>
      <p:sp>
        <p:nvSpPr>
          <p:cNvPr id="12" name="Shape 10"/>
          <p:cNvSpPr/>
          <p:nvPr/>
        </p:nvSpPr>
        <p:spPr>
          <a:xfrm>
            <a:off x="3474720" y="1645920"/>
            <a:ext cx="2621280" cy="4450080"/>
          </a:xfrm>
          <a:prstGeom prst="rect">
            <a:avLst/>
          </a:prstGeom>
          <a:solidFill>
            <a:srgbClr val="FFFFFF"/>
          </a:solidFill>
          <a:ln w="19050">
            <a:solidFill>
              <a:srgbClr val="47309C"/>
            </a:solidFill>
            <a:prstDash val="solid"/>
          </a:ln>
        </p:spPr>
        <p:txBody>
          <a:bodyPr/>
          <a:lstStyle/>
          <a:p>
            <a:endParaRPr lang="ru-RU" sz="2400"/>
          </a:p>
        </p:txBody>
      </p:sp>
      <p:sp>
        <p:nvSpPr>
          <p:cNvPr id="13" name="Shape 11"/>
          <p:cNvSpPr/>
          <p:nvPr/>
        </p:nvSpPr>
        <p:spPr>
          <a:xfrm>
            <a:off x="3474720" y="1645920"/>
            <a:ext cx="2621280" cy="731520"/>
          </a:xfrm>
          <a:prstGeom prst="rect">
            <a:avLst/>
          </a:prstGeom>
          <a:solidFill>
            <a:srgbClr val="47309C"/>
          </a:solidFill>
          <a:ln w="12700">
            <a:solidFill>
              <a:srgbClr val="47309C"/>
            </a:solidFill>
            <a:prstDash val="solid"/>
          </a:ln>
        </p:spPr>
        <p:txBody>
          <a:bodyPr/>
          <a:lstStyle/>
          <a:p>
            <a:endParaRPr lang="ru-RU" sz="2400"/>
          </a:p>
        </p:txBody>
      </p:sp>
      <p:sp>
        <p:nvSpPr>
          <p:cNvPr id="14" name="Text 12"/>
          <p:cNvSpPr/>
          <p:nvPr/>
        </p:nvSpPr>
        <p:spPr>
          <a:xfrm>
            <a:off x="347472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СЕРВЕР</a:t>
            </a:r>
            <a:endParaRPr lang="en-US" sz="1600" dirty="0"/>
          </a:p>
        </p:txBody>
      </p:sp>
      <p:sp>
        <p:nvSpPr>
          <p:cNvPr id="15" name="Text 13"/>
          <p:cNvSpPr/>
          <p:nvPr/>
        </p:nvSpPr>
        <p:spPr>
          <a:xfrm>
            <a:off x="365760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ASP.NET Core 9</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Npgsql (без EF)</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JWT HS256 + BCrypt</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Docker (multi-stage)</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Render.com Free</a:t>
            </a:r>
            <a:endParaRPr lang="en-US" sz="1467" dirty="0"/>
          </a:p>
        </p:txBody>
      </p:sp>
      <p:sp>
        <p:nvSpPr>
          <p:cNvPr id="16" name="Shape 14"/>
          <p:cNvSpPr/>
          <p:nvPr/>
        </p:nvSpPr>
        <p:spPr>
          <a:xfrm>
            <a:off x="6278880" y="1645920"/>
            <a:ext cx="2621280" cy="4450080"/>
          </a:xfrm>
          <a:prstGeom prst="rect">
            <a:avLst/>
          </a:prstGeom>
          <a:solidFill>
            <a:srgbClr val="FFFFFF"/>
          </a:solidFill>
          <a:ln w="19050">
            <a:solidFill>
              <a:srgbClr val="E85362"/>
            </a:solidFill>
            <a:prstDash val="solid"/>
          </a:ln>
        </p:spPr>
        <p:txBody>
          <a:bodyPr/>
          <a:lstStyle/>
          <a:p>
            <a:endParaRPr lang="ru-RU" sz="2400"/>
          </a:p>
        </p:txBody>
      </p:sp>
      <p:sp>
        <p:nvSpPr>
          <p:cNvPr id="17" name="Shape 15"/>
          <p:cNvSpPr/>
          <p:nvPr/>
        </p:nvSpPr>
        <p:spPr>
          <a:xfrm>
            <a:off x="6278880" y="1645920"/>
            <a:ext cx="2621280" cy="731520"/>
          </a:xfrm>
          <a:prstGeom prst="rect">
            <a:avLst/>
          </a:prstGeom>
          <a:solidFill>
            <a:srgbClr val="E85362"/>
          </a:solidFill>
          <a:ln w="12700">
            <a:solidFill>
              <a:srgbClr val="E85362"/>
            </a:solidFill>
            <a:prstDash val="solid"/>
          </a:ln>
        </p:spPr>
        <p:txBody>
          <a:bodyPr/>
          <a:lstStyle/>
          <a:p>
            <a:endParaRPr lang="ru-RU" sz="2400"/>
          </a:p>
        </p:txBody>
      </p:sp>
      <p:sp>
        <p:nvSpPr>
          <p:cNvPr id="18" name="Text 16"/>
          <p:cNvSpPr/>
          <p:nvPr/>
        </p:nvSpPr>
        <p:spPr>
          <a:xfrm>
            <a:off x="627888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БАЗА ДАННЫХ</a:t>
            </a:r>
            <a:endParaRPr lang="en-US" sz="1600" dirty="0"/>
          </a:p>
        </p:txBody>
      </p:sp>
      <p:sp>
        <p:nvSpPr>
          <p:cNvPr id="19" name="Text 17"/>
          <p:cNvSpPr/>
          <p:nvPr/>
        </p:nvSpPr>
        <p:spPr>
          <a:xfrm>
            <a:off x="646176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Локально: SQLite</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Облако: PostgreSQL</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Хостинг: Neon</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Serverless, 512 МБ</a:t>
            </a:r>
            <a:endParaRPr lang="en-US" sz="1467" dirty="0"/>
          </a:p>
        </p:txBody>
      </p:sp>
      <p:sp>
        <p:nvSpPr>
          <p:cNvPr id="20" name="Shape 18"/>
          <p:cNvSpPr/>
          <p:nvPr/>
        </p:nvSpPr>
        <p:spPr>
          <a:xfrm>
            <a:off x="9083040" y="1645920"/>
            <a:ext cx="2621280" cy="4450080"/>
          </a:xfrm>
          <a:prstGeom prst="rect">
            <a:avLst/>
          </a:prstGeom>
          <a:solidFill>
            <a:srgbClr val="FFFFFF"/>
          </a:solidFill>
          <a:ln w="19050">
            <a:solidFill>
              <a:srgbClr val="FA815F"/>
            </a:solidFill>
            <a:prstDash val="solid"/>
          </a:ln>
        </p:spPr>
        <p:txBody>
          <a:bodyPr/>
          <a:lstStyle/>
          <a:p>
            <a:endParaRPr lang="ru-RU" sz="2400"/>
          </a:p>
        </p:txBody>
      </p:sp>
      <p:sp>
        <p:nvSpPr>
          <p:cNvPr id="21" name="Shape 19"/>
          <p:cNvSpPr/>
          <p:nvPr/>
        </p:nvSpPr>
        <p:spPr>
          <a:xfrm>
            <a:off x="9083040" y="1645920"/>
            <a:ext cx="2621280" cy="731520"/>
          </a:xfrm>
          <a:prstGeom prst="rect">
            <a:avLst/>
          </a:prstGeom>
          <a:solidFill>
            <a:srgbClr val="FA815F"/>
          </a:solidFill>
          <a:ln w="12700">
            <a:solidFill>
              <a:srgbClr val="FA815F"/>
            </a:solidFill>
            <a:prstDash val="solid"/>
          </a:ln>
        </p:spPr>
        <p:txBody>
          <a:bodyPr/>
          <a:lstStyle/>
          <a:p>
            <a:endParaRPr lang="ru-RU" sz="2400"/>
          </a:p>
        </p:txBody>
      </p:sp>
      <p:sp>
        <p:nvSpPr>
          <p:cNvPr id="22" name="Text 20"/>
          <p:cNvSpPr/>
          <p:nvPr/>
        </p:nvSpPr>
        <p:spPr>
          <a:xfrm>
            <a:off x="9083040" y="1645920"/>
            <a:ext cx="2621280" cy="731520"/>
          </a:xfrm>
          <a:prstGeom prst="rect">
            <a:avLst/>
          </a:prstGeom>
          <a:noFill/>
          <a:ln/>
        </p:spPr>
        <p:txBody>
          <a:bodyPr wrap="square" rtlCol="0" anchor="ctr"/>
          <a:lstStyle/>
          <a:p>
            <a:pPr algn="ctr"/>
            <a:r>
              <a:rPr lang="en-US" sz="1600" b="1" spc="267" dirty="0">
                <a:solidFill>
                  <a:srgbClr val="FFFFFF"/>
                </a:solidFill>
                <a:latin typeface="Montserrat SemiBold" pitchFamily="34" charset="0"/>
                <a:ea typeface="Montserrat SemiBold" pitchFamily="34" charset="-122"/>
                <a:cs typeface="Montserrat SemiBold" pitchFamily="34" charset="-120"/>
              </a:rPr>
              <a:t>ML-ИНФРАСТРУКТУРА</a:t>
            </a:r>
            <a:endParaRPr lang="en-US" sz="1600" dirty="0"/>
          </a:p>
        </p:txBody>
      </p:sp>
      <p:sp>
        <p:nvSpPr>
          <p:cNvPr id="23" name="Text 21"/>
          <p:cNvSpPr/>
          <p:nvPr/>
        </p:nvSpPr>
        <p:spPr>
          <a:xfrm>
            <a:off x="9265920" y="2560320"/>
            <a:ext cx="2255520" cy="3413760"/>
          </a:xfrm>
          <a:prstGeom prst="rect">
            <a:avLst/>
          </a:prstGeom>
          <a:noFill/>
          <a:ln/>
        </p:spPr>
        <p:txBody>
          <a:bodyPr wrap="square" rtlCol="0" anchor="t"/>
          <a:lstStyle/>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Python 3.11</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LightGBM</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ONNX cross-platform</a:t>
            </a:r>
            <a:endParaRPr lang="en-US" sz="1467" dirty="0"/>
          </a:p>
          <a:p>
            <a:pPr marL="457189" indent="-457189">
              <a:spcAft>
                <a:spcPts val="800"/>
              </a:spcAft>
              <a:buSzPct val="100000"/>
              <a:buChar char="■"/>
            </a:pPr>
            <a:r>
              <a:rPr lang="en-US" sz="1467" dirty="0">
                <a:solidFill>
                  <a:srgbClr val="24184E"/>
                </a:solidFill>
                <a:latin typeface="Montserrat" pitchFamily="34" charset="0"/>
                <a:ea typeface="Montserrat" pitchFamily="34" charset="-122"/>
                <a:cs typeface="Montserrat" pitchFamily="34" charset="-120"/>
              </a:rPr>
              <a:t>OnnxRuntime 1.20.1</a:t>
            </a:r>
            <a:endParaRPr lang="en-US" sz="146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датасет и признаки</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7 / 12</a:t>
            </a:r>
            <a:endParaRPr lang="en-US" sz="1333" dirty="0"/>
          </a:p>
        </p:txBody>
      </p:sp>
      <p:sp>
        <p:nvSpPr>
          <p:cNvPr id="8" name="Text 6"/>
          <p:cNvSpPr/>
          <p:nvPr/>
        </p:nvSpPr>
        <p:spPr>
          <a:xfrm>
            <a:off x="67056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ДАННЫЕ ОБУЧЕНИЯ</a:t>
            </a:r>
            <a:endParaRPr lang="en-US" sz="1733" dirty="0"/>
          </a:p>
        </p:txBody>
      </p:sp>
      <p:sp>
        <p:nvSpPr>
          <p:cNvPr id="9" name="Shape 7"/>
          <p:cNvSpPr/>
          <p:nvPr/>
        </p:nvSpPr>
        <p:spPr>
          <a:xfrm>
            <a:off x="670560" y="2133600"/>
            <a:ext cx="5364480" cy="1158240"/>
          </a:xfrm>
          <a:prstGeom prst="rect">
            <a:avLst/>
          </a:prstGeom>
          <a:solidFill>
            <a:srgbClr val="FFFFFF"/>
          </a:solidFill>
          <a:ln w="12700">
            <a:solidFill>
              <a:srgbClr val="372579"/>
            </a:solidFill>
            <a:prstDash val="solid"/>
          </a:ln>
        </p:spPr>
        <p:txBody>
          <a:bodyPr/>
          <a:lstStyle/>
          <a:p>
            <a:endParaRPr lang="ru-RU" sz="2400"/>
          </a:p>
        </p:txBody>
      </p:sp>
      <p:sp>
        <p:nvSpPr>
          <p:cNvPr id="10" name="Shape 8"/>
          <p:cNvSpPr/>
          <p:nvPr/>
        </p:nvSpPr>
        <p:spPr>
          <a:xfrm>
            <a:off x="670560" y="2133600"/>
            <a:ext cx="146304" cy="1158240"/>
          </a:xfrm>
          <a:prstGeom prst="rect">
            <a:avLst/>
          </a:prstGeom>
          <a:solidFill>
            <a:srgbClr val="372579"/>
          </a:solidFill>
          <a:ln w="12700">
            <a:solidFill>
              <a:srgbClr val="372579"/>
            </a:solidFill>
            <a:prstDash val="solid"/>
          </a:ln>
        </p:spPr>
        <p:txBody>
          <a:bodyPr/>
          <a:lstStyle/>
          <a:p>
            <a:endParaRPr lang="ru-RU" sz="2400"/>
          </a:p>
        </p:txBody>
      </p:sp>
      <p:sp>
        <p:nvSpPr>
          <p:cNvPr id="11" name="Text 9"/>
          <p:cNvSpPr/>
          <p:nvPr/>
        </p:nvSpPr>
        <p:spPr>
          <a:xfrm>
            <a:off x="914400" y="2194560"/>
            <a:ext cx="2377440" cy="1036320"/>
          </a:xfrm>
          <a:prstGeom prst="rect">
            <a:avLst/>
          </a:prstGeom>
          <a:noFill/>
          <a:ln/>
        </p:spPr>
        <p:txBody>
          <a:bodyPr wrap="square" lIns="0" tIns="0" rIns="0" bIns="0" rtlCol="0" anchor="ctr"/>
          <a:lstStyle/>
          <a:p>
            <a:r>
              <a:rPr lang="en-US" sz="3467" b="1" dirty="0">
                <a:solidFill>
                  <a:srgbClr val="372579"/>
                </a:solidFill>
                <a:latin typeface="Montserrat SemiBold" pitchFamily="34" charset="0"/>
                <a:ea typeface="Montserrat SemiBold" pitchFamily="34" charset="-122"/>
                <a:cs typeface="Montserrat SemiBold" pitchFamily="34" charset="-120"/>
              </a:rPr>
              <a:t>763 322</a:t>
            </a:r>
            <a:endParaRPr lang="en-US" sz="3467" dirty="0"/>
          </a:p>
        </p:txBody>
      </p:sp>
      <p:sp>
        <p:nvSpPr>
          <p:cNvPr id="12" name="Text 10"/>
          <p:cNvSpPr/>
          <p:nvPr/>
        </p:nvSpPr>
        <p:spPr>
          <a:xfrm>
            <a:off x="3352800" y="219456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тренировочных подходов</a:t>
            </a:r>
            <a:endParaRPr lang="en-US" sz="1467" dirty="0"/>
          </a:p>
        </p:txBody>
      </p:sp>
      <p:sp>
        <p:nvSpPr>
          <p:cNvPr id="13" name="Shape 11"/>
          <p:cNvSpPr/>
          <p:nvPr/>
        </p:nvSpPr>
        <p:spPr>
          <a:xfrm>
            <a:off x="670560" y="3474720"/>
            <a:ext cx="5364480" cy="1158240"/>
          </a:xfrm>
          <a:prstGeom prst="rect">
            <a:avLst/>
          </a:prstGeom>
          <a:solidFill>
            <a:srgbClr val="FFFFFF"/>
          </a:solidFill>
          <a:ln w="12700">
            <a:solidFill>
              <a:srgbClr val="E85362"/>
            </a:solidFill>
            <a:prstDash val="solid"/>
          </a:ln>
        </p:spPr>
        <p:txBody>
          <a:bodyPr/>
          <a:lstStyle/>
          <a:p>
            <a:endParaRPr lang="ru-RU" sz="2400"/>
          </a:p>
        </p:txBody>
      </p:sp>
      <p:sp>
        <p:nvSpPr>
          <p:cNvPr id="14" name="Shape 12"/>
          <p:cNvSpPr/>
          <p:nvPr/>
        </p:nvSpPr>
        <p:spPr>
          <a:xfrm>
            <a:off x="670560" y="3474720"/>
            <a:ext cx="146304" cy="1158240"/>
          </a:xfrm>
          <a:prstGeom prst="rect">
            <a:avLst/>
          </a:prstGeom>
          <a:solidFill>
            <a:srgbClr val="E85362"/>
          </a:solidFill>
          <a:ln w="12700">
            <a:solidFill>
              <a:srgbClr val="E85362"/>
            </a:solidFill>
            <a:prstDash val="solid"/>
          </a:ln>
        </p:spPr>
        <p:txBody>
          <a:bodyPr/>
          <a:lstStyle/>
          <a:p>
            <a:endParaRPr lang="ru-RU" sz="2400"/>
          </a:p>
        </p:txBody>
      </p:sp>
      <p:sp>
        <p:nvSpPr>
          <p:cNvPr id="15" name="Text 13"/>
          <p:cNvSpPr/>
          <p:nvPr/>
        </p:nvSpPr>
        <p:spPr>
          <a:xfrm>
            <a:off x="914400" y="3535680"/>
            <a:ext cx="2377440" cy="1036320"/>
          </a:xfrm>
          <a:prstGeom prst="rect">
            <a:avLst/>
          </a:prstGeom>
          <a:noFill/>
          <a:ln/>
        </p:spPr>
        <p:txBody>
          <a:bodyPr wrap="square" lIns="0" tIns="0" rIns="0" bIns="0" rtlCol="0" anchor="ctr"/>
          <a:lstStyle/>
          <a:p>
            <a:r>
              <a:rPr lang="en-US" sz="3467" b="1" dirty="0">
                <a:solidFill>
                  <a:srgbClr val="E85362"/>
                </a:solidFill>
                <a:latin typeface="Montserrat SemiBold" pitchFamily="34" charset="0"/>
                <a:ea typeface="Montserrat SemiBold" pitchFamily="34" charset="-122"/>
                <a:cs typeface="Montserrat SemiBold" pitchFamily="34" charset="-120"/>
              </a:rPr>
              <a:t>500</a:t>
            </a:r>
            <a:endParaRPr lang="en-US" sz="3467" dirty="0"/>
          </a:p>
        </p:txBody>
      </p:sp>
      <p:sp>
        <p:nvSpPr>
          <p:cNvPr id="16" name="Text 14"/>
          <p:cNvSpPr/>
          <p:nvPr/>
        </p:nvSpPr>
        <p:spPr>
          <a:xfrm>
            <a:off x="3352800" y="353568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спортсменов</a:t>
            </a:r>
            <a:endParaRPr lang="en-US" sz="1467" dirty="0"/>
          </a:p>
        </p:txBody>
      </p:sp>
      <p:sp>
        <p:nvSpPr>
          <p:cNvPr id="17" name="Shape 15"/>
          <p:cNvSpPr/>
          <p:nvPr/>
        </p:nvSpPr>
        <p:spPr>
          <a:xfrm>
            <a:off x="670560" y="4815840"/>
            <a:ext cx="5364480" cy="1158240"/>
          </a:xfrm>
          <a:prstGeom prst="rect">
            <a:avLst/>
          </a:prstGeom>
          <a:solidFill>
            <a:srgbClr val="FFFFFF"/>
          </a:solidFill>
          <a:ln w="12700">
            <a:solidFill>
              <a:srgbClr val="FA815F"/>
            </a:solidFill>
            <a:prstDash val="solid"/>
          </a:ln>
        </p:spPr>
        <p:txBody>
          <a:bodyPr/>
          <a:lstStyle/>
          <a:p>
            <a:endParaRPr lang="ru-RU" sz="2400"/>
          </a:p>
        </p:txBody>
      </p:sp>
      <p:sp>
        <p:nvSpPr>
          <p:cNvPr id="18" name="Shape 16"/>
          <p:cNvSpPr/>
          <p:nvPr/>
        </p:nvSpPr>
        <p:spPr>
          <a:xfrm>
            <a:off x="670560" y="4815840"/>
            <a:ext cx="146304" cy="1158240"/>
          </a:xfrm>
          <a:prstGeom prst="rect">
            <a:avLst/>
          </a:prstGeom>
          <a:solidFill>
            <a:srgbClr val="FA815F"/>
          </a:solidFill>
          <a:ln w="12700">
            <a:solidFill>
              <a:srgbClr val="FA815F"/>
            </a:solidFill>
            <a:prstDash val="solid"/>
          </a:ln>
        </p:spPr>
        <p:txBody>
          <a:bodyPr/>
          <a:lstStyle/>
          <a:p>
            <a:endParaRPr lang="ru-RU" sz="2400"/>
          </a:p>
        </p:txBody>
      </p:sp>
      <p:sp>
        <p:nvSpPr>
          <p:cNvPr id="19" name="Text 17"/>
          <p:cNvSpPr/>
          <p:nvPr/>
        </p:nvSpPr>
        <p:spPr>
          <a:xfrm>
            <a:off x="914400" y="4876800"/>
            <a:ext cx="2377440" cy="1036320"/>
          </a:xfrm>
          <a:prstGeom prst="rect">
            <a:avLst/>
          </a:prstGeom>
          <a:noFill/>
          <a:ln/>
        </p:spPr>
        <p:txBody>
          <a:bodyPr wrap="square" lIns="0" tIns="0" rIns="0" bIns="0" rtlCol="0" anchor="ctr"/>
          <a:lstStyle/>
          <a:p>
            <a:r>
              <a:rPr lang="en-US" sz="3467" b="1" dirty="0">
                <a:solidFill>
                  <a:srgbClr val="FA815F"/>
                </a:solidFill>
                <a:latin typeface="Montserrat SemiBold" pitchFamily="34" charset="0"/>
                <a:ea typeface="Montserrat SemiBold" pitchFamily="34" charset="-122"/>
                <a:cs typeface="Montserrat SemiBold" pitchFamily="34" charset="-120"/>
              </a:rPr>
              <a:t>118 350</a:t>
            </a:r>
            <a:endParaRPr lang="en-US" sz="3467" dirty="0"/>
          </a:p>
        </p:txBody>
      </p:sp>
      <p:sp>
        <p:nvSpPr>
          <p:cNvPr id="20" name="Text 18"/>
          <p:cNvSpPr/>
          <p:nvPr/>
        </p:nvSpPr>
        <p:spPr>
          <a:xfrm>
            <a:off x="3352800" y="4876800"/>
            <a:ext cx="2560320" cy="103632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обучающих пар (X → y)</a:t>
            </a:r>
            <a:endParaRPr lang="en-US" sz="1467" dirty="0"/>
          </a:p>
        </p:txBody>
      </p:sp>
      <p:sp>
        <p:nvSpPr>
          <p:cNvPr id="21" name="Text 19"/>
          <p:cNvSpPr/>
          <p:nvPr/>
        </p:nvSpPr>
        <p:spPr>
          <a:xfrm>
            <a:off x="6339840" y="1584960"/>
            <a:ext cx="5364480" cy="426720"/>
          </a:xfrm>
          <a:prstGeom prst="rect">
            <a:avLst/>
          </a:prstGeom>
          <a:noFill/>
          <a:ln/>
        </p:spPr>
        <p:txBody>
          <a:bodyPr wrap="square" rtlCol="0" anchor="ctr"/>
          <a:lstStyle/>
          <a:p>
            <a:r>
              <a:rPr lang="en-US" sz="1733" b="1" spc="400" dirty="0">
                <a:solidFill>
                  <a:srgbClr val="372579"/>
                </a:solidFill>
                <a:latin typeface="Montserrat SemiBold" pitchFamily="34" charset="0"/>
                <a:ea typeface="Montserrat SemiBold" pitchFamily="34" charset="-122"/>
                <a:cs typeface="Montserrat SemiBold" pitchFamily="34" charset="-120"/>
              </a:rPr>
              <a:t>29 ПРИЗНАКОВ · 4 ГРУППЫ</a:t>
            </a:r>
            <a:endParaRPr lang="en-US" sz="1733" dirty="0"/>
          </a:p>
        </p:txBody>
      </p:sp>
      <p:sp>
        <p:nvSpPr>
          <p:cNvPr id="22" name="Shape 20"/>
          <p:cNvSpPr/>
          <p:nvPr/>
        </p:nvSpPr>
        <p:spPr>
          <a:xfrm>
            <a:off x="6339840" y="213360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3" name="Shape 21"/>
          <p:cNvSpPr/>
          <p:nvPr/>
        </p:nvSpPr>
        <p:spPr>
          <a:xfrm>
            <a:off x="6461760" y="225552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4" name="Text 22"/>
          <p:cNvSpPr/>
          <p:nvPr/>
        </p:nvSpPr>
        <p:spPr>
          <a:xfrm>
            <a:off x="6461760" y="225552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13</a:t>
            </a:r>
            <a:endParaRPr lang="en-US" sz="1867" dirty="0"/>
          </a:p>
        </p:txBody>
      </p:sp>
      <p:sp>
        <p:nvSpPr>
          <p:cNvPr id="25" name="Text 23"/>
          <p:cNvSpPr/>
          <p:nvPr/>
        </p:nvSpPr>
        <p:spPr>
          <a:xfrm>
            <a:off x="7254240" y="219456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История</a:t>
            </a:r>
            <a:endParaRPr lang="en-US" sz="1600" dirty="0"/>
          </a:p>
          <a:p>
            <a:r>
              <a:rPr lang="en-US" sz="1333" dirty="0">
                <a:solidFill>
                  <a:srgbClr val="24184E"/>
                </a:solidFill>
                <a:latin typeface="Montserrat" pitchFamily="34" charset="0"/>
                <a:ea typeface="Montserrat" pitchFamily="34" charset="-122"/>
                <a:cs typeface="Montserrat" pitchFamily="34" charset="-120"/>
              </a:rPr>
              <a:t>лаги 1ПМ, средние, тренд</a:t>
            </a:r>
            <a:endParaRPr lang="en-US" sz="1600" dirty="0"/>
          </a:p>
        </p:txBody>
      </p:sp>
      <p:sp>
        <p:nvSpPr>
          <p:cNvPr id="26" name="Shape 24"/>
          <p:cNvSpPr/>
          <p:nvPr/>
        </p:nvSpPr>
        <p:spPr>
          <a:xfrm>
            <a:off x="6339840" y="310896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27" name="Shape 25"/>
          <p:cNvSpPr/>
          <p:nvPr/>
        </p:nvSpPr>
        <p:spPr>
          <a:xfrm>
            <a:off x="6461760" y="323088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28" name="Text 26"/>
          <p:cNvSpPr/>
          <p:nvPr/>
        </p:nvSpPr>
        <p:spPr>
          <a:xfrm>
            <a:off x="6461760" y="323088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7</a:t>
            </a:r>
            <a:endParaRPr lang="en-US" sz="1867" dirty="0"/>
          </a:p>
        </p:txBody>
      </p:sp>
      <p:sp>
        <p:nvSpPr>
          <p:cNvPr id="29" name="Text 27"/>
          <p:cNvSpPr/>
          <p:nvPr/>
        </p:nvSpPr>
        <p:spPr>
          <a:xfrm>
            <a:off x="7254240" y="316992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Текущая тренировка</a:t>
            </a:r>
            <a:endParaRPr lang="en-US" sz="1600" dirty="0"/>
          </a:p>
          <a:p>
            <a:r>
              <a:rPr lang="en-US" sz="1333" dirty="0">
                <a:solidFill>
                  <a:srgbClr val="24184E"/>
                </a:solidFill>
                <a:latin typeface="Montserrat" pitchFamily="34" charset="0"/>
                <a:ea typeface="Montserrat" pitchFamily="34" charset="-122"/>
                <a:cs typeface="Montserrat" pitchFamily="34" charset="-120"/>
              </a:rPr>
              <a:t>топ-вес, повторы, RPE</a:t>
            </a:r>
            <a:endParaRPr lang="en-US" sz="1600" dirty="0"/>
          </a:p>
        </p:txBody>
      </p:sp>
      <p:sp>
        <p:nvSpPr>
          <p:cNvPr id="30" name="Shape 28"/>
          <p:cNvSpPr/>
          <p:nvPr/>
        </p:nvSpPr>
        <p:spPr>
          <a:xfrm>
            <a:off x="6339840" y="408432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1" name="Shape 29"/>
          <p:cNvSpPr/>
          <p:nvPr/>
        </p:nvSpPr>
        <p:spPr>
          <a:xfrm>
            <a:off x="6461760" y="420624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2" name="Text 30"/>
          <p:cNvSpPr/>
          <p:nvPr/>
        </p:nvSpPr>
        <p:spPr>
          <a:xfrm>
            <a:off x="6461760" y="420624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5</a:t>
            </a:r>
            <a:endParaRPr lang="en-US" sz="1867" dirty="0"/>
          </a:p>
        </p:txBody>
      </p:sp>
      <p:sp>
        <p:nvSpPr>
          <p:cNvPr id="33" name="Text 31"/>
          <p:cNvSpPr/>
          <p:nvPr/>
        </p:nvSpPr>
        <p:spPr>
          <a:xfrm>
            <a:off x="7254240" y="414528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Профиль</a:t>
            </a:r>
            <a:endParaRPr lang="en-US" sz="1600" dirty="0"/>
          </a:p>
          <a:p>
            <a:r>
              <a:rPr lang="en-US" sz="1333" dirty="0">
                <a:solidFill>
                  <a:srgbClr val="24184E"/>
                </a:solidFill>
                <a:latin typeface="Montserrat" pitchFamily="34" charset="0"/>
                <a:ea typeface="Montserrat" pitchFamily="34" charset="-122"/>
                <a:cs typeface="Montserrat" pitchFamily="34" charset="-120"/>
              </a:rPr>
              <a:t>вес, возраст, пол, стаж</a:t>
            </a:r>
            <a:endParaRPr lang="en-US" sz="1600" dirty="0"/>
          </a:p>
        </p:txBody>
      </p:sp>
      <p:sp>
        <p:nvSpPr>
          <p:cNvPr id="34" name="Shape 32"/>
          <p:cNvSpPr/>
          <p:nvPr/>
        </p:nvSpPr>
        <p:spPr>
          <a:xfrm>
            <a:off x="6339840" y="5059680"/>
            <a:ext cx="5364480" cy="853440"/>
          </a:xfrm>
          <a:prstGeom prst="rect">
            <a:avLst/>
          </a:prstGeom>
          <a:solidFill>
            <a:srgbClr val="E8E0F7"/>
          </a:solidFill>
          <a:ln w="6350">
            <a:solidFill>
              <a:srgbClr val="8C64D8"/>
            </a:solidFill>
            <a:prstDash val="solid"/>
          </a:ln>
        </p:spPr>
        <p:txBody>
          <a:bodyPr/>
          <a:lstStyle/>
          <a:p>
            <a:endParaRPr lang="ru-RU" sz="2400"/>
          </a:p>
        </p:txBody>
      </p:sp>
      <p:sp>
        <p:nvSpPr>
          <p:cNvPr id="35" name="Shape 33"/>
          <p:cNvSpPr/>
          <p:nvPr/>
        </p:nvSpPr>
        <p:spPr>
          <a:xfrm>
            <a:off x="6461760" y="5181600"/>
            <a:ext cx="609600" cy="609600"/>
          </a:xfrm>
          <a:prstGeom prst="ellipse">
            <a:avLst/>
          </a:prstGeom>
          <a:solidFill>
            <a:srgbClr val="372579"/>
          </a:solidFill>
          <a:ln w="12700">
            <a:solidFill>
              <a:srgbClr val="372579"/>
            </a:solidFill>
            <a:prstDash val="solid"/>
          </a:ln>
        </p:spPr>
        <p:txBody>
          <a:bodyPr/>
          <a:lstStyle/>
          <a:p>
            <a:endParaRPr lang="ru-RU" sz="2400"/>
          </a:p>
        </p:txBody>
      </p:sp>
      <p:sp>
        <p:nvSpPr>
          <p:cNvPr id="36" name="Text 34"/>
          <p:cNvSpPr/>
          <p:nvPr/>
        </p:nvSpPr>
        <p:spPr>
          <a:xfrm>
            <a:off x="6461760" y="5181600"/>
            <a:ext cx="609600" cy="609600"/>
          </a:xfrm>
          <a:prstGeom prst="rect">
            <a:avLst/>
          </a:prstGeom>
          <a:noFill/>
          <a:ln/>
        </p:spPr>
        <p:txBody>
          <a:bodyPr wrap="square" lIns="0" tIns="0" rIns="0" bIns="0" rtlCol="0" anchor="ctr"/>
          <a:lstStyle/>
          <a:p>
            <a:pPr algn="ctr"/>
            <a:r>
              <a:rPr lang="en-US" sz="1867" b="1" dirty="0">
                <a:solidFill>
                  <a:srgbClr val="FFFFFF"/>
                </a:solidFill>
                <a:latin typeface="Montserrat SemiBold" pitchFamily="34" charset="0"/>
                <a:ea typeface="Montserrat SemiBold" pitchFamily="34" charset="-122"/>
                <a:cs typeface="Montserrat SemiBold" pitchFamily="34" charset="-120"/>
              </a:rPr>
              <a:t>4</a:t>
            </a:r>
            <a:endParaRPr lang="en-US" sz="1867" dirty="0"/>
          </a:p>
        </p:txBody>
      </p:sp>
      <p:sp>
        <p:nvSpPr>
          <p:cNvPr id="37" name="Text 35"/>
          <p:cNvSpPr/>
          <p:nvPr/>
        </p:nvSpPr>
        <p:spPr>
          <a:xfrm>
            <a:off x="7254240" y="5120640"/>
            <a:ext cx="4328160" cy="731520"/>
          </a:xfrm>
          <a:prstGeom prst="rect">
            <a:avLst/>
          </a:prstGeom>
          <a:noFill/>
          <a:ln/>
        </p:spPr>
        <p:txBody>
          <a:bodyPr wrap="square" rtlCol="0" anchor="ctr"/>
          <a:lstStyle/>
          <a:p>
            <a:r>
              <a:rPr lang="en-US" sz="1600" b="1" dirty="0">
                <a:solidFill>
                  <a:srgbClr val="372579"/>
                </a:solidFill>
                <a:latin typeface="Montserrat" pitchFamily="34" charset="0"/>
                <a:ea typeface="Montserrat" pitchFamily="34" charset="-122"/>
                <a:cs typeface="Montserrat" pitchFamily="34" charset="-120"/>
              </a:rPr>
              <a:t>Упражнение</a:t>
            </a:r>
            <a:endParaRPr lang="en-US" sz="1600" dirty="0"/>
          </a:p>
          <a:p>
            <a:r>
              <a:rPr lang="en-US" sz="1333" dirty="0">
                <a:solidFill>
                  <a:srgbClr val="24184E"/>
                </a:solidFill>
                <a:latin typeface="Montserrat" pitchFamily="34" charset="0"/>
                <a:ea typeface="Montserrat" pitchFamily="34" charset="-122"/>
                <a:cs typeface="Montserrat" pitchFamily="34" charset="-120"/>
              </a:rPr>
              <a:t>тип, оборудование</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ML-модуль: результаты обучения</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8 / 12</a:t>
            </a:r>
            <a:endParaRPr lang="en-US" sz="1333" dirty="0"/>
          </a:p>
        </p:txBody>
      </p:sp>
      <p:graphicFrame>
        <p:nvGraphicFramePr>
          <p:cNvPr id="8" name="Chart 0"/>
          <p:cNvGraphicFramePr/>
          <p:nvPr/>
        </p:nvGraphicFramePr>
        <p:xfrm>
          <a:off x="670560" y="1584960"/>
          <a:ext cx="6461760" cy="45110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498080" y="1706880"/>
            <a:ext cx="4267200" cy="1889760"/>
          </a:xfrm>
          <a:prstGeom prst="rect">
            <a:avLst/>
          </a:prstGeom>
          <a:solidFill>
            <a:srgbClr val="E85362"/>
          </a:solidFill>
          <a:ln w="12700">
            <a:solidFill>
              <a:srgbClr val="E85362"/>
            </a:solidFill>
            <a:prstDash val="solid"/>
          </a:ln>
        </p:spPr>
        <p:txBody>
          <a:bodyPr/>
          <a:lstStyle/>
          <a:p>
            <a:endParaRPr lang="ru-RU" sz="2400"/>
          </a:p>
        </p:txBody>
      </p:sp>
      <p:sp>
        <p:nvSpPr>
          <p:cNvPr id="10" name="Text 7"/>
          <p:cNvSpPr/>
          <p:nvPr/>
        </p:nvSpPr>
        <p:spPr>
          <a:xfrm>
            <a:off x="7498080" y="1767840"/>
            <a:ext cx="4267200" cy="1767840"/>
          </a:xfrm>
          <a:prstGeom prst="rect">
            <a:avLst/>
          </a:prstGeom>
          <a:noFill/>
          <a:ln/>
        </p:spPr>
        <p:txBody>
          <a:bodyPr wrap="square" lIns="0" tIns="0" rIns="0" bIns="0" rtlCol="0" anchor="ctr"/>
          <a:lstStyle/>
          <a:p>
            <a:pPr algn="ctr"/>
            <a:r>
              <a:rPr lang="en-US" sz="5333" b="1" dirty="0">
                <a:solidFill>
                  <a:srgbClr val="FFFFFF"/>
                </a:solidFill>
                <a:latin typeface="Montserrat SemiBold" pitchFamily="34" charset="0"/>
                <a:ea typeface="Montserrat SemiBold" pitchFamily="34" charset="-122"/>
                <a:cs typeface="Montserrat SemiBold" pitchFamily="34" charset="-120"/>
              </a:rPr>
              <a:t>−39 %</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снижение MAE</a:t>
            </a:r>
            <a:endParaRPr lang="en-US" sz="5333" dirty="0"/>
          </a:p>
          <a:p>
            <a:pPr algn="ctr"/>
            <a:r>
              <a:rPr lang="en-US" sz="1467" dirty="0">
                <a:solidFill>
                  <a:srgbClr val="FFFFFF"/>
                </a:solidFill>
                <a:latin typeface="Montserrat" pitchFamily="34" charset="0"/>
                <a:ea typeface="Montserrat" pitchFamily="34" charset="-122"/>
                <a:cs typeface="Montserrat" pitchFamily="34" charset="-120"/>
              </a:rPr>
              <a:t>LightGBM vs Naive</a:t>
            </a:r>
            <a:endParaRPr lang="en-US" sz="5333" dirty="0"/>
          </a:p>
        </p:txBody>
      </p:sp>
      <p:sp>
        <p:nvSpPr>
          <p:cNvPr id="11" name="Shape 8"/>
          <p:cNvSpPr/>
          <p:nvPr/>
        </p:nvSpPr>
        <p:spPr>
          <a:xfrm>
            <a:off x="7498080" y="3779520"/>
            <a:ext cx="4267200" cy="2316480"/>
          </a:xfrm>
          <a:prstGeom prst="rect">
            <a:avLst/>
          </a:prstGeom>
          <a:solidFill>
            <a:srgbClr val="E8E0F7"/>
          </a:solidFill>
          <a:ln w="12700">
            <a:solidFill>
              <a:srgbClr val="372579"/>
            </a:solidFill>
            <a:prstDash val="solid"/>
          </a:ln>
        </p:spPr>
        <p:txBody>
          <a:bodyPr/>
          <a:lstStyle/>
          <a:p>
            <a:endParaRPr lang="ru-RU" sz="2400"/>
          </a:p>
        </p:txBody>
      </p:sp>
      <p:sp>
        <p:nvSpPr>
          <p:cNvPr id="12" name="Shape 9"/>
          <p:cNvSpPr/>
          <p:nvPr/>
        </p:nvSpPr>
        <p:spPr>
          <a:xfrm>
            <a:off x="7498080" y="3779520"/>
            <a:ext cx="4267200" cy="487680"/>
          </a:xfrm>
          <a:prstGeom prst="rect">
            <a:avLst/>
          </a:prstGeom>
          <a:solidFill>
            <a:srgbClr val="372579"/>
          </a:solidFill>
          <a:ln w="12700">
            <a:solidFill>
              <a:srgbClr val="372579"/>
            </a:solidFill>
            <a:prstDash val="solid"/>
          </a:ln>
        </p:spPr>
        <p:txBody>
          <a:bodyPr/>
          <a:lstStyle/>
          <a:p>
            <a:endParaRPr lang="ru-RU" sz="2400"/>
          </a:p>
        </p:txBody>
      </p:sp>
      <p:sp>
        <p:nvSpPr>
          <p:cNvPr id="13" name="Text 10"/>
          <p:cNvSpPr/>
          <p:nvPr/>
        </p:nvSpPr>
        <p:spPr>
          <a:xfrm>
            <a:off x="7498080" y="3779520"/>
            <a:ext cx="4267200" cy="487680"/>
          </a:xfrm>
          <a:prstGeom prst="rect">
            <a:avLst/>
          </a:prstGeom>
          <a:noFill/>
          <a:ln/>
        </p:spPr>
        <p:txBody>
          <a:bodyPr wrap="square" rtlCol="0" anchor="ctr"/>
          <a:lstStyle/>
          <a:p>
            <a:pPr algn="ctr"/>
            <a:r>
              <a:rPr lang="en-US" sz="1333" b="1" spc="267" dirty="0">
                <a:solidFill>
                  <a:srgbClr val="FFFFFF"/>
                </a:solidFill>
                <a:latin typeface="Montserrat SemiBold" pitchFamily="34" charset="0"/>
                <a:ea typeface="Montserrat SemiBold" pitchFamily="34" charset="-122"/>
                <a:cs typeface="Montserrat SemiBold" pitchFamily="34" charset="-120"/>
              </a:rPr>
              <a:t>СООТВЕТСТВИЕ ПАЙПЛАЙНОВ</a:t>
            </a:r>
            <a:endParaRPr lang="en-US" sz="1333" dirty="0"/>
          </a:p>
        </p:txBody>
      </p:sp>
      <p:sp>
        <p:nvSpPr>
          <p:cNvPr id="14" name="Text 11"/>
          <p:cNvSpPr/>
          <p:nvPr/>
        </p:nvSpPr>
        <p:spPr>
          <a:xfrm>
            <a:off x="7680960" y="4328160"/>
            <a:ext cx="3901440" cy="1706880"/>
          </a:xfrm>
          <a:prstGeom prst="rect">
            <a:avLst/>
          </a:prstGeom>
          <a:noFill/>
          <a:ln/>
        </p:spPr>
        <p:txBody>
          <a:bodyPr wrap="square" rtlCol="0" anchor="t"/>
          <a:lstStyle/>
          <a:p>
            <a:pPr>
              <a:spcAft>
                <a:spcPts val="533"/>
              </a:spcAft>
            </a:pPr>
            <a:r>
              <a:rPr lang="en-US" sz="1333" dirty="0">
                <a:solidFill>
                  <a:srgbClr val="24184E"/>
                </a:solidFill>
                <a:latin typeface="Montserrat" pitchFamily="34" charset="0"/>
                <a:ea typeface="Montserrat" pitchFamily="34" charset="-122"/>
                <a:cs typeface="Montserrat" pitchFamily="34" charset="-120"/>
              </a:rPr>
              <a:t>Python (LightGBM) ↔ C# (ONNX):</a:t>
            </a:r>
            <a:endParaRPr lang="en-US" sz="1333" dirty="0"/>
          </a:p>
          <a:p>
            <a:r>
              <a:rPr lang="en-US" sz="1333" dirty="0">
                <a:solidFill>
                  <a:srgbClr val="6B6280"/>
                </a:solidFill>
                <a:latin typeface="Montserrat" pitchFamily="34" charset="0"/>
                <a:ea typeface="Montserrat" pitchFamily="34" charset="-122"/>
                <a:cs typeface="Montserrat" pitchFamily="34" charset="-120"/>
              </a:rPr>
              <a:t>медиана: </a:t>
            </a:r>
            <a:r>
              <a:rPr lang="en-US" sz="1733" b="1" dirty="0">
                <a:solidFill>
                  <a:srgbClr val="E85362"/>
                </a:solidFill>
                <a:latin typeface="Montserrat SemiBold" pitchFamily="34" charset="0"/>
                <a:ea typeface="Montserrat SemiBold" pitchFamily="34" charset="-122"/>
                <a:cs typeface="Montserrat SemiBold" pitchFamily="34" charset="-120"/>
              </a:rPr>
              <a:t>1,6 × 10⁻⁵ кг</a:t>
            </a:r>
            <a:endParaRPr lang="en-US" sz="1333" dirty="0"/>
          </a:p>
          <a:p>
            <a:r>
              <a:rPr lang="en-US" sz="1333" dirty="0">
                <a:solidFill>
                  <a:srgbClr val="6B6280"/>
                </a:solidFill>
                <a:latin typeface="Montserrat" pitchFamily="34" charset="0"/>
                <a:ea typeface="Montserrat" pitchFamily="34" charset="-122"/>
                <a:cs typeface="Montserrat" pitchFamily="34" charset="-120"/>
              </a:rPr>
              <a:t>p99: </a:t>
            </a:r>
            <a:r>
              <a:rPr lang="en-US" sz="1733" b="1" dirty="0">
                <a:solidFill>
                  <a:srgbClr val="E85362"/>
                </a:solidFill>
                <a:latin typeface="Montserrat SemiBold" pitchFamily="34" charset="0"/>
                <a:ea typeface="Montserrat SemiBold" pitchFamily="34" charset="-122"/>
                <a:cs typeface="Montserrat SemiBold" pitchFamily="34" charset="-120"/>
              </a:rPr>
              <a:t>0,082 кг</a:t>
            </a:r>
            <a:endParaRPr lang="en-US" sz="1333"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Облачная синхронизация</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9 / 12</a:t>
            </a:r>
            <a:endParaRPr lang="en-US" sz="1333" dirty="0"/>
          </a:p>
        </p:txBody>
      </p:sp>
      <p:sp>
        <p:nvSpPr>
          <p:cNvPr id="8" name="Shape 6"/>
          <p:cNvSpPr/>
          <p:nvPr/>
        </p:nvSpPr>
        <p:spPr>
          <a:xfrm>
            <a:off x="975360" y="1584960"/>
            <a:ext cx="2072640" cy="731520"/>
          </a:xfrm>
          <a:prstGeom prst="rect">
            <a:avLst/>
          </a:prstGeom>
          <a:solidFill>
            <a:srgbClr val="372579"/>
          </a:solidFill>
          <a:ln w="12700">
            <a:solidFill>
              <a:srgbClr val="372579"/>
            </a:solidFill>
            <a:prstDash val="solid"/>
          </a:ln>
        </p:spPr>
        <p:txBody>
          <a:bodyPr/>
          <a:lstStyle/>
          <a:p>
            <a:endParaRPr lang="ru-RU" sz="2400"/>
          </a:p>
        </p:txBody>
      </p:sp>
      <p:sp>
        <p:nvSpPr>
          <p:cNvPr id="9" name="Text 7"/>
          <p:cNvSpPr/>
          <p:nvPr/>
        </p:nvSpPr>
        <p:spPr>
          <a:xfrm>
            <a:off x="975360" y="1584960"/>
            <a:ext cx="2072640" cy="731520"/>
          </a:xfrm>
          <a:prstGeom prst="rect">
            <a:avLst/>
          </a:prstGeom>
          <a:noFill/>
          <a:ln/>
        </p:spPr>
        <p:txBody>
          <a:bodyPr wrap="square" rtlCol="0" anchor="ctr"/>
          <a:lstStyle/>
          <a:p>
            <a:pPr algn="ctr"/>
            <a:r>
              <a:rPr lang="en-US" sz="1333" b="1" spc="133" dirty="0">
                <a:solidFill>
                  <a:srgbClr val="FFFFFF"/>
                </a:solidFill>
                <a:latin typeface="Montserrat SemiBold" pitchFamily="34" charset="0"/>
                <a:ea typeface="Montserrat SemiBold" pitchFamily="34" charset="-122"/>
                <a:cs typeface="Montserrat SemiBold" pitchFamily="34" charset="-120"/>
              </a:rPr>
              <a:t>КЛИЕНТ</a:t>
            </a:r>
            <a:endParaRPr lang="en-US" sz="1333" dirty="0"/>
          </a:p>
          <a:p>
            <a:pPr algn="ctr"/>
            <a:r>
              <a:rPr lang="en-US" sz="1333" b="1" spc="133" dirty="0">
                <a:solidFill>
                  <a:srgbClr val="FFFFFF"/>
                </a:solidFill>
                <a:latin typeface="Montserrat SemiBold" pitchFamily="34" charset="0"/>
                <a:ea typeface="Montserrat SemiBold" pitchFamily="34" charset="-122"/>
                <a:cs typeface="Montserrat SemiBold" pitchFamily="34" charset="-120"/>
              </a:rPr>
              <a:t>.NET MAUI</a:t>
            </a:r>
            <a:endParaRPr lang="en-US" sz="1333" dirty="0"/>
          </a:p>
        </p:txBody>
      </p:sp>
      <p:sp>
        <p:nvSpPr>
          <p:cNvPr id="10" name="Shape 8"/>
          <p:cNvSpPr/>
          <p:nvPr/>
        </p:nvSpPr>
        <p:spPr>
          <a:xfrm>
            <a:off x="2011680" y="2316480"/>
            <a:ext cx="0" cy="3413760"/>
          </a:xfrm>
          <a:prstGeom prst="line">
            <a:avLst/>
          </a:prstGeom>
          <a:noFill/>
          <a:ln w="12700">
            <a:solidFill>
              <a:srgbClr val="372579"/>
            </a:solidFill>
            <a:prstDash val="dash"/>
          </a:ln>
        </p:spPr>
        <p:txBody>
          <a:bodyPr/>
          <a:lstStyle/>
          <a:p>
            <a:endParaRPr lang="ru-RU" sz="2400"/>
          </a:p>
        </p:txBody>
      </p:sp>
      <p:sp>
        <p:nvSpPr>
          <p:cNvPr id="11" name="Shape 9"/>
          <p:cNvSpPr/>
          <p:nvPr/>
        </p:nvSpPr>
        <p:spPr>
          <a:xfrm>
            <a:off x="5242560" y="1584960"/>
            <a:ext cx="2072640" cy="731520"/>
          </a:xfrm>
          <a:prstGeom prst="rect">
            <a:avLst/>
          </a:prstGeom>
          <a:solidFill>
            <a:srgbClr val="47309C"/>
          </a:solidFill>
          <a:ln w="12700">
            <a:solidFill>
              <a:srgbClr val="47309C"/>
            </a:solidFill>
            <a:prstDash val="solid"/>
          </a:ln>
        </p:spPr>
        <p:txBody>
          <a:bodyPr/>
          <a:lstStyle/>
          <a:p>
            <a:endParaRPr lang="ru-RU" sz="2400"/>
          </a:p>
        </p:txBody>
      </p:sp>
      <p:sp>
        <p:nvSpPr>
          <p:cNvPr id="12" name="Text 10"/>
          <p:cNvSpPr/>
          <p:nvPr/>
        </p:nvSpPr>
        <p:spPr>
          <a:xfrm>
            <a:off x="5242560" y="1584960"/>
            <a:ext cx="2072640" cy="731520"/>
          </a:xfrm>
          <a:prstGeom prst="rect">
            <a:avLst/>
          </a:prstGeom>
          <a:noFill/>
          <a:ln/>
        </p:spPr>
        <p:txBody>
          <a:bodyPr wrap="square" rtlCol="0" anchor="ctr"/>
          <a:lstStyle/>
          <a:p>
            <a:pPr algn="ctr"/>
            <a:r>
              <a:rPr lang="en-US" sz="1333" b="1" spc="133" dirty="0">
                <a:solidFill>
                  <a:srgbClr val="FFFFFF"/>
                </a:solidFill>
                <a:latin typeface="Montserrat SemiBold" pitchFamily="34" charset="0"/>
                <a:ea typeface="Montserrat SemiBold" pitchFamily="34" charset="-122"/>
                <a:cs typeface="Montserrat SemiBold" pitchFamily="34" charset="-120"/>
              </a:rPr>
              <a:t>СЕРВЕР</a:t>
            </a:r>
            <a:endParaRPr lang="en-US" sz="1333" dirty="0"/>
          </a:p>
          <a:p>
            <a:pPr algn="ctr"/>
            <a:r>
              <a:rPr lang="en-US" sz="1333" b="1" spc="133" dirty="0">
                <a:solidFill>
                  <a:srgbClr val="FFFFFF"/>
                </a:solidFill>
                <a:latin typeface="Montserrat SemiBold" pitchFamily="34" charset="0"/>
                <a:ea typeface="Montserrat SemiBold" pitchFamily="34" charset="-122"/>
                <a:cs typeface="Montserrat SemiBold" pitchFamily="34" charset="-120"/>
              </a:rPr>
              <a:t>ASP.NET Core</a:t>
            </a:r>
            <a:endParaRPr lang="en-US" sz="1333" dirty="0"/>
          </a:p>
        </p:txBody>
      </p:sp>
      <p:sp>
        <p:nvSpPr>
          <p:cNvPr id="13" name="Shape 11"/>
          <p:cNvSpPr/>
          <p:nvPr/>
        </p:nvSpPr>
        <p:spPr>
          <a:xfrm>
            <a:off x="6278880" y="2316480"/>
            <a:ext cx="0" cy="3413760"/>
          </a:xfrm>
          <a:prstGeom prst="line">
            <a:avLst/>
          </a:prstGeom>
          <a:noFill/>
          <a:ln w="12700">
            <a:solidFill>
              <a:srgbClr val="47309C"/>
            </a:solidFill>
            <a:prstDash val="dash"/>
          </a:ln>
        </p:spPr>
        <p:txBody>
          <a:bodyPr/>
          <a:lstStyle/>
          <a:p>
            <a:endParaRPr lang="ru-RU" sz="2400"/>
          </a:p>
        </p:txBody>
      </p:sp>
      <p:sp>
        <p:nvSpPr>
          <p:cNvPr id="14" name="Shape 12"/>
          <p:cNvSpPr/>
          <p:nvPr/>
        </p:nvSpPr>
        <p:spPr>
          <a:xfrm>
            <a:off x="9509760" y="1584960"/>
            <a:ext cx="2072640" cy="731520"/>
          </a:xfrm>
          <a:prstGeom prst="rect">
            <a:avLst/>
          </a:prstGeom>
          <a:solidFill>
            <a:srgbClr val="E85362"/>
          </a:solidFill>
          <a:ln w="12700">
            <a:solidFill>
              <a:srgbClr val="E85362"/>
            </a:solidFill>
            <a:prstDash val="solid"/>
          </a:ln>
        </p:spPr>
        <p:txBody>
          <a:bodyPr/>
          <a:lstStyle/>
          <a:p>
            <a:endParaRPr lang="ru-RU" sz="2400"/>
          </a:p>
        </p:txBody>
      </p:sp>
      <p:sp>
        <p:nvSpPr>
          <p:cNvPr id="15" name="Text 13"/>
          <p:cNvSpPr/>
          <p:nvPr/>
        </p:nvSpPr>
        <p:spPr>
          <a:xfrm>
            <a:off x="9509760" y="1584960"/>
            <a:ext cx="2072640" cy="731520"/>
          </a:xfrm>
          <a:prstGeom prst="rect">
            <a:avLst/>
          </a:prstGeom>
          <a:noFill/>
          <a:ln/>
        </p:spPr>
        <p:txBody>
          <a:bodyPr wrap="square" rtlCol="0" anchor="ctr"/>
          <a:lstStyle/>
          <a:p>
            <a:pPr algn="ctr"/>
            <a:r>
              <a:rPr lang="en-US" sz="1333" b="1" spc="133" dirty="0">
                <a:solidFill>
                  <a:srgbClr val="FFFFFF"/>
                </a:solidFill>
                <a:latin typeface="Montserrat SemiBold" pitchFamily="34" charset="0"/>
                <a:ea typeface="Montserrat SemiBold" pitchFamily="34" charset="-122"/>
                <a:cs typeface="Montserrat SemiBold" pitchFamily="34" charset="-120"/>
              </a:rPr>
              <a:t>POSTGRESQL</a:t>
            </a:r>
            <a:endParaRPr lang="en-US" sz="1333" dirty="0"/>
          </a:p>
          <a:p>
            <a:pPr algn="ctr"/>
            <a:r>
              <a:rPr lang="en-US" sz="1333" b="1" spc="133" dirty="0">
                <a:solidFill>
                  <a:srgbClr val="FFFFFF"/>
                </a:solidFill>
                <a:latin typeface="Montserrat SemiBold" pitchFamily="34" charset="0"/>
                <a:ea typeface="Montserrat SemiBold" pitchFamily="34" charset="-122"/>
                <a:cs typeface="Montserrat SemiBold" pitchFamily="34" charset="-120"/>
              </a:rPr>
              <a:t>Neon</a:t>
            </a:r>
            <a:endParaRPr lang="en-US" sz="1333" dirty="0"/>
          </a:p>
        </p:txBody>
      </p:sp>
      <p:sp>
        <p:nvSpPr>
          <p:cNvPr id="16" name="Shape 14"/>
          <p:cNvSpPr/>
          <p:nvPr/>
        </p:nvSpPr>
        <p:spPr>
          <a:xfrm>
            <a:off x="10546080" y="2316480"/>
            <a:ext cx="0" cy="3413760"/>
          </a:xfrm>
          <a:prstGeom prst="line">
            <a:avLst/>
          </a:prstGeom>
          <a:noFill/>
          <a:ln w="12700">
            <a:solidFill>
              <a:srgbClr val="E85362"/>
            </a:solidFill>
            <a:prstDash val="dash"/>
          </a:ln>
        </p:spPr>
        <p:txBody>
          <a:bodyPr/>
          <a:lstStyle/>
          <a:p>
            <a:endParaRPr lang="ru-RU" sz="2400"/>
          </a:p>
        </p:txBody>
      </p:sp>
      <p:sp>
        <p:nvSpPr>
          <p:cNvPr id="17" name="Shape 15"/>
          <p:cNvSpPr/>
          <p:nvPr/>
        </p:nvSpPr>
        <p:spPr>
          <a:xfrm>
            <a:off x="2011680" y="2743200"/>
            <a:ext cx="4267200" cy="0"/>
          </a:xfrm>
          <a:prstGeom prst="line">
            <a:avLst/>
          </a:prstGeom>
          <a:noFill/>
          <a:ln w="19050">
            <a:solidFill>
              <a:srgbClr val="24184E"/>
            </a:solidFill>
            <a:prstDash val="solid"/>
            <a:headEnd type="none"/>
            <a:tailEnd type="triangle"/>
          </a:ln>
        </p:spPr>
        <p:txBody>
          <a:bodyPr/>
          <a:lstStyle/>
          <a:p>
            <a:endParaRPr lang="ru-RU" sz="2400"/>
          </a:p>
        </p:txBody>
      </p:sp>
      <p:sp>
        <p:nvSpPr>
          <p:cNvPr id="18" name="Text 16"/>
          <p:cNvSpPr/>
          <p:nvPr/>
        </p:nvSpPr>
        <p:spPr>
          <a:xfrm>
            <a:off x="2011680" y="237744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1. POST /sync  { pushBatch, lastSyncUtc }</a:t>
            </a:r>
            <a:endParaRPr lang="en-US" sz="1333" dirty="0"/>
          </a:p>
        </p:txBody>
      </p:sp>
      <p:sp>
        <p:nvSpPr>
          <p:cNvPr id="19" name="Shape 17"/>
          <p:cNvSpPr/>
          <p:nvPr/>
        </p:nvSpPr>
        <p:spPr>
          <a:xfrm>
            <a:off x="6278880" y="3474720"/>
            <a:ext cx="4267200" cy="0"/>
          </a:xfrm>
          <a:prstGeom prst="line">
            <a:avLst/>
          </a:prstGeom>
          <a:noFill/>
          <a:ln w="19050">
            <a:solidFill>
              <a:srgbClr val="24184E"/>
            </a:solidFill>
            <a:prstDash val="solid"/>
            <a:headEnd type="none"/>
            <a:tailEnd type="triangle"/>
          </a:ln>
        </p:spPr>
        <p:txBody>
          <a:bodyPr/>
          <a:lstStyle/>
          <a:p>
            <a:endParaRPr lang="ru-RU" sz="2400"/>
          </a:p>
        </p:txBody>
      </p:sp>
      <p:sp>
        <p:nvSpPr>
          <p:cNvPr id="20" name="Text 18"/>
          <p:cNvSpPr/>
          <p:nvPr/>
        </p:nvSpPr>
        <p:spPr>
          <a:xfrm>
            <a:off x="6278880" y="310896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2. UPSERT (LWW: UpdatedAt)</a:t>
            </a:r>
            <a:endParaRPr lang="en-US" sz="1333" dirty="0"/>
          </a:p>
        </p:txBody>
      </p:sp>
      <p:sp>
        <p:nvSpPr>
          <p:cNvPr id="21" name="Shape 19"/>
          <p:cNvSpPr/>
          <p:nvPr/>
        </p:nvSpPr>
        <p:spPr>
          <a:xfrm>
            <a:off x="6278880" y="4206240"/>
            <a:ext cx="4267200" cy="0"/>
          </a:xfrm>
          <a:prstGeom prst="line">
            <a:avLst/>
          </a:prstGeom>
          <a:noFill/>
          <a:ln w="19050">
            <a:solidFill>
              <a:srgbClr val="24184E"/>
            </a:solidFill>
            <a:prstDash val="dash"/>
            <a:headEnd type="triangle"/>
            <a:tailEnd type="none"/>
          </a:ln>
        </p:spPr>
        <p:txBody>
          <a:bodyPr/>
          <a:lstStyle/>
          <a:p>
            <a:endParaRPr lang="ru-RU" sz="2400"/>
          </a:p>
        </p:txBody>
      </p:sp>
      <p:sp>
        <p:nvSpPr>
          <p:cNvPr id="22" name="Text 20"/>
          <p:cNvSpPr/>
          <p:nvPr/>
        </p:nvSpPr>
        <p:spPr>
          <a:xfrm>
            <a:off x="6278880" y="384048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3. COMMIT</a:t>
            </a:r>
            <a:endParaRPr lang="en-US" sz="1333" dirty="0"/>
          </a:p>
        </p:txBody>
      </p:sp>
      <p:sp>
        <p:nvSpPr>
          <p:cNvPr id="23" name="Shape 21"/>
          <p:cNvSpPr/>
          <p:nvPr/>
        </p:nvSpPr>
        <p:spPr>
          <a:xfrm>
            <a:off x="2011680" y="4937760"/>
            <a:ext cx="4267200" cy="0"/>
          </a:xfrm>
          <a:prstGeom prst="line">
            <a:avLst/>
          </a:prstGeom>
          <a:noFill/>
          <a:ln w="19050">
            <a:solidFill>
              <a:srgbClr val="24184E"/>
            </a:solidFill>
            <a:prstDash val="dash"/>
            <a:headEnd type="triangle"/>
            <a:tailEnd type="none"/>
          </a:ln>
        </p:spPr>
        <p:txBody>
          <a:bodyPr/>
          <a:lstStyle/>
          <a:p>
            <a:endParaRPr lang="ru-RU" sz="2400"/>
          </a:p>
        </p:txBody>
      </p:sp>
      <p:sp>
        <p:nvSpPr>
          <p:cNvPr id="24" name="Text 22"/>
          <p:cNvSpPr/>
          <p:nvPr/>
        </p:nvSpPr>
        <p:spPr>
          <a:xfrm>
            <a:off x="2011680" y="4572000"/>
            <a:ext cx="4267200" cy="304800"/>
          </a:xfrm>
          <a:prstGeom prst="rect">
            <a:avLst/>
          </a:prstGeom>
          <a:noFill/>
          <a:ln/>
        </p:spPr>
        <p:txBody>
          <a:bodyPr wrap="square" lIns="0" tIns="0" rIns="0" bIns="0" rtlCol="0" anchor="ctr"/>
          <a:lstStyle/>
          <a:p>
            <a:pPr algn="ctr"/>
            <a:r>
              <a:rPr lang="en-US" sz="1333" dirty="0">
                <a:solidFill>
                  <a:srgbClr val="24184E"/>
                </a:solidFill>
                <a:latin typeface="Montserrat" pitchFamily="34" charset="0"/>
                <a:ea typeface="Montserrat" pitchFamily="34" charset="-122"/>
                <a:cs typeface="Montserrat" pitchFamily="34" charset="-120"/>
              </a:rPr>
              <a:t>4. HTTP 200 { pullBatch, serverTimeUtc }</a:t>
            </a:r>
            <a:endParaRPr lang="en-US" sz="1333" dirty="0"/>
          </a:p>
        </p:txBody>
      </p:sp>
      <p:sp>
        <p:nvSpPr>
          <p:cNvPr id="25" name="Shape 23"/>
          <p:cNvSpPr/>
          <p:nvPr/>
        </p:nvSpPr>
        <p:spPr>
          <a:xfrm>
            <a:off x="670560" y="5791200"/>
            <a:ext cx="11033760" cy="548640"/>
          </a:xfrm>
          <a:prstGeom prst="rect">
            <a:avLst/>
          </a:prstGeom>
          <a:solidFill>
            <a:srgbClr val="E8E0F7"/>
          </a:solidFill>
          <a:ln w="6350">
            <a:solidFill>
              <a:srgbClr val="372579"/>
            </a:solidFill>
            <a:prstDash val="solid"/>
          </a:ln>
        </p:spPr>
        <p:txBody>
          <a:bodyPr/>
          <a:lstStyle/>
          <a:p>
            <a:endParaRPr lang="ru-RU" sz="2400"/>
          </a:p>
        </p:txBody>
      </p:sp>
      <p:sp>
        <p:nvSpPr>
          <p:cNvPr id="26" name="Shape 24"/>
          <p:cNvSpPr/>
          <p:nvPr/>
        </p:nvSpPr>
        <p:spPr>
          <a:xfrm>
            <a:off x="670560" y="5791200"/>
            <a:ext cx="121920" cy="548640"/>
          </a:xfrm>
          <a:prstGeom prst="rect">
            <a:avLst/>
          </a:prstGeom>
          <a:solidFill>
            <a:srgbClr val="E85362"/>
          </a:solidFill>
          <a:ln w="12700">
            <a:solidFill>
              <a:srgbClr val="E85362"/>
            </a:solidFill>
            <a:prstDash val="solid"/>
          </a:ln>
        </p:spPr>
        <p:txBody>
          <a:bodyPr/>
          <a:lstStyle/>
          <a:p>
            <a:endParaRPr lang="ru-RU" sz="2400"/>
          </a:p>
        </p:txBody>
      </p:sp>
      <p:sp>
        <p:nvSpPr>
          <p:cNvPr id="27" name="Text 25"/>
          <p:cNvSpPr/>
          <p:nvPr/>
        </p:nvSpPr>
        <p:spPr>
          <a:xfrm>
            <a:off x="975360" y="5815584"/>
            <a:ext cx="10668000" cy="487680"/>
          </a:xfrm>
          <a:prstGeom prst="rect">
            <a:avLst/>
          </a:prstGeom>
          <a:noFill/>
          <a:ln/>
        </p:spPr>
        <p:txBody>
          <a:bodyPr wrap="square" lIns="0" tIns="0" rIns="0" bIns="0" rtlCol="0" anchor="ctr"/>
          <a:lstStyle/>
          <a:p>
            <a:r>
              <a:rPr lang="en-US" sz="1467" b="1" dirty="0">
                <a:solidFill>
                  <a:srgbClr val="372579"/>
                </a:solidFill>
                <a:latin typeface="Montserrat SemiBold" pitchFamily="34" charset="0"/>
                <a:ea typeface="Montserrat SemiBold" pitchFamily="34" charset="-122"/>
                <a:cs typeface="Montserrat SemiBold" pitchFamily="34" charset="-120"/>
              </a:rPr>
              <a:t>LWW: </a:t>
            </a:r>
            <a:r>
              <a:rPr lang="en-US" sz="1467" dirty="0">
                <a:solidFill>
                  <a:srgbClr val="24184E"/>
                </a:solidFill>
                <a:latin typeface="Consolas" pitchFamily="34" charset="0"/>
                <a:ea typeface="Consolas" pitchFamily="34" charset="-122"/>
                <a:cs typeface="Consolas" pitchFamily="34" charset="-120"/>
              </a:rPr>
              <a:t>ON CONFLICT(SyncId) DO UPDATE WHERE excluded.UpdatedAt &gt; existing.UpdatedAt</a:t>
            </a:r>
            <a:endParaRPr lang="en-US" sz="146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Тестирование и результаты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10 / 12</a:t>
            </a:r>
            <a:endParaRPr lang="en-US" sz="1333" dirty="0"/>
          </a:p>
        </p:txBody>
      </p:sp>
      <p:sp>
        <p:nvSpPr>
          <p:cNvPr id="8" name="Text 6"/>
          <p:cNvSpPr/>
          <p:nvPr/>
        </p:nvSpPr>
        <p:spPr>
          <a:xfrm>
            <a:off x="670560" y="1584960"/>
            <a:ext cx="5486400" cy="426720"/>
          </a:xfrm>
          <a:prstGeom prst="rect">
            <a:avLst/>
          </a:prstGeom>
          <a:noFill/>
          <a:ln/>
        </p:spPr>
        <p:txBody>
          <a:bodyPr wrap="square" rtlCol="0" anchor="ctr"/>
          <a:lstStyle/>
          <a:p>
            <a:r>
              <a:rPr lang="en-US" sz="1600" b="1" spc="267" dirty="0">
                <a:solidFill>
                  <a:srgbClr val="372579"/>
                </a:solidFill>
                <a:latin typeface="Montserrat SemiBold" pitchFamily="34" charset="0"/>
                <a:ea typeface="Montserrat SemiBold" pitchFamily="34" charset="-122"/>
                <a:cs typeface="Montserrat SemiBold" pitchFamily="34" charset="-120"/>
              </a:rPr>
              <a:t>ФУНКЦИОНАЛЬНЫЕ И ИНТЕГРАЦИОННЫЕ</a:t>
            </a:r>
            <a:endParaRPr lang="en-US" sz="1600" dirty="0"/>
          </a:p>
        </p:txBody>
      </p:sp>
      <p:sp>
        <p:nvSpPr>
          <p:cNvPr id="9" name="Shape 7"/>
          <p:cNvSpPr/>
          <p:nvPr/>
        </p:nvSpPr>
        <p:spPr>
          <a:xfrm>
            <a:off x="670560" y="213360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0" name="Text 8"/>
          <p:cNvSpPr/>
          <p:nvPr/>
        </p:nvSpPr>
        <p:spPr>
          <a:xfrm>
            <a:off x="792480" y="219456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24</a:t>
            </a:r>
            <a:endParaRPr lang="en-US" sz="2933" dirty="0"/>
          </a:p>
        </p:txBody>
      </p:sp>
      <p:sp>
        <p:nvSpPr>
          <p:cNvPr id="11" name="Text 9"/>
          <p:cNvSpPr/>
          <p:nvPr/>
        </p:nvSpPr>
        <p:spPr>
          <a:xfrm>
            <a:off x="1767840" y="219456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функциональных теста</a:t>
            </a:r>
            <a:endParaRPr lang="en-US" sz="1467" dirty="0"/>
          </a:p>
        </p:txBody>
      </p:sp>
      <p:sp>
        <p:nvSpPr>
          <p:cNvPr id="12" name="Shape 10"/>
          <p:cNvSpPr/>
          <p:nvPr/>
        </p:nvSpPr>
        <p:spPr>
          <a:xfrm>
            <a:off x="670560" y="292608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3" name="Text 11"/>
          <p:cNvSpPr/>
          <p:nvPr/>
        </p:nvSpPr>
        <p:spPr>
          <a:xfrm>
            <a:off x="792480" y="298704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8</a:t>
            </a:r>
            <a:endParaRPr lang="en-US" sz="2933" dirty="0"/>
          </a:p>
        </p:txBody>
      </p:sp>
      <p:sp>
        <p:nvSpPr>
          <p:cNvPr id="14" name="Text 12"/>
          <p:cNvSpPr/>
          <p:nvPr/>
        </p:nvSpPr>
        <p:spPr>
          <a:xfrm>
            <a:off x="1767840" y="298704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ключевых сценариев пройдены</a:t>
            </a:r>
            <a:endParaRPr lang="en-US" sz="1467" dirty="0"/>
          </a:p>
        </p:txBody>
      </p:sp>
      <p:sp>
        <p:nvSpPr>
          <p:cNvPr id="15" name="Shape 13"/>
          <p:cNvSpPr/>
          <p:nvPr/>
        </p:nvSpPr>
        <p:spPr>
          <a:xfrm>
            <a:off x="670560" y="371856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6" name="Text 14"/>
          <p:cNvSpPr/>
          <p:nvPr/>
        </p:nvSpPr>
        <p:spPr>
          <a:xfrm>
            <a:off x="792480" y="377952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4</a:t>
            </a:r>
            <a:endParaRPr lang="en-US" sz="2933" dirty="0"/>
          </a:p>
        </p:txBody>
      </p:sp>
      <p:sp>
        <p:nvSpPr>
          <p:cNvPr id="17" name="Text 15"/>
          <p:cNvSpPr/>
          <p:nvPr/>
        </p:nvSpPr>
        <p:spPr>
          <a:xfrm>
            <a:off x="1767840" y="377952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сценария синхронизации</a:t>
            </a:r>
            <a:endParaRPr lang="en-US" sz="1467" dirty="0"/>
          </a:p>
        </p:txBody>
      </p:sp>
      <p:sp>
        <p:nvSpPr>
          <p:cNvPr id="18" name="Shape 16"/>
          <p:cNvSpPr/>
          <p:nvPr/>
        </p:nvSpPr>
        <p:spPr>
          <a:xfrm>
            <a:off x="670560" y="4511040"/>
            <a:ext cx="5486400" cy="670560"/>
          </a:xfrm>
          <a:prstGeom prst="rect">
            <a:avLst/>
          </a:prstGeom>
          <a:solidFill>
            <a:srgbClr val="E8E0F7"/>
          </a:solidFill>
          <a:ln w="6350">
            <a:solidFill>
              <a:srgbClr val="8C64D8"/>
            </a:solidFill>
            <a:prstDash val="solid"/>
          </a:ln>
        </p:spPr>
        <p:txBody>
          <a:bodyPr/>
          <a:lstStyle/>
          <a:p>
            <a:endParaRPr lang="ru-RU" sz="2400"/>
          </a:p>
        </p:txBody>
      </p:sp>
      <p:sp>
        <p:nvSpPr>
          <p:cNvPr id="19" name="Text 17"/>
          <p:cNvSpPr/>
          <p:nvPr/>
        </p:nvSpPr>
        <p:spPr>
          <a:xfrm>
            <a:off x="792480" y="4572000"/>
            <a:ext cx="853440" cy="548640"/>
          </a:xfrm>
          <a:prstGeom prst="rect">
            <a:avLst/>
          </a:prstGeom>
          <a:noFill/>
          <a:ln/>
        </p:spPr>
        <p:txBody>
          <a:bodyPr wrap="square" lIns="0" tIns="0" rIns="0" bIns="0" rtlCol="0" anchor="ctr"/>
          <a:lstStyle/>
          <a:p>
            <a:pPr algn="ctr"/>
            <a:r>
              <a:rPr lang="en-US" sz="2933" b="1" dirty="0">
                <a:solidFill>
                  <a:srgbClr val="E85362"/>
                </a:solidFill>
                <a:latin typeface="Montserrat SemiBold" pitchFamily="34" charset="0"/>
                <a:ea typeface="Montserrat SemiBold" pitchFamily="34" charset="-122"/>
                <a:cs typeface="Montserrat SemiBold" pitchFamily="34" charset="-120"/>
              </a:rPr>
              <a:t>2</a:t>
            </a:r>
            <a:endParaRPr lang="en-US" sz="2933" dirty="0"/>
          </a:p>
        </p:txBody>
      </p:sp>
      <p:sp>
        <p:nvSpPr>
          <p:cNvPr id="20" name="Text 18"/>
          <p:cNvSpPr/>
          <p:nvPr/>
        </p:nvSpPr>
        <p:spPr>
          <a:xfrm>
            <a:off x="1767840" y="4572000"/>
            <a:ext cx="4328160" cy="548640"/>
          </a:xfrm>
          <a:prstGeom prst="rect">
            <a:avLst/>
          </a:prstGeom>
          <a:noFill/>
          <a:ln/>
        </p:spPr>
        <p:txBody>
          <a:bodyPr wrap="square" lIns="0" tIns="0" rIns="0" bIns="0" rtlCol="0" anchor="ctr"/>
          <a:lstStyle/>
          <a:p>
            <a:r>
              <a:rPr lang="en-US" sz="1467" dirty="0">
                <a:solidFill>
                  <a:srgbClr val="24184E"/>
                </a:solidFill>
                <a:latin typeface="Montserrat" pitchFamily="34" charset="0"/>
                <a:ea typeface="Montserrat" pitchFamily="34" charset="-122"/>
                <a:cs typeface="Montserrat" pitchFamily="34" charset="-120"/>
              </a:rPr>
              <a:t>платформы: Windows + Android</a:t>
            </a:r>
            <a:endParaRPr lang="en-US" sz="1467" dirty="0"/>
          </a:p>
        </p:txBody>
      </p:sp>
      <p:sp>
        <p:nvSpPr>
          <p:cNvPr id="21" name="Text 19"/>
          <p:cNvSpPr/>
          <p:nvPr/>
        </p:nvSpPr>
        <p:spPr>
          <a:xfrm>
            <a:off x="6339840" y="1584960"/>
            <a:ext cx="5364480" cy="426720"/>
          </a:xfrm>
          <a:prstGeom prst="rect">
            <a:avLst/>
          </a:prstGeom>
          <a:noFill/>
          <a:ln/>
        </p:spPr>
        <p:txBody>
          <a:bodyPr wrap="square" rtlCol="0" anchor="ctr"/>
          <a:lstStyle/>
          <a:p>
            <a:r>
              <a:rPr lang="en-US" sz="1600" b="1" spc="267" dirty="0">
                <a:solidFill>
                  <a:srgbClr val="372579"/>
                </a:solidFill>
                <a:latin typeface="Montserrat SemiBold" pitchFamily="34" charset="0"/>
                <a:ea typeface="Montserrat SemiBold" pitchFamily="34" charset="-122"/>
                <a:cs typeface="Montserrat SemiBold" pitchFamily="34" charset="-120"/>
              </a:rPr>
              <a:t>ПРОИЗВОДИТЕЛЬНОСТЬ</a:t>
            </a:r>
            <a:endParaRPr lang="en-US" sz="1600" dirty="0"/>
          </a:p>
        </p:txBody>
      </p:sp>
      <p:graphicFrame>
        <p:nvGraphicFramePr>
          <p:cNvPr id="22" name="Table 0"/>
          <p:cNvGraphicFramePr>
            <a:graphicFrameLocks noGrp="1"/>
          </p:cNvGraphicFramePr>
          <p:nvPr/>
        </p:nvGraphicFramePr>
        <p:xfrm>
          <a:off x="6339840" y="2072640"/>
          <a:ext cx="5364480" cy="1625600"/>
        </p:xfrm>
        <a:graphic>
          <a:graphicData uri="http://schemas.openxmlformats.org/drawingml/2006/table">
            <a:tbl>
              <a:tblPr/>
              <a:tblGrid>
                <a:gridCol w="292608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25120">
                <a:tc>
                  <a:txBody>
                    <a:bodyPr/>
                    <a:lstStyle/>
                    <a:p>
                      <a:pPr marL="0" indent="0" algn="ctr">
                        <a:buNone/>
                      </a:pPr>
                      <a:r>
                        <a:rPr lang="en-US" sz="1300" b="1" dirty="0">
                          <a:solidFill>
                            <a:srgbClr val="FFFFFF"/>
                          </a:solidFill>
                          <a:latin typeface="Montserrat SemiBold" pitchFamily="34" charset="0"/>
                          <a:ea typeface="Montserrat SemiBold" pitchFamily="34" charset="-122"/>
                          <a:cs typeface="Montserrat SemiBold" pitchFamily="34" charset="-120"/>
                        </a:rPr>
                        <a:t>Метрика</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300" b="1" dirty="0">
                          <a:solidFill>
                            <a:srgbClr val="FFFFFF"/>
                          </a:solidFill>
                          <a:latin typeface="Montserrat SemiBold" pitchFamily="34" charset="0"/>
                          <a:ea typeface="Montserrat SemiBold" pitchFamily="34" charset="-122"/>
                          <a:cs typeface="Montserrat SemiBold" pitchFamily="34" charset="-120"/>
                        </a:rPr>
                        <a:t>Win</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tc>
                  <a:txBody>
                    <a:bodyPr/>
                    <a:lstStyle/>
                    <a:p>
                      <a:pPr marL="0" indent="0" algn="ctr">
                        <a:buNone/>
                      </a:pPr>
                      <a:r>
                        <a:rPr lang="en-US" sz="1300" b="1" dirty="0">
                          <a:solidFill>
                            <a:srgbClr val="FFFFFF"/>
                          </a:solidFill>
                          <a:latin typeface="Montserrat SemiBold" pitchFamily="34" charset="0"/>
                          <a:ea typeface="Montserrat SemiBold" pitchFamily="34" charset="-122"/>
                          <a:cs typeface="Montserrat SemiBold" pitchFamily="34" charset="-120"/>
                        </a:rPr>
                        <a:t>Android</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solidFill>
                      <a:srgbClr val="372579"/>
                    </a:solidFill>
                  </a:tcPr>
                </a:tc>
                <a:extLst>
                  <a:ext uri="{0D108BD9-81ED-4DB2-BD59-A6C34878D82A}">
                    <a16:rowId xmlns:a16="http://schemas.microsoft.com/office/drawing/2014/main" val="10000"/>
                  </a:ext>
                </a:extLst>
              </a:tr>
              <a:tr h="325120">
                <a:tc>
                  <a:txBody>
                    <a:bodyPr/>
                    <a:lstStyle/>
                    <a:p>
                      <a:pPr marL="0" indent="0">
                        <a:buNone/>
                      </a:pPr>
                      <a:r>
                        <a:rPr lang="en-US" sz="1300" dirty="0">
                          <a:solidFill>
                            <a:srgbClr val="24184E"/>
                          </a:solidFill>
                          <a:latin typeface="Montserrat" pitchFamily="34" charset="0"/>
                          <a:ea typeface="Montserrat" pitchFamily="34" charset="-122"/>
                          <a:cs typeface="Montserrat" pitchFamily="34" charset="-120"/>
                        </a:rPr>
                        <a:t>Список тренировок</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42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78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1"/>
                  </a:ext>
                </a:extLst>
              </a:tr>
              <a:tr h="325120">
                <a:tc>
                  <a:txBody>
                    <a:bodyPr/>
                    <a:lstStyle/>
                    <a:p>
                      <a:pPr marL="0" indent="0">
                        <a:buNone/>
                      </a:pPr>
                      <a:r>
                        <a:rPr lang="en-US" sz="1300" b="1" dirty="0">
                          <a:solidFill>
                            <a:srgbClr val="24184E"/>
                          </a:solidFill>
                          <a:latin typeface="Montserrat" pitchFamily="34" charset="0"/>
                          <a:ea typeface="Montserrat" pitchFamily="34" charset="-122"/>
                          <a:cs typeface="Montserrat" pitchFamily="34" charset="-120"/>
                        </a:rPr>
                        <a:t>Inference ML</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E85362"/>
                          </a:solidFill>
                          <a:latin typeface="Montserrat SemiBold" pitchFamily="34" charset="0"/>
                          <a:ea typeface="Montserrat SemiBold" pitchFamily="34" charset="-122"/>
                          <a:cs typeface="Montserrat SemiBold" pitchFamily="34" charset="-120"/>
                        </a:rPr>
                        <a:t>4 мс</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E85362"/>
                          </a:solidFill>
                          <a:latin typeface="Montserrat SemiBold" pitchFamily="34" charset="0"/>
                          <a:ea typeface="Montserrat SemiBold" pitchFamily="34" charset="-122"/>
                          <a:cs typeface="Montserrat SemiBold" pitchFamily="34" charset="-120"/>
                        </a:rPr>
                        <a:t>8 мс</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2"/>
                  </a:ext>
                </a:extLst>
              </a:tr>
              <a:tr h="325120">
                <a:tc>
                  <a:txBody>
                    <a:bodyPr/>
                    <a:lstStyle/>
                    <a:p>
                      <a:pPr marL="0" indent="0">
                        <a:buNone/>
                      </a:pPr>
                      <a:r>
                        <a:rPr lang="en-US" sz="1300" dirty="0">
                          <a:solidFill>
                            <a:srgbClr val="24184E"/>
                          </a:solidFill>
                          <a:latin typeface="Montserrat" pitchFamily="34" charset="0"/>
                          <a:ea typeface="Montserrat" pitchFamily="34" charset="-122"/>
                          <a:cs typeface="Montserrat" pitchFamily="34" charset="-120"/>
                        </a:rPr>
                        <a:t>Init ONNX-сервиса</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87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143 мс</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3"/>
                  </a:ext>
                </a:extLst>
              </a:tr>
              <a:tr h="325120">
                <a:tc>
                  <a:txBody>
                    <a:bodyPr/>
                    <a:lstStyle/>
                    <a:p>
                      <a:pPr marL="0" indent="0">
                        <a:buNone/>
                      </a:pPr>
                      <a:r>
                        <a:rPr lang="en-US" sz="1300" dirty="0">
                          <a:solidFill>
                            <a:srgbClr val="24184E"/>
                          </a:solidFill>
                          <a:latin typeface="Montserrat" pitchFamily="34" charset="0"/>
                          <a:ea typeface="Montserrat" pitchFamily="34" charset="-122"/>
                          <a:cs typeface="Montserrat" pitchFamily="34" charset="-120"/>
                        </a:rPr>
                        <a:t>Размер APK</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dirty="0">
                          <a:solidFill>
                            <a:srgbClr val="24184E"/>
                          </a:solidFill>
                          <a:latin typeface="Montserrat" pitchFamily="34" charset="0"/>
                          <a:ea typeface="Montserrat" pitchFamily="34" charset="-122"/>
                          <a:cs typeface="Montserrat" pitchFamily="34" charset="-120"/>
                        </a:rPr>
                        <a:t>—</a:t>
                      </a:r>
                      <a:endParaRPr lang="en-US" sz="1300" dirty="0">
                        <a:latin typeface="Montserrat" charset="0"/>
                        <a:ea typeface="Montserrat" charset="0"/>
                        <a:cs typeface="Montserrat"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tc>
                  <a:txBody>
                    <a:bodyPr/>
                    <a:lstStyle/>
                    <a:p>
                      <a:pPr marL="0" indent="0" algn="ctr">
                        <a:buNone/>
                      </a:pPr>
                      <a:r>
                        <a:rPr lang="en-US" sz="1300" b="1" dirty="0">
                          <a:solidFill>
                            <a:srgbClr val="24184E"/>
                          </a:solidFill>
                          <a:latin typeface="Montserrat SemiBold" pitchFamily="34" charset="0"/>
                          <a:ea typeface="Montserrat SemiBold" pitchFamily="34" charset="-122"/>
                          <a:cs typeface="Montserrat SemiBold" pitchFamily="34" charset="-120"/>
                        </a:rPr>
                        <a:t>38 МБ</a:t>
                      </a:r>
                      <a:endParaRPr lang="en-US" sz="1300" dirty="0">
                        <a:latin typeface="Montserrat SemiBold" charset="0"/>
                        <a:ea typeface="Montserrat SemiBold" charset="0"/>
                        <a:cs typeface="Montserrat SemiBold" charset="0"/>
                      </a:endParaRPr>
                    </a:p>
                  </a:txBody>
                  <a:tcPr marL="121920" marR="121920" marT="60960" marB="60960" anchor="ctr">
                    <a:lnL w="6350" cap="flat" cmpd="sng" algn="ctr">
                      <a:solidFill>
                        <a:srgbClr val="D5D0E0"/>
                      </a:solidFill>
                      <a:prstDash val="solid"/>
                      <a:round/>
                      <a:headEnd type="none" w="med" len="med"/>
                      <a:tailEnd type="none" w="med" len="med"/>
                    </a:lnL>
                    <a:lnR w="6350" cap="flat" cmpd="sng" algn="ctr">
                      <a:solidFill>
                        <a:srgbClr val="D5D0E0"/>
                      </a:solidFill>
                      <a:prstDash val="solid"/>
                      <a:round/>
                      <a:headEnd type="none" w="med" len="med"/>
                      <a:tailEnd type="none" w="med" len="med"/>
                    </a:lnR>
                    <a:lnT w="6350" cap="flat" cmpd="sng" algn="ctr">
                      <a:solidFill>
                        <a:srgbClr val="D5D0E0"/>
                      </a:solidFill>
                      <a:prstDash val="solid"/>
                      <a:round/>
                      <a:headEnd type="none" w="med" len="med"/>
                      <a:tailEnd type="none" w="med" len="med"/>
                    </a:lnT>
                    <a:lnB w="6350" cap="flat" cmpd="sng" algn="ctr">
                      <a:solidFill>
                        <a:srgbClr val="D5D0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3" name="Shape 20"/>
          <p:cNvSpPr/>
          <p:nvPr/>
        </p:nvSpPr>
        <p:spPr>
          <a:xfrm>
            <a:off x="6339840" y="4937760"/>
            <a:ext cx="5364480" cy="1097280"/>
          </a:xfrm>
          <a:prstGeom prst="rect">
            <a:avLst/>
          </a:prstGeom>
          <a:solidFill>
            <a:srgbClr val="E8E0F7"/>
          </a:solidFill>
          <a:ln w="6350">
            <a:solidFill>
              <a:srgbClr val="372579"/>
            </a:solidFill>
            <a:prstDash val="solid"/>
          </a:ln>
        </p:spPr>
        <p:txBody>
          <a:bodyPr/>
          <a:lstStyle/>
          <a:p>
            <a:endParaRPr lang="ru-RU" sz="2400"/>
          </a:p>
        </p:txBody>
      </p:sp>
      <p:sp>
        <p:nvSpPr>
          <p:cNvPr id="24" name="Shape 21"/>
          <p:cNvSpPr/>
          <p:nvPr/>
        </p:nvSpPr>
        <p:spPr>
          <a:xfrm>
            <a:off x="6339840" y="4937760"/>
            <a:ext cx="121920" cy="1097280"/>
          </a:xfrm>
          <a:prstGeom prst="rect">
            <a:avLst/>
          </a:prstGeom>
          <a:solidFill>
            <a:srgbClr val="FA815F"/>
          </a:solidFill>
          <a:ln w="12700">
            <a:solidFill>
              <a:srgbClr val="FA815F"/>
            </a:solidFill>
            <a:prstDash val="solid"/>
          </a:ln>
        </p:spPr>
        <p:txBody>
          <a:bodyPr/>
          <a:lstStyle/>
          <a:p>
            <a:endParaRPr lang="ru-RU" sz="2400"/>
          </a:p>
        </p:txBody>
      </p:sp>
      <p:sp>
        <p:nvSpPr>
          <p:cNvPr id="25" name="Text 22"/>
          <p:cNvSpPr/>
          <p:nvPr/>
        </p:nvSpPr>
        <p:spPr>
          <a:xfrm>
            <a:off x="6522720" y="4998720"/>
            <a:ext cx="5059680" cy="975360"/>
          </a:xfrm>
          <a:prstGeom prst="rect">
            <a:avLst/>
          </a:prstGeom>
          <a:noFill/>
          <a:ln/>
        </p:spPr>
        <p:txBody>
          <a:bodyPr wrap="square" rtlCol="0" anchor="t"/>
          <a:lstStyle/>
          <a:p>
            <a:r>
              <a:rPr lang="en-US" sz="1333" b="1" spc="133" dirty="0">
                <a:solidFill>
                  <a:srgbClr val="FA815F"/>
                </a:solidFill>
                <a:latin typeface="Montserrat SemiBold" pitchFamily="34" charset="0"/>
                <a:ea typeface="Montserrat SemiBold" pitchFamily="34" charset="-122"/>
                <a:cs typeface="Montserrat SemiBold" pitchFamily="34" charset="-120"/>
              </a:rPr>
              <a:t>UX-ТЕСТ: </a:t>
            </a:r>
            <a:r>
              <a:rPr lang="en-US" sz="1333" b="1" dirty="0">
                <a:solidFill>
                  <a:srgbClr val="24184E"/>
                </a:solidFill>
                <a:latin typeface="Montserrat" pitchFamily="34" charset="0"/>
                <a:ea typeface="Montserrat" pitchFamily="34" charset="-122"/>
                <a:cs typeface="Montserrat" pitchFamily="34" charset="-120"/>
              </a:rPr>
              <a:t>6 добровольцев. </a:t>
            </a:r>
            <a:endParaRPr lang="en-US" sz="1333" dirty="0"/>
          </a:p>
          <a:p>
            <a:r>
              <a:rPr lang="en-US" sz="1333" dirty="0">
                <a:solidFill>
                  <a:srgbClr val="24184E"/>
                </a:solidFill>
                <a:latin typeface="Montserrat" pitchFamily="34" charset="0"/>
                <a:ea typeface="Montserrat" pitchFamily="34" charset="-122"/>
                <a:cs typeface="Montserrat" pitchFamily="34" charset="-120"/>
              </a:rPr>
              <a:t>Отмечены: интуитивный ввод подходов, полезность подсказки прогноза 1ПМ.</a:t>
            </a:r>
            <a:endParaRPr lang="en-US" sz="1333"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70560" y="426720"/>
            <a:ext cx="10728960" cy="853440"/>
          </a:xfrm>
          <a:prstGeom prst="rect">
            <a:avLst/>
          </a:prstGeom>
          <a:noFill/>
          <a:ln/>
        </p:spPr>
        <p:txBody>
          <a:bodyPr wrap="square" lIns="0" tIns="0" rIns="0" bIns="0" rtlCol="0" anchor="ctr"/>
          <a:lstStyle/>
          <a:p>
            <a:r>
              <a:rPr lang="en-US" sz="3733" b="1" dirty="0">
                <a:solidFill>
                  <a:srgbClr val="24184E"/>
                </a:solidFill>
                <a:latin typeface="Montserrat SemiBold" pitchFamily="34" charset="0"/>
                <a:ea typeface="Montserrat SemiBold" pitchFamily="34" charset="-122"/>
                <a:cs typeface="Montserrat SemiBold" pitchFamily="34" charset="-120"/>
              </a:rPr>
              <a:t>Выводы</a:t>
            </a:r>
            <a:endParaRPr lang="en-US" sz="3733" dirty="0"/>
          </a:p>
        </p:txBody>
      </p:sp>
      <p:sp>
        <p:nvSpPr>
          <p:cNvPr id="5" name="Shape 3"/>
          <p:cNvSpPr/>
          <p:nvPr/>
        </p:nvSpPr>
        <p:spPr>
          <a:xfrm>
            <a:off x="670560" y="1280160"/>
            <a:ext cx="11033760" cy="0"/>
          </a:xfrm>
          <a:prstGeom prst="line">
            <a:avLst/>
          </a:prstGeom>
          <a:noFill/>
          <a:ln w="12700">
            <a:solidFill>
              <a:srgbClr val="E8E0F7"/>
            </a:solidFill>
            <a:prstDash val="solid"/>
          </a:ln>
        </p:spPr>
        <p:txBody>
          <a:bodyPr/>
          <a:lstStyle/>
          <a:p>
            <a:endParaRPr lang="ru-RU" sz="2400"/>
          </a:p>
        </p:txBody>
      </p:sp>
      <p:sp>
        <p:nvSpPr>
          <p:cNvPr id="6" name="Text 4"/>
          <p:cNvSpPr/>
          <p:nvPr/>
        </p:nvSpPr>
        <p:spPr>
          <a:xfrm>
            <a:off x="670560" y="6461760"/>
            <a:ext cx="7315200" cy="304800"/>
          </a:xfrm>
          <a:prstGeom prst="rect">
            <a:avLst/>
          </a:prstGeom>
          <a:noFill/>
          <a:ln/>
        </p:spPr>
        <p:txBody>
          <a:bodyPr wrap="square" rtlCol="0" anchor="ctr"/>
          <a:lstStyle/>
          <a:p>
            <a:r>
              <a:rPr lang="en-US" sz="1333" i="1" dirty="0">
                <a:solidFill>
                  <a:srgbClr val="6B6280"/>
                </a:solidFill>
                <a:latin typeface="Montserrat" pitchFamily="34" charset="0"/>
                <a:ea typeface="Montserrat" pitchFamily="34" charset="-122"/>
                <a:cs typeface="Montserrat" pitchFamily="34" charset="-120"/>
              </a:rPr>
              <a:t>FitApp · ВКР · МТУСИ, 2026</a:t>
            </a:r>
            <a:endParaRPr lang="en-US" sz="1333" dirty="0"/>
          </a:p>
        </p:txBody>
      </p:sp>
      <p:sp>
        <p:nvSpPr>
          <p:cNvPr id="7" name="Text 5"/>
          <p:cNvSpPr/>
          <p:nvPr/>
        </p:nvSpPr>
        <p:spPr>
          <a:xfrm>
            <a:off x="10363200" y="6461760"/>
            <a:ext cx="1584960" cy="304800"/>
          </a:xfrm>
          <a:prstGeom prst="rect">
            <a:avLst/>
          </a:prstGeom>
          <a:noFill/>
          <a:ln/>
        </p:spPr>
        <p:txBody>
          <a:bodyPr wrap="square" rtlCol="0" anchor="ctr"/>
          <a:lstStyle/>
          <a:p>
            <a:pPr algn="r"/>
            <a:r>
              <a:rPr lang="en-US" sz="1333" dirty="0">
                <a:solidFill>
                  <a:srgbClr val="6B6280"/>
                </a:solidFill>
                <a:latin typeface="Montserrat" pitchFamily="34" charset="0"/>
                <a:ea typeface="Montserrat" pitchFamily="34" charset="-122"/>
                <a:cs typeface="Montserrat" pitchFamily="34" charset="-120"/>
              </a:rPr>
              <a:t>11 / 12</a:t>
            </a:r>
            <a:endParaRPr lang="en-US" sz="1333" dirty="0"/>
          </a:p>
        </p:txBody>
      </p:sp>
      <p:sp>
        <p:nvSpPr>
          <p:cNvPr id="8" name="Shape 6"/>
          <p:cNvSpPr/>
          <p:nvPr/>
        </p:nvSpPr>
        <p:spPr>
          <a:xfrm>
            <a:off x="670560" y="1524000"/>
            <a:ext cx="11033760" cy="914400"/>
          </a:xfrm>
          <a:prstGeom prst="rect">
            <a:avLst/>
          </a:prstGeom>
          <a:solidFill>
            <a:srgbClr val="372579"/>
          </a:solidFill>
          <a:ln w="12700">
            <a:solidFill>
              <a:srgbClr val="372579"/>
            </a:solidFill>
            <a:prstDash val="solid"/>
          </a:ln>
        </p:spPr>
        <p:txBody>
          <a:bodyPr/>
          <a:lstStyle/>
          <a:p>
            <a:endParaRPr lang="ru-RU" sz="2400"/>
          </a:p>
        </p:txBody>
      </p:sp>
      <p:sp>
        <p:nvSpPr>
          <p:cNvPr id="9" name="Shape 7"/>
          <p:cNvSpPr/>
          <p:nvPr/>
        </p:nvSpPr>
        <p:spPr>
          <a:xfrm>
            <a:off x="670560" y="1524000"/>
            <a:ext cx="146304" cy="914400"/>
          </a:xfrm>
          <a:prstGeom prst="rect">
            <a:avLst/>
          </a:prstGeom>
          <a:solidFill>
            <a:srgbClr val="E85362"/>
          </a:solidFill>
          <a:ln w="12700">
            <a:solidFill>
              <a:srgbClr val="E85362"/>
            </a:solidFill>
            <a:prstDash val="solid"/>
          </a:ln>
        </p:spPr>
        <p:txBody>
          <a:bodyPr/>
          <a:lstStyle/>
          <a:p>
            <a:endParaRPr lang="ru-RU" sz="2400"/>
          </a:p>
        </p:txBody>
      </p:sp>
      <p:sp>
        <p:nvSpPr>
          <p:cNvPr id="10" name="Text 8"/>
          <p:cNvSpPr/>
          <p:nvPr/>
        </p:nvSpPr>
        <p:spPr>
          <a:xfrm>
            <a:off x="1036320" y="1584960"/>
            <a:ext cx="10668000" cy="792480"/>
          </a:xfrm>
          <a:prstGeom prst="rect">
            <a:avLst/>
          </a:prstGeom>
          <a:noFill/>
          <a:ln/>
        </p:spPr>
        <p:txBody>
          <a:bodyPr wrap="square" lIns="0" tIns="0" rIns="0" bIns="0" rtlCol="0" anchor="ctr"/>
          <a:lstStyle/>
          <a:p>
            <a:r>
              <a:rPr lang="en-US" sz="1867" b="1" spc="267" dirty="0">
                <a:solidFill>
                  <a:srgbClr val="E85362"/>
                </a:solidFill>
                <a:latin typeface="Montserrat" pitchFamily="34" charset="0"/>
                <a:ea typeface="Montserrat" pitchFamily="34" charset="-122"/>
                <a:cs typeface="Montserrat" pitchFamily="34" charset="-120"/>
              </a:rPr>
              <a:t>✓  ЦЕЛЬ РАБОТЫ ДОСТИГНУТА.  </a:t>
            </a:r>
            <a:r>
              <a:rPr lang="en-US" sz="1600" dirty="0">
                <a:solidFill>
                  <a:srgbClr val="FFFFFF"/>
                </a:solidFill>
                <a:latin typeface="Montserrat" pitchFamily="34" charset="0"/>
                <a:ea typeface="Montserrat" pitchFamily="34" charset="-122"/>
                <a:cs typeface="Montserrat" pitchFamily="34" charset="-120"/>
              </a:rPr>
              <a:t>Все поставленные задачи выполнены, требования соблюдены.</a:t>
            </a:r>
            <a:endParaRPr lang="en-US" sz="1867" dirty="0"/>
          </a:p>
        </p:txBody>
      </p:sp>
      <p:sp>
        <p:nvSpPr>
          <p:cNvPr id="11" name="Shape 9"/>
          <p:cNvSpPr/>
          <p:nvPr/>
        </p:nvSpPr>
        <p:spPr>
          <a:xfrm>
            <a:off x="670560" y="2682240"/>
            <a:ext cx="3535680" cy="670560"/>
          </a:xfrm>
          <a:prstGeom prst="rect">
            <a:avLst/>
          </a:prstGeom>
          <a:solidFill>
            <a:srgbClr val="372579"/>
          </a:solidFill>
          <a:ln w="12700">
            <a:solidFill>
              <a:srgbClr val="372579"/>
            </a:solidFill>
            <a:prstDash val="solid"/>
          </a:ln>
        </p:spPr>
        <p:txBody>
          <a:bodyPr/>
          <a:lstStyle/>
          <a:p>
            <a:endParaRPr lang="ru-RU" sz="2400"/>
          </a:p>
        </p:txBody>
      </p:sp>
      <p:sp>
        <p:nvSpPr>
          <p:cNvPr id="12" name="Text 10"/>
          <p:cNvSpPr/>
          <p:nvPr/>
        </p:nvSpPr>
        <p:spPr>
          <a:xfrm>
            <a:off x="670560" y="2682240"/>
            <a:ext cx="3535680" cy="670560"/>
          </a:xfrm>
          <a:prstGeom prst="rect">
            <a:avLst/>
          </a:prstGeom>
          <a:noFill/>
          <a:ln/>
        </p:spPr>
        <p:txBody>
          <a:bodyPr wrap="square" rtlCol="0" anchor="ctr"/>
          <a:lstStyle/>
          <a:p>
            <a:pPr algn="ctr"/>
            <a:r>
              <a:rPr lang="en-US" sz="1467" b="1" spc="267" dirty="0">
                <a:solidFill>
                  <a:srgbClr val="FFFFFF"/>
                </a:solidFill>
                <a:latin typeface="Montserrat SemiBold" pitchFamily="34" charset="0"/>
                <a:ea typeface="Montserrat SemiBold" pitchFamily="34" charset="-122"/>
                <a:cs typeface="Montserrat SemiBold" pitchFamily="34" charset="-120"/>
              </a:rPr>
              <a:t>РЕАЛИЗОВАНО</a:t>
            </a:r>
            <a:endParaRPr lang="en-US" sz="1467" dirty="0"/>
          </a:p>
        </p:txBody>
      </p:sp>
      <p:sp>
        <p:nvSpPr>
          <p:cNvPr id="13" name="Shape 11"/>
          <p:cNvSpPr/>
          <p:nvPr/>
        </p:nvSpPr>
        <p:spPr>
          <a:xfrm>
            <a:off x="670560" y="3352800"/>
            <a:ext cx="3535680" cy="2743200"/>
          </a:xfrm>
          <a:prstGeom prst="rect">
            <a:avLst/>
          </a:prstGeom>
          <a:solidFill>
            <a:srgbClr val="FFFFFF"/>
          </a:solidFill>
          <a:ln w="12700">
            <a:solidFill>
              <a:srgbClr val="372579"/>
            </a:solidFill>
            <a:prstDash val="solid"/>
          </a:ln>
        </p:spPr>
        <p:txBody>
          <a:bodyPr/>
          <a:lstStyle/>
          <a:p>
            <a:endParaRPr lang="ru-RU" sz="2400"/>
          </a:p>
        </p:txBody>
      </p:sp>
      <p:sp>
        <p:nvSpPr>
          <p:cNvPr id="14" name="Text 12"/>
          <p:cNvSpPr/>
          <p:nvPr/>
        </p:nvSpPr>
        <p:spPr>
          <a:xfrm>
            <a:off x="853440" y="3474720"/>
            <a:ext cx="3169920" cy="2560320"/>
          </a:xfrm>
          <a:prstGeom prst="rect">
            <a:avLst/>
          </a:prstGeom>
          <a:noFill/>
          <a:ln/>
        </p:spPr>
        <p:txBody>
          <a:bodyPr wrap="square" rtlCol="0" anchor="t"/>
          <a:lstStyle/>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Клиент: .NET MAUI 9, MVVM, 7 экранов</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Сервер: ASP.NET Core 9 на Render.com</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ML: LightGBM → ONNX (MAE 1,44 кг)</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Sync: LWW + offline-first</a:t>
            </a:r>
            <a:endParaRPr lang="en-US" sz="1467" dirty="0"/>
          </a:p>
        </p:txBody>
      </p:sp>
      <p:sp>
        <p:nvSpPr>
          <p:cNvPr id="15" name="Shape 13"/>
          <p:cNvSpPr/>
          <p:nvPr/>
        </p:nvSpPr>
        <p:spPr>
          <a:xfrm>
            <a:off x="4389120" y="2682240"/>
            <a:ext cx="3535680" cy="670560"/>
          </a:xfrm>
          <a:prstGeom prst="rect">
            <a:avLst/>
          </a:prstGeom>
          <a:solidFill>
            <a:srgbClr val="47309C"/>
          </a:solidFill>
          <a:ln w="12700">
            <a:solidFill>
              <a:srgbClr val="47309C"/>
            </a:solidFill>
            <a:prstDash val="solid"/>
          </a:ln>
        </p:spPr>
        <p:txBody>
          <a:bodyPr/>
          <a:lstStyle/>
          <a:p>
            <a:endParaRPr lang="ru-RU" sz="2400"/>
          </a:p>
        </p:txBody>
      </p:sp>
      <p:sp>
        <p:nvSpPr>
          <p:cNvPr id="16" name="Text 14"/>
          <p:cNvSpPr/>
          <p:nvPr/>
        </p:nvSpPr>
        <p:spPr>
          <a:xfrm>
            <a:off x="4389120" y="2682240"/>
            <a:ext cx="3535680" cy="670560"/>
          </a:xfrm>
          <a:prstGeom prst="rect">
            <a:avLst/>
          </a:prstGeom>
          <a:noFill/>
          <a:ln/>
        </p:spPr>
        <p:txBody>
          <a:bodyPr wrap="square" rtlCol="0" anchor="ctr"/>
          <a:lstStyle/>
          <a:p>
            <a:pPr algn="ctr"/>
            <a:r>
              <a:rPr lang="en-US" sz="1467" b="1" spc="267" dirty="0">
                <a:solidFill>
                  <a:srgbClr val="FFFFFF"/>
                </a:solidFill>
                <a:latin typeface="Montserrat SemiBold" pitchFamily="34" charset="0"/>
                <a:ea typeface="Montserrat SemiBold" pitchFamily="34" charset="-122"/>
                <a:cs typeface="Montserrat SemiBold" pitchFamily="34" charset="-120"/>
              </a:rPr>
              <a:t>НАУЧНАЯ ЗНАЧИМОСТЬ</a:t>
            </a:r>
            <a:endParaRPr lang="en-US" sz="1467" dirty="0"/>
          </a:p>
        </p:txBody>
      </p:sp>
      <p:sp>
        <p:nvSpPr>
          <p:cNvPr id="17" name="Shape 15"/>
          <p:cNvSpPr/>
          <p:nvPr/>
        </p:nvSpPr>
        <p:spPr>
          <a:xfrm>
            <a:off x="4389120" y="3352800"/>
            <a:ext cx="3535680" cy="2743200"/>
          </a:xfrm>
          <a:prstGeom prst="rect">
            <a:avLst/>
          </a:prstGeom>
          <a:solidFill>
            <a:srgbClr val="FFFFFF"/>
          </a:solidFill>
          <a:ln w="12700">
            <a:solidFill>
              <a:srgbClr val="47309C"/>
            </a:solidFill>
            <a:prstDash val="solid"/>
          </a:ln>
        </p:spPr>
        <p:txBody>
          <a:bodyPr/>
          <a:lstStyle/>
          <a:p>
            <a:endParaRPr lang="ru-RU" sz="2400"/>
          </a:p>
        </p:txBody>
      </p:sp>
      <p:sp>
        <p:nvSpPr>
          <p:cNvPr id="18" name="Text 16"/>
          <p:cNvSpPr/>
          <p:nvPr/>
        </p:nvSpPr>
        <p:spPr>
          <a:xfrm>
            <a:off x="4572000" y="3474720"/>
            <a:ext cx="3169920" cy="2560320"/>
          </a:xfrm>
          <a:prstGeom prst="rect">
            <a:avLst/>
          </a:prstGeom>
          <a:noFill/>
          <a:ln/>
        </p:spPr>
        <p:txBody>
          <a:bodyPr wrap="square" rtlCol="0" anchor="t"/>
          <a:lstStyle/>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Адаптация формулы Эпли и ML</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Решение проблемы clock skew</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Валидация ONNX-портации (Δ &lt; 0,1 кг)</a:t>
            </a:r>
            <a:endParaRPr lang="en-US" sz="1467" dirty="0"/>
          </a:p>
        </p:txBody>
      </p:sp>
      <p:sp>
        <p:nvSpPr>
          <p:cNvPr id="19" name="Shape 17"/>
          <p:cNvSpPr/>
          <p:nvPr/>
        </p:nvSpPr>
        <p:spPr>
          <a:xfrm>
            <a:off x="8107680" y="2682240"/>
            <a:ext cx="3535680" cy="670560"/>
          </a:xfrm>
          <a:prstGeom prst="rect">
            <a:avLst/>
          </a:prstGeom>
          <a:solidFill>
            <a:srgbClr val="E85362"/>
          </a:solidFill>
          <a:ln w="12700">
            <a:solidFill>
              <a:srgbClr val="E85362"/>
            </a:solidFill>
            <a:prstDash val="solid"/>
          </a:ln>
        </p:spPr>
        <p:txBody>
          <a:bodyPr/>
          <a:lstStyle/>
          <a:p>
            <a:endParaRPr lang="ru-RU" sz="2400"/>
          </a:p>
        </p:txBody>
      </p:sp>
      <p:sp>
        <p:nvSpPr>
          <p:cNvPr id="20" name="Text 18"/>
          <p:cNvSpPr/>
          <p:nvPr/>
        </p:nvSpPr>
        <p:spPr>
          <a:xfrm>
            <a:off x="8107680" y="2682240"/>
            <a:ext cx="3535680" cy="670560"/>
          </a:xfrm>
          <a:prstGeom prst="rect">
            <a:avLst/>
          </a:prstGeom>
          <a:noFill/>
          <a:ln/>
        </p:spPr>
        <p:txBody>
          <a:bodyPr wrap="square" rtlCol="0" anchor="ctr"/>
          <a:lstStyle/>
          <a:p>
            <a:pPr algn="ctr"/>
            <a:r>
              <a:rPr lang="en-US" sz="1467" b="1" spc="267" dirty="0">
                <a:solidFill>
                  <a:srgbClr val="FFFFFF"/>
                </a:solidFill>
                <a:latin typeface="Montserrat SemiBold" pitchFamily="34" charset="0"/>
                <a:ea typeface="Montserrat SemiBold" pitchFamily="34" charset="-122"/>
                <a:cs typeface="Montserrat SemiBold" pitchFamily="34" charset="-120"/>
              </a:rPr>
              <a:t>ПРАКТИЧЕСКАЯ ЦЕННОСТЬ</a:t>
            </a:r>
            <a:endParaRPr lang="en-US" sz="1467" dirty="0"/>
          </a:p>
        </p:txBody>
      </p:sp>
      <p:sp>
        <p:nvSpPr>
          <p:cNvPr id="21" name="Shape 19"/>
          <p:cNvSpPr/>
          <p:nvPr/>
        </p:nvSpPr>
        <p:spPr>
          <a:xfrm>
            <a:off x="8107680" y="3352800"/>
            <a:ext cx="3535680" cy="2743200"/>
          </a:xfrm>
          <a:prstGeom prst="rect">
            <a:avLst/>
          </a:prstGeom>
          <a:solidFill>
            <a:srgbClr val="FFFFFF"/>
          </a:solidFill>
          <a:ln w="12700">
            <a:solidFill>
              <a:srgbClr val="E85362"/>
            </a:solidFill>
            <a:prstDash val="solid"/>
          </a:ln>
        </p:spPr>
        <p:txBody>
          <a:bodyPr/>
          <a:lstStyle/>
          <a:p>
            <a:endParaRPr lang="ru-RU" sz="2400"/>
          </a:p>
        </p:txBody>
      </p:sp>
      <p:sp>
        <p:nvSpPr>
          <p:cNvPr id="22" name="Text 20"/>
          <p:cNvSpPr/>
          <p:nvPr/>
        </p:nvSpPr>
        <p:spPr>
          <a:xfrm>
            <a:off x="8290560" y="3474720"/>
            <a:ext cx="3169920" cy="2560320"/>
          </a:xfrm>
          <a:prstGeom prst="rect">
            <a:avLst/>
          </a:prstGeom>
          <a:noFill/>
          <a:ln/>
        </p:spPr>
        <p:txBody>
          <a:bodyPr wrap="square" rtlCol="0" anchor="t"/>
          <a:lstStyle/>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Бесплатное решение на русском языке</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Единственное приложение с Windows</a:t>
            </a:r>
            <a:endParaRPr lang="en-US" sz="1467" dirty="0"/>
          </a:p>
          <a:p>
            <a:pPr marL="457189" indent="-457189">
              <a:spcAft>
                <a:spcPts val="933"/>
              </a:spcAft>
              <a:buSzPct val="100000"/>
              <a:buChar char="■"/>
            </a:pPr>
            <a:r>
              <a:rPr lang="en-US" sz="1467" dirty="0">
                <a:solidFill>
                  <a:srgbClr val="24184E"/>
                </a:solidFill>
                <a:latin typeface="Montserrat" pitchFamily="34" charset="0"/>
                <a:ea typeface="Montserrat" pitchFamily="34" charset="-122"/>
                <a:cs typeface="Montserrat" pitchFamily="34" charset="-120"/>
              </a:rPr>
              <a:t>Open Source, расширяемое сообществом</a:t>
            </a:r>
            <a:endParaRPr lang="en-US" sz="146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Правила создания презентации</a:t>
            </a:r>
            <a:endParaRPr/>
          </a:p>
        </p:txBody>
      </p:sp>
      <p:sp>
        <p:nvSpPr>
          <p:cNvPr id="41" name="Текст 40"/>
          <p:cNvSpPr>
            <a:spLocks noGrp="1"/>
          </p:cNvSpPr>
          <p:nvPr>
            <p:ph type="body" sz="quarter" idx="14"/>
          </p:nvPr>
        </p:nvSpPr>
        <p:spPr bwMode="auto">
          <a:xfrm>
            <a:off x="479423" y="1194601"/>
            <a:ext cx="11233154" cy="1067920"/>
          </a:xfrm>
        </p:spPr>
        <p:txBody>
          <a:bodyPr/>
          <a:lstStyle/>
          <a:p>
            <a:pPr>
              <a:defRPr/>
            </a:pPr>
            <a:r>
              <a:rPr lang="ru-RU" sz="2000"/>
              <a:t>Несколько правил, соблюдение которых поможет вам создать эффективную презентацию с заданным шрифтом (</a:t>
            </a:r>
            <a:r>
              <a:rPr lang="en-US" sz="2000"/>
              <a:t>Montserrat</a:t>
            </a:r>
            <a:r>
              <a:rPr lang="ru-RU" sz="2000"/>
              <a:t>) и цветовой палитрой:</a:t>
            </a:r>
            <a:endParaRPr/>
          </a:p>
          <a:p>
            <a:pPr>
              <a:defRPr/>
            </a:pPr>
            <a:endParaRPr lang="ru-RU"/>
          </a:p>
        </p:txBody>
      </p:sp>
      <p:sp>
        <p:nvSpPr>
          <p:cNvPr id="42" name="Текст 41"/>
          <p:cNvSpPr>
            <a:spLocks noGrp="1"/>
          </p:cNvSpPr>
          <p:nvPr>
            <p:ph type="body" sz="quarter" idx="17"/>
          </p:nvPr>
        </p:nvSpPr>
        <p:spPr bwMode="auto">
          <a:xfrm>
            <a:off x="596900" y="3943515"/>
            <a:ext cx="3441699" cy="1327363"/>
          </a:xfrm>
        </p:spPr>
        <p:txBody>
          <a:bodyPr>
            <a:normAutofit/>
          </a:bodyPr>
          <a:lstStyle/>
          <a:p>
            <a:pPr>
              <a:lnSpc>
                <a:spcPct val="100000"/>
              </a:lnSpc>
              <a:defRPr/>
            </a:pPr>
            <a:r>
              <a:rPr lang="ru-RU" sz="1400">
                <a:solidFill>
                  <a:schemeClr val="accent6"/>
                </a:solidFill>
              </a:rPr>
              <a:t>1. Используйте заданный шрифт везде на слайдах: </a:t>
            </a:r>
            <a:r>
              <a:rPr lang="en-US" sz="1400">
                <a:latin typeface="Montserrat SemiBold"/>
              </a:rPr>
              <a:t>Montserra</a:t>
            </a:r>
            <a:r>
              <a:rPr lang="ru-RU" sz="1400">
                <a:latin typeface="Montserrat SemiBold"/>
              </a:rPr>
              <a:t>.</a:t>
            </a:r>
            <a:br>
              <a:rPr lang="ru-RU" sz="1400">
                <a:solidFill>
                  <a:schemeClr val="accent6"/>
                </a:solidFill>
              </a:rPr>
            </a:br>
            <a:r>
              <a:rPr lang="ru-RU" sz="1400">
                <a:solidFill>
                  <a:schemeClr val="accent6"/>
                </a:solidFill>
              </a:rPr>
              <a:t>Это создаст чувство единства </a:t>
            </a:r>
            <a:br>
              <a:rPr lang="ru-RU" sz="1400">
                <a:solidFill>
                  <a:schemeClr val="accent6"/>
                </a:solidFill>
              </a:rPr>
            </a:br>
            <a:r>
              <a:rPr lang="ru-RU" sz="1400">
                <a:solidFill>
                  <a:schemeClr val="accent6"/>
                </a:solidFill>
              </a:rPr>
              <a:t>и сделает вашу презентацию более профессиональной.</a:t>
            </a:r>
            <a:endParaRPr/>
          </a:p>
        </p:txBody>
      </p:sp>
      <p:sp>
        <p:nvSpPr>
          <p:cNvPr id="43" name="Текст 42"/>
          <p:cNvSpPr>
            <a:spLocks noGrp="1"/>
          </p:cNvSpPr>
          <p:nvPr>
            <p:ph type="body" sz="quarter" idx="18"/>
          </p:nvPr>
        </p:nvSpPr>
        <p:spPr bwMode="auto">
          <a:xfrm>
            <a:off x="482600" y="6314803"/>
            <a:ext cx="11229974" cy="283754"/>
          </a:xfrm>
        </p:spPr>
        <p:txBody>
          <a:bodyPr/>
          <a:lstStyle/>
          <a:p>
            <a:pPr>
              <a:defRPr/>
            </a:pPr>
            <a:r>
              <a:rPr lang="en-US"/>
              <a:t>P.S.</a:t>
            </a:r>
            <a:r>
              <a:rPr lang="ru-RU"/>
              <a:t> Не забудьте удалить этот слайд из финальной версии вашей презентации.</a:t>
            </a:r>
            <a:endParaRPr/>
          </a:p>
        </p:txBody>
      </p:sp>
      <p:sp>
        <p:nvSpPr>
          <p:cNvPr id="46" name="Текст 45"/>
          <p:cNvSpPr>
            <a:spLocks noGrp="1"/>
          </p:cNvSpPr>
          <p:nvPr>
            <p:ph type="body" sz="quarter" idx="21"/>
          </p:nvPr>
        </p:nvSpPr>
        <p:spPr bwMode="auto">
          <a:xfrm>
            <a:off x="4343400" y="3943515"/>
            <a:ext cx="3441699" cy="1327363"/>
          </a:xfrm>
        </p:spPr>
        <p:txBody>
          <a:bodyPr>
            <a:normAutofit/>
          </a:bodyPr>
          <a:lstStyle/>
          <a:p>
            <a:pPr>
              <a:defRPr/>
            </a:pPr>
            <a:r>
              <a:rPr lang="ru-RU" sz="1400">
                <a:solidFill>
                  <a:schemeClr val="accent6"/>
                </a:solidFill>
              </a:rPr>
              <a:t>2. Используйте цвета только </a:t>
            </a:r>
            <a:br>
              <a:rPr lang="ru-RU" sz="1400">
                <a:solidFill>
                  <a:schemeClr val="accent6"/>
                </a:solidFill>
              </a:rPr>
            </a:br>
            <a:r>
              <a:rPr lang="ru-RU" sz="1400">
                <a:solidFill>
                  <a:schemeClr val="accent6"/>
                </a:solidFill>
              </a:rPr>
              <a:t>из цветовой палитры.  </a:t>
            </a:r>
            <a:br>
              <a:rPr lang="ru-RU" sz="1400">
                <a:solidFill>
                  <a:schemeClr val="accent6"/>
                </a:solidFill>
              </a:rPr>
            </a:br>
            <a:r>
              <a:rPr lang="ru-RU" sz="1400">
                <a:solidFill>
                  <a:schemeClr val="accent6"/>
                </a:solidFill>
              </a:rPr>
              <a:t>Это поможет сохранить цветовую гармонию и улучшит восприятие контента аудиторией.</a:t>
            </a:r>
            <a:endParaRPr/>
          </a:p>
        </p:txBody>
      </p:sp>
      <p:sp>
        <p:nvSpPr>
          <p:cNvPr id="47" name="Текст 46"/>
          <p:cNvSpPr>
            <a:spLocks noGrp="1"/>
          </p:cNvSpPr>
          <p:nvPr>
            <p:ph type="body" sz="quarter" idx="22"/>
          </p:nvPr>
        </p:nvSpPr>
        <p:spPr bwMode="auto">
          <a:xfrm>
            <a:off x="596900" y="5348764"/>
            <a:ext cx="10541000" cy="813638"/>
          </a:xfrm>
        </p:spPr>
        <p:txBody>
          <a:bodyPr>
            <a:normAutofit/>
          </a:bodyPr>
          <a:lstStyle/>
          <a:p>
            <a:pPr>
              <a:lnSpc>
                <a:spcPct val="100000"/>
              </a:lnSpc>
              <a:defRPr/>
            </a:pPr>
            <a:r>
              <a:rPr lang="ru-RU" sz="1400">
                <a:solidFill>
                  <a:schemeClr val="accent6"/>
                </a:solidFill>
              </a:rPr>
              <a:t>4. Используйте макеты слайдов (</a:t>
            </a:r>
            <a:r>
              <a:rPr lang="ru-RU">
                <a:solidFill>
                  <a:schemeClr val="accent6"/>
                </a:solidFill>
              </a:rPr>
              <a:t>Размер слайда: 16:9</a:t>
            </a:r>
            <a:r>
              <a:rPr lang="ru-RU" sz="1400">
                <a:solidFill>
                  <a:schemeClr val="accent6"/>
                </a:solidFill>
              </a:rPr>
              <a:t>). Старайтесь построить логичную структуру презентации. </a:t>
            </a:r>
            <a:br>
              <a:rPr lang="ru-RU" sz="1400">
                <a:solidFill>
                  <a:schemeClr val="accent6"/>
                </a:solidFill>
              </a:rPr>
            </a:br>
            <a:r>
              <a:rPr lang="ru-RU" sz="1400">
                <a:solidFill>
                  <a:schemeClr val="accent6"/>
                </a:solidFill>
              </a:rPr>
              <a:t>У каждого слайда должна быть четкая информационная цель и связь с предыдущими  и последующими слайдами. («Главная</a:t>
            </a:r>
            <a:r>
              <a:rPr lang="ru-RU">
                <a:solidFill>
                  <a:schemeClr val="accent6"/>
                </a:solidFill>
              </a:rPr>
              <a:t>» → «Создать слайд»; </a:t>
            </a:r>
            <a:r>
              <a:rPr lang="ru-RU" sz="1400">
                <a:solidFill>
                  <a:schemeClr val="accent6"/>
                </a:solidFill>
              </a:rPr>
              <a:t>«Главная</a:t>
            </a:r>
            <a:r>
              <a:rPr lang="ru-RU">
                <a:solidFill>
                  <a:schemeClr val="accent6"/>
                </a:solidFill>
              </a:rPr>
              <a:t>» → «Макет»). </a:t>
            </a:r>
            <a:endParaRPr/>
          </a:p>
        </p:txBody>
      </p:sp>
      <p:pic>
        <p:nvPicPr>
          <p:cNvPr id="49" name="Ссылка на слайд 48">
            <a:hlinkClick r:id="rId2" action="ppaction://hlinksldjump"/>
          </p:cNvPr>
          <p:cNvPicPr>
            <a:picLocks noGrp="1" noRot="1" noChangeAspect="1" noMove="1" noResize="1" noEditPoints="1" noAdjustHandles="1" noChangeArrowheads="1" noChangeShapeType="1"/>
          </p:cNvPicPr>
          <p:nvPr/>
        </p:nvPicPr>
        <p:blipFill>
          <a:blip r:embed="rId3"/>
          <a:stretch/>
        </p:blipFill>
        <p:spPr bwMode="auto">
          <a:xfrm>
            <a:off x="4343401" y="2133771"/>
            <a:ext cx="3048000" cy="1714500"/>
          </a:xfrm>
          <a:prstGeom prst="rect">
            <a:avLst/>
          </a:prstGeom>
          <a:ln w="3175">
            <a:solidFill>
              <a:prstClr val="ltGray"/>
            </a:solidFill>
          </a:ln>
        </p:spPr>
      </p:pic>
      <p:pic>
        <p:nvPicPr>
          <p:cNvPr id="4" name="Ссылка на слайд 3">
            <a:hlinkClick r:id="rId2" action="ppaction://hlinksldjump"/>
          </p:cNvPr>
          <p:cNvPicPr>
            <a:picLocks noGrp="1" noRot="1" noChangeAspect="1" noMove="1" noResize="1" noEditPoints="1" noAdjustHandles="1" noChangeArrowheads="1" noChangeShapeType="1"/>
          </p:cNvPicPr>
          <p:nvPr/>
        </p:nvPicPr>
        <p:blipFill>
          <a:blip r:embed="rId4"/>
          <a:stretch/>
        </p:blipFill>
        <p:spPr bwMode="auto">
          <a:xfrm>
            <a:off x="596901" y="2133771"/>
            <a:ext cx="3048000" cy="1714500"/>
          </a:xfrm>
          <a:prstGeom prst="rect">
            <a:avLst/>
          </a:prstGeom>
          <a:ln w="3175">
            <a:solidFill>
              <a:prstClr val="ltGray"/>
            </a:solidFill>
          </a:ln>
        </p:spPr>
      </p:pic>
      <p:pic>
        <p:nvPicPr>
          <p:cNvPr id="6" name="Ссылка на слайд 5">
            <a:hlinkClick r:id="" action="ppaction://noaction"/>
          </p:cNvPr>
          <p:cNvPicPr>
            <a:picLocks noGrp="1" noRot="1" noChangeAspect="1" noMove="1" noResize="1" noEditPoints="1" noAdjustHandles="1" noChangeArrowheads="1" noChangeShapeType="1"/>
          </p:cNvPicPr>
          <p:nvPr/>
        </p:nvPicPr>
        <p:blipFill>
          <a:blip r:embed="rId5"/>
          <a:stretch/>
        </p:blipFill>
        <p:spPr bwMode="auto">
          <a:xfrm>
            <a:off x="8089900" y="2133771"/>
            <a:ext cx="3048000" cy="1714500"/>
          </a:xfrm>
          <a:prstGeom prst="rect">
            <a:avLst/>
          </a:prstGeom>
          <a:ln w="3175">
            <a:solidFill>
              <a:prstClr val="ltGray"/>
            </a:solidFill>
          </a:ln>
        </p:spPr>
      </p:pic>
      <p:sp>
        <p:nvSpPr>
          <p:cNvPr id="13" name="Текст 45"/>
          <p:cNvSpPr txBox="1"/>
          <p:nvPr/>
        </p:nvSpPr>
        <p:spPr bwMode="auto">
          <a:xfrm>
            <a:off x="8089900" y="3945372"/>
            <a:ext cx="3441699" cy="1327363"/>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a:solidFill>
                  <a:schemeClr val="accent6"/>
                </a:solidFill>
              </a:rPr>
              <a:t>3. Добавьте фотографии, иллюстрации, иконки </a:t>
            </a:r>
            <a:br>
              <a:rPr lang="ru-RU">
                <a:solidFill>
                  <a:schemeClr val="accent6"/>
                </a:solidFill>
              </a:rPr>
            </a:br>
            <a:r>
              <a:rPr lang="ru-RU">
                <a:solidFill>
                  <a:schemeClr val="accent6"/>
                </a:solidFill>
              </a:rPr>
              <a:t>и специальные символы в том случае, когда это необходимо </a:t>
            </a:r>
            <a:br>
              <a:rPr lang="ru-RU">
                <a:solidFill>
                  <a:schemeClr val="accent6"/>
                </a:solidFill>
              </a:rPr>
            </a:br>
            <a:r>
              <a:rPr lang="ru-RU">
                <a:solidFill>
                  <a:schemeClr val="accent6"/>
                </a:solidFill>
              </a:rPr>
              <a:t>для более полного понимания контента.</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 name="Заголовок 10"/>
          <p:cNvSpPr>
            <a:spLocks noGrp="1"/>
          </p:cNvSpPr>
          <p:nvPr>
            <p:ph type="title"/>
          </p:nvPr>
        </p:nvSpPr>
        <p:spPr bwMode="auto">
          <a:xfrm>
            <a:off x="479425" y="597855"/>
            <a:ext cx="11229975" cy="491169"/>
          </a:xfrm>
        </p:spPr>
        <p:txBody>
          <a:bodyPr/>
          <a:lstStyle/>
          <a:p>
            <a:pPr>
              <a:defRPr/>
            </a:pPr>
            <a:r>
              <a:rPr lang="ru-RU"/>
              <a:t>Шрифт </a:t>
            </a:r>
            <a:r>
              <a:rPr lang="ru-RU">
                <a:solidFill>
                  <a:srgbClr val="FF0000"/>
                </a:solidFill>
              </a:rPr>
              <a:t>(ССЫЛКА)</a:t>
            </a:r>
            <a:endParaRPr/>
          </a:p>
        </p:txBody>
      </p:sp>
      <p:sp>
        <p:nvSpPr>
          <p:cNvPr id="13" name="Текст 12"/>
          <p:cNvSpPr>
            <a:spLocks noGrp="1"/>
          </p:cNvSpPr>
          <p:nvPr>
            <p:ph type="body" sz="quarter" idx="14"/>
          </p:nvPr>
        </p:nvSpPr>
        <p:spPr bwMode="auto">
          <a:xfrm>
            <a:off x="479423" y="1717675"/>
            <a:ext cx="5505450" cy="453069"/>
          </a:xfrm>
        </p:spPr>
        <p:txBody>
          <a:bodyPr/>
          <a:lstStyle/>
          <a:p>
            <a:pPr>
              <a:defRPr/>
            </a:pPr>
            <a:r>
              <a:rPr lang="en-US" sz="2000"/>
              <a:t>MONTSERRAT</a:t>
            </a:r>
            <a:endParaRPr lang="ru-RU"/>
          </a:p>
          <a:p>
            <a:pPr>
              <a:defRPr/>
            </a:pPr>
            <a:endParaRPr lang="ru-RU"/>
          </a:p>
        </p:txBody>
      </p:sp>
      <p:sp>
        <p:nvSpPr>
          <p:cNvPr id="14" name="Текст 13"/>
          <p:cNvSpPr>
            <a:spLocks noGrp="1"/>
          </p:cNvSpPr>
          <p:nvPr>
            <p:ph type="body" sz="quarter" idx="17"/>
          </p:nvPr>
        </p:nvSpPr>
        <p:spPr bwMode="auto">
          <a:xfrm>
            <a:off x="479423" y="2170744"/>
            <a:ext cx="5505450" cy="4015705"/>
          </a:xfrm>
        </p:spPr>
        <p:txBody>
          <a:bodyPr>
            <a:normAutofit/>
          </a:bodyPr>
          <a:lstStyle/>
          <a:p>
            <a:pPr marL="342900" indent="-342900">
              <a:lnSpc>
                <a:spcPct val="100000"/>
              </a:lnSpc>
              <a:buFontTx/>
              <a:buAutoNum type="arabicPeriod"/>
              <a:defRPr/>
            </a:pPr>
            <a:r>
              <a:rPr lang="ru-RU">
                <a:solidFill>
                  <a:schemeClr val="accent6"/>
                </a:solidFill>
              </a:rPr>
              <a:t>Используйте данный шрифт везде на слайдах (</a:t>
            </a:r>
            <a:r>
              <a:rPr lang="en-US">
                <a:solidFill>
                  <a:schemeClr val="accent6"/>
                </a:solidFill>
              </a:rPr>
              <a:t>MONTSERRAT</a:t>
            </a:r>
            <a:r>
              <a:rPr lang="ru-RU">
                <a:solidFill>
                  <a:schemeClr val="accent6"/>
                </a:solidFill>
              </a:rPr>
              <a:t>).</a:t>
            </a:r>
            <a:endParaRPr/>
          </a:p>
          <a:p>
            <a:pPr marL="342900" indent="-342900">
              <a:lnSpc>
                <a:spcPct val="100000"/>
              </a:lnSpc>
              <a:buAutoNum type="arabicPeriod"/>
              <a:defRPr/>
            </a:pPr>
            <a:r>
              <a:rPr lang="ru-RU">
                <a:solidFill>
                  <a:schemeClr val="accent6"/>
                </a:solidFill>
              </a:rPr>
              <a:t>Рекомендуется использовать толщину: Bold, SemiBold, ExtraBold. </a:t>
            </a:r>
            <a:endParaRPr/>
          </a:p>
          <a:p>
            <a:pPr marL="342900" indent="-342900">
              <a:lnSpc>
                <a:spcPct val="100000"/>
              </a:lnSpc>
              <a:buAutoNum type="arabicPeriod"/>
              <a:defRPr/>
            </a:pPr>
            <a:r>
              <a:rPr lang="ru-RU">
                <a:solidFill>
                  <a:schemeClr val="accent6"/>
                </a:solidFill>
              </a:rPr>
              <a:t>Допускается использование другой толщины, </a:t>
            </a:r>
            <a:br>
              <a:rPr lang="ru-RU">
                <a:solidFill>
                  <a:schemeClr val="accent6"/>
                </a:solidFill>
              </a:rPr>
            </a:br>
            <a:r>
              <a:rPr lang="ru-RU">
                <a:solidFill>
                  <a:schemeClr val="accent6"/>
                </a:solidFill>
              </a:rPr>
              <a:t>в качестве дизайнерской идеи, но не как основного текста.</a:t>
            </a:r>
            <a:endParaRPr/>
          </a:p>
          <a:p>
            <a:pPr marL="342900" indent="-342900">
              <a:lnSpc>
                <a:spcPct val="100000"/>
              </a:lnSpc>
              <a:buAutoNum type="arabicPeriod"/>
              <a:defRPr/>
            </a:pPr>
            <a:r>
              <a:rPr lang="ru-RU">
                <a:solidFill>
                  <a:schemeClr val="accent6"/>
                </a:solidFill>
              </a:rPr>
              <a:t>Допускается использование толщины Black </a:t>
            </a:r>
            <a:br>
              <a:rPr lang="ru-RU">
                <a:solidFill>
                  <a:schemeClr val="accent6"/>
                </a:solidFill>
              </a:rPr>
            </a:br>
            <a:r>
              <a:rPr lang="ru-RU">
                <a:solidFill>
                  <a:schemeClr val="accent6"/>
                </a:solidFill>
              </a:rPr>
              <a:t>в качестве дизайнерской идеи, но не как основного текста.</a:t>
            </a:r>
            <a:endParaRPr/>
          </a:p>
          <a:p>
            <a:pPr marL="342900" indent="-342900">
              <a:lnSpc>
                <a:spcPct val="100000"/>
              </a:lnSpc>
              <a:buAutoNum type="arabicPeriod"/>
              <a:defRPr/>
            </a:pPr>
            <a:r>
              <a:rPr lang="ru-RU">
                <a:solidFill>
                  <a:schemeClr val="accent6"/>
                </a:solidFill>
              </a:rPr>
              <a:t>Кегль шрифта:</a:t>
            </a:r>
            <a:br>
              <a:rPr lang="ru-RU">
                <a:solidFill>
                  <a:schemeClr val="accent6"/>
                </a:solidFill>
              </a:rPr>
            </a:br>
            <a:r>
              <a:rPr lang="ru-RU">
                <a:solidFill>
                  <a:schemeClr val="accent6"/>
                </a:solidFill>
              </a:rPr>
              <a:t>Название презентации: 40</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Заголовок: </a:t>
            </a:r>
            <a:r>
              <a:rPr lang="en-US">
                <a:solidFill>
                  <a:schemeClr val="accent6"/>
                </a:solidFill>
              </a:rPr>
              <a:t>32pt</a:t>
            </a:r>
            <a:r>
              <a:rPr lang="ru-RU">
                <a:solidFill>
                  <a:schemeClr val="accent6"/>
                </a:solidFill>
              </a:rPr>
              <a:t>;</a:t>
            </a:r>
            <a:br>
              <a:rPr lang="ru-RU">
                <a:solidFill>
                  <a:schemeClr val="accent6"/>
                </a:solidFill>
              </a:rPr>
            </a:br>
            <a:r>
              <a:rPr lang="ru-RU">
                <a:solidFill>
                  <a:schemeClr val="accent6"/>
                </a:solidFill>
              </a:rPr>
              <a:t>Подзаголовок: 24</a:t>
            </a:r>
            <a:r>
              <a:rPr lang="en-US">
                <a:solidFill>
                  <a:schemeClr val="accent6"/>
                </a:solidFill>
              </a:rPr>
              <a:t>pt</a:t>
            </a:r>
            <a:r>
              <a:rPr lang="ru-RU">
                <a:solidFill>
                  <a:schemeClr val="accent6"/>
                </a:solidFill>
              </a:rPr>
              <a:t>, 20</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Основной текст: 14</a:t>
            </a:r>
            <a:r>
              <a:rPr lang="en-US">
                <a:solidFill>
                  <a:schemeClr val="accent6"/>
                </a:solidFill>
              </a:rPr>
              <a:t>pt</a:t>
            </a:r>
            <a:r>
              <a:rPr lang="ru-RU">
                <a:solidFill>
                  <a:schemeClr val="accent6"/>
                </a:solidFill>
              </a:rPr>
              <a:t>, 16</a:t>
            </a:r>
            <a:r>
              <a:rPr lang="en-US">
                <a:solidFill>
                  <a:schemeClr val="accent6"/>
                </a:solidFill>
              </a:rPr>
              <a:t>pt</a:t>
            </a:r>
            <a:r>
              <a:rPr lang="ru-RU">
                <a:solidFill>
                  <a:schemeClr val="accent6"/>
                </a:solidFill>
              </a:rPr>
              <a:t>, 24 </a:t>
            </a:r>
            <a:r>
              <a:rPr lang="en-US">
                <a:solidFill>
                  <a:schemeClr val="accent6"/>
                </a:solidFill>
              </a:rPr>
              <a:t>pt</a:t>
            </a:r>
            <a:r>
              <a:rPr lang="ru-RU">
                <a:solidFill>
                  <a:schemeClr val="accent6"/>
                </a:solidFill>
              </a:rPr>
              <a:t>;</a:t>
            </a:r>
            <a:br>
              <a:rPr lang="ru-RU" sz="1400">
                <a:solidFill>
                  <a:schemeClr val="accent6"/>
                </a:solidFill>
              </a:rPr>
            </a:br>
            <a:r>
              <a:rPr lang="ru-RU" sz="1400">
                <a:solidFill>
                  <a:schemeClr val="accent6"/>
                </a:solidFill>
              </a:rPr>
              <a:t>Колонтитулы, пояснительная информация</a:t>
            </a:r>
            <a:r>
              <a:rPr lang="ru-RU">
                <a:solidFill>
                  <a:schemeClr val="accent6"/>
                </a:solidFill>
              </a:rPr>
              <a:t>: </a:t>
            </a:r>
            <a:r>
              <a:rPr lang="ru-RU" sz="1400">
                <a:solidFill>
                  <a:schemeClr val="accent6"/>
                </a:solidFill>
              </a:rPr>
              <a:t>12</a:t>
            </a:r>
            <a:r>
              <a:rPr lang="en-US">
                <a:solidFill>
                  <a:schemeClr val="accent6"/>
                </a:solidFill>
              </a:rPr>
              <a:t>pt</a:t>
            </a:r>
            <a:r>
              <a:rPr lang="ru-RU">
                <a:solidFill>
                  <a:schemeClr val="accent6"/>
                </a:solidFill>
              </a:rPr>
              <a:t>, 14</a:t>
            </a:r>
            <a:r>
              <a:rPr lang="en-US">
                <a:solidFill>
                  <a:schemeClr val="accent6"/>
                </a:solidFill>
              </a:rPr>
              <a:t>pt</a:t>
            </a:r>
            <a:r>
              <a:rPr lang="ru-RU">
                <a:solidFill>
                  <a:schemeClr val="accent6"/>
                </a:solidFill>
              </a:rPr>
              <a:t>. </a:t>
            </a:r>
            <a:endParaRPr lang="ru-RU" sz="1400">
              <a:solidFill>
                <a:schemeClr val="accent6"/>
              </a:solidFill>
            </a:endParaRPr>
          </a:p>
        </p:txBody>
      </p:sp>
      <p:sp>
        <p:nvSpPr>
          <p:cNvPr id="15" name="Текст 14"/>
          <p:cNvSpPr>
            <a:spLocks noGrp="1"/>
          </p:cNvSpPr>
          <p:nvPr>
            <p:ph type="body" sz="quarter" idx="18"/>
          </p:nvPr>
        </p:nvSpPr>
        <p:spPr bwMode="auto">
          <a:xfrm>
            <a:off x="479425" y="6319798"/>
            <a:ext cx="11229974" cy="264160"/>
          </a:xfrm>
        </p:spPr>
        <p:txBody>
          <a:bodyPr/>
          <a:lstStyle/>
          <a:p>
            <a:pPr>
              <a:defRPr/>
            </a:pPr>
            <a:r>
              <a:rPr lang="en-US" sz="1200">
                <a:solidFill>
                  <a:schemeClr val="accent6"/>
                </a:solidFill>
              </a:rPr>
              <a:t>P.S.</a:t>
            </a:r>
            <a:r>
              <a:rPr lang="ru-RU" sz="1200">
                <a:solidFill>
                  <a:schemeClr val="accent6"/>
                </a:solidFill>
              </a:rPr>
              <a:t> Не забудьте удалить этот слайд из финальной версии вашей презентации.</a:t>
            </a:r>
            <a:endParaRPr/>
          </a:p>
        </p:txBody>
      </p:sp>
      <p:sp>
        <p:nvSpPr>
          <p:cNvPr id="21" name="TextBox 20"/>
          <p:cNvSpPr txBox="1"/>
          <p:nvPr/>
        </p:nvSpPr>
        <p:spPr bwMode="auto">
          <a:xfrm>
            <a:off x="6132511" y="1683990"/>
            <a:ext cx="5576887" cy="707886"/>
          </a:xfrm>
          <a:prstGeom prst="rect">
            <a:avLst/>
          </a:prstGeom>
          <a:noFill/>
        </p:spPr>
        <p:txBody>
          <a:bodyPr wrap="square">
            <a:spAutoFit/>
          </a:bodyPr>
          <a:lstStyle/>
          <a:p>
            <a:pPr algn="l">
              <a:defRPr/>
            </a:pPr>
            <a:r>
              <a:rPr lang="ru-RU" sz="2000">
                <a:latin typeface="Montserrat SemiBold"/>
              </a:rPr>
              <a:t>Как установить шрифт </a:t>
            </a:r>
            <a:br>
              <a:rPr lang="ru-RU" sz="2000">
                <a:latin typeface="Montserrat SemiBold"/>
              </a:rPr>
            </a:br>
            <a:r>
              <a:rPr lang="ru-RU" sz="2000">
                <a:latin typeface="Montserrat SemiBold"/>
              </a:rPr>
              <a:t>на компьютер</a:t>
            </a:r>
            <a:endParaRPr/>
          </a:p>
        </p:txBody>
      </p:sp>
      <p:sp>
        <p:nvSpPr>
          <p:cNvPr id="22" name="Текст 13"/>
          <p:cNvSpPr txBox="1"/>
          <p:nvPr/>
        </p:nvSpPr>
        <p:spPr bwMode="auto">
          <a:xfrm>
            <a:off x="6132513" y="2391877"/>
            <a:ext cx="5580064" cy="4364524"/>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42900" indent="-342900">
              <a:lnSpc>
                <a:spcPct val="100000"/>
              </a:lnSpc>
              <a:buFontTx/>
              <a:buAutoNum type="arabicPeriod"/>
              <a:defRPr/>
            </a:pPr>
            <a:r>
              <a:rPr lang="ru-RU">
                <a:solidFill>
                  <a:schemeClr val="accent6"/>
                </a:solidFill>
              </a:rPr>
              <a:t>Скачать шрифт на компьютер.</a:t>
            </a:r>
            <a:endParaRPr lang="ru-RU">
              <a:solidFill>
                <a:srgbClr val="FF0000"/>
              </a:solidFill>
            </a:endParaRPr>
          </a:p>
          <a:p>
            <a:pPr marL="342900" indent="-342900">
              <a:lnSpc>
                <a:spcPct val="100000"/>
              </a:lnSpc>
              <a:buFontTx/>
              <a:buAutoNum type="arabicPeriod"/>
              <a:defRPr/>
            </a:pPr>
            <a:r>
              <a:rPr lang="ru-RU">
                <a:solidFill>
                  <a:schemeClr val="accent6"/>
                </a:solidFill>
              </a:rPr>
              <a:t>Скачанный на компьютер шрифт легко установить прямо из папки с загрузками, не открывая файл. Достаточно кликнуть по нему правой кнопкой мыши и выбрать пункт «Установить».</a:t>
            </a:r>
            <a:endParaRPr/>
          </a:p>
          <a:p>
            <a:pPr marL="342900" indent="-342900">
              <a:lnSpc>
                <a:spcPct val="100000"/>
              </a:lnSpc>
              <a:buFontTx/>
              <a:buAutoNum type="arabicPeriod"/>
              <a:defRPr/>
            </a:pPr>
            <a:r>
              <a:rPr lang="ru-RU">
                <a:solidFill>
                  <a:schemeClr val="accent6"/>
                </a:solidFill>
              </a:rPr>
              <a:t>Также это можно сделать, открыв шрифт. </a:t>
            </a:r>
            <a:br>
              <a:rPr lang="ru-RU">
                <a:solidFill>
                  <a:schemeClr val="accent6"/>
                </a:solidFill>
              </a:rPr>
            </a:br>
            <a:r>
              <a:rPr lang="ru-RU">
                <a:solidFill>
                  <a:schemeClr val="accent6"/>
                </a:solidFill>
              </a:rPr>
              <a:t>Он отобразится в виде отдельного окна с примерами фраз - можно сразу оценить, как они будут выглядеть в текстовом редакторе и при печати. </a:t>
            </a:r>
            <a:br>
              <a:rPr lang="ru-RU">
                <a:solidFill>
                  <a:schemeClr val="accent6"/>
                </a:solidFill>
              </a:rPr>
            </a:br>
            <a:r>
              <a:rPr lang="ru-RU">
                <a:solidFill>
                  <a:schemeClr val="accent6"/>
                </a:solidFill>
              </a:rPr>
              <a:t>В левом верхнем углу будет кнопка «Установить» — кликните на нее, и за пару секунд шрифт пропишется в системе.</a:t>
            </a:r>
            <a:endParaRPr/>
          </a:p>
          <a:p>
            <a:pPr indent="361950">
              <a:lnSpc>
                <a:spcPct val="100000"/>
              </a:lnSpc>
              <a:defRPr/>
            </a:pPr>
            <a:r>
              <a:rPr lang="ru-RU" sz="1200" i="1">
                <a:solidFill>
                  <a:schemeClr val="accent6"/>
                </a:solidFill>
              </a:rPr>
              <a:t>После этого установленный шрифт появится во всех программах, которые позволяют работать с текстом: Word, Excel, Photoshop. Однако для отображения новых шрифтов их придется перезапустить</a:t>
            </a:r>
            <a:r>
              <a:rPr lang="ru-RU" sz="1200">
                <a:solidFill>
                  <a:schemeClr val="accent6"/>
                </a:solidFill>
              </a:rPr>
              <a:t>.</a:t>
            </a:r>
            <a:endParaRPr/>
          </a:p>
        </p:txBody>
      </p:sp>
      <p:sp>
        <p:nvSpPr>
          <p:cNvPr id="23" name="Текст 13"/>
          <p:cNvSpPr txBox="1"/>
          <p:nvPr/>
        </p:nvSpPr>
        <p:spPr bwMode="auto">
          <a:xfrm>
            <a:off x="479422" y="1211687"/>
            <a:ext cx="11233153" cy="1094741"/>
          </a:xfrm>
          <a:prstGeom prst="rect">
            <a:avLst/>
          </a:prstGeom>
        </p:spPr>
        <p:txBody>
          <a:bodyPr vert="horz" lIns="91440" tIns="45720" rIns="91440" bIns="45720" rtlCol="0" anchor="t">
            <a:normAutofit/>
          </a:bodyPr>
          <a:lstStyle>
            <a:lvl1pPr marL="0" indent="0" algn="l" defTabSz="914400">
              <a:lnSpc>
                <a:spcPct val="90000"/>
              </a:lnSpc>
              <a:spcBef>
                <a:spcPts val="1000"/>
              </a:spcBef>
              <a:buFontTx/>
              <a:buNone/>
              <a:defRPr sz="14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nSpc>
                <a:spcPct val="100000"/>
              </a:lnSpc>
              <a:defRPr/>
            </a:pPr>
            <a:r>
              <a:rPr lang="ru-RU"/>
              <a:t>Чтобы шрифт сохранился при открытии на другом устройстве, перед сохранением файла нужно встроить шрифт: «Файл» → «Параметры» → «Сохранение» → «Внедрить шрифты в файл».</a:t>
            </a:r>
            <a:endParaRPr/>
          </a:p>
        </p:txBody>
      </p:sp>
      <p:sp>
        <p:nvSpPr>
          <p:cNvPr id="24" name="Текст 19"/>
          <p:cNvSpPr txBox="1"/>
          <p:nvPr/>
        </p:nvSpPr>
        <p:spPr bwMode="auto">
          <a:xfrm>
            <a:off x="479424" y="157527"/>
            <a:ext cx="9508638" cy="263525"/>
          </a:xfrm>
          <a:prstGeom prst="rect">
            <a:avLst/>
          </a:prstGeom>
        </p:spPr>
        <p:txBody>
          <a:bodyPr/>
          <a:lst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ru-RU" sz="1600">
                <a:solidFill>
                  <a:schemeClr val="bg1"/>
                </a:solidFill>
                <a:latin typeface="Montserrat SemiBold"/>
              </a:rPr>
              <a:t>Правила создания презентации</a:t>
            </a:r>
            <a:endParaRPr/>
          </a:p>
        </p:txBody>
      </p:sp>
    </p:spTree>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303</TotalTime>
  <Words>2022</Words>
  <Application>Microsoft Office PowerPoint</Application>
  <DocSecurity>0</DocSecurity>
  <PresentationFormat>Широкоэкранный</PresentationFormat>
  <Paragraphs>404</Paragraphs>
  <Slides>21</Slides>
  <Notes>16</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21</vt:i4>
      </vt:variant>
    </vt:vector>
  </HeadingPairs>
  <TitlesOfParts>
    <vt:vector size="30" baseType="lpstr">
      <vt:lpstr>Calibri</vt:lpstr>
      <vt:lpstr>Aptos</vt:lpstr>
      <vt:lpstr>Arial</vt:lpstr>
      <vt:lpstr>Georgia</vt:lpstr>
      <vt:lpstr>Montserrat SemiBold</vt:lpstr>
      <vt:lpstr>Montserrat</vt:lpstr>
      <vt:lpstr>Times New Roman</vt:lpstr>
      <vt:lpstr>Consolas</vt:lpstr>
      <vt:lpstr>Тема Office</vt:lpstr>
      <vt:lpstr>ВЫПУСКНАЯ КВАЛИФИКАЦИОННАЯ РАБОТА БАКАЛАВРА</vt:lpstr>
      <vt:lpstr>Презентация PowerPoint</vt:lpstr>
      <vt:lpstr>Презентация PowerPoint</vt:lpstr>
      <vt:lpstr>Актуальность темы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Правила создания презентации</vt:lpstr>
      <vt:lpstr>Шрифт (ССЫЛКА)</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alex alexov</cp:lastModifiedBy>
  <cp:revision>22</cp:revision>
  <dcterms:created xsi:type="dcterms:W3CDTF">2023-04-19T21:39:12Z</dcterms:created>
  <dcterms:modified xsi:type="dcterms:W3CDTF">2026-06-10T16:17:37Z</dcterms:modified>
  <cp:category/>
  <dc:identifier/>
  <cp:contentStatus/>
  <dc:language/>
  <cp:version/>
</cp:coreProperties>
</file>